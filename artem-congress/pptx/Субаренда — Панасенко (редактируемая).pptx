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ВСЕРОССИЙСКИЙ ЖИЛИЩНЫЙ КОНГРЕСС · ГОРОД,"/>
          <p:cNvSpPr txBox="1"/>
          <p:nvPr/>
        </p:nvSpPr>
        <p:spPr>
          <a:xfrm>
            <a:off x="889000" y="1013460"/>
            <a:ext cx="432710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ВСЕРОССИЙСКИЙ ЖИЛИЩНЫЙ КОНГРЕСС · </a:t>
            </a:r>
            <a:r>
              <a:rPr sz="1000" b="0" spc="120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ГОРОД, ДАТА</a:t>
            </a:r>
          </a:p>
        </p:txBody>
      </p:sp>
      <p:sp>
        <p:nvSpPr>
          <p:cNvPr id="4" name="Текст: Субаренда"/>
          <p:cNvSpPr txBox="1"/>
          <p:nvPr/>
        </p:nvSpPr>
        <p:spPr>
          <a:xfrm>
            <a:off x="889000" y="1338072"/>
            <a:ext cx="4421522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Субаренда</a:t>
            </a:r>
          </a:p>
        </p:txBody>
      </p:sp>
      <p:sp>
        <p:nvSpPr>
          <p:cNvPr id="5" name="Текст: коммерческой"/>
          <p:cNvSpPr txBox="1"/>
          <p:nvPr/>
        </p:nvSpPr>
        <p:spPr>
          <a:xfrm>
            <a:off x="889000" y="2112772"/>
            <a:ext cx="5739290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коммерческой</a:t>
            </a:r>
          </a:p>
        </p:txBody>
      </p:sp>
      <p:sp>
        <p:nvSpPr>
          <p:cNvPr id="6" name="Текст: недвижимости"/>
          <p:cNvSpPr txBox="1"/>
          <p:nvPr/>
        </p:nvSpPr>
        <p:spPr>
          <a:xfrm>
            <a:off x="889000" y="2881122"/>
            <a:ext cx="581626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недвижимости</a:t>
            </a:r>
          </a:p>
        </p:txBody>
      </p:sp>
      <p:sp>
        <p:nvSpPr>
          <p:cNvPr id="7" name="Текст: Как за год запустить 10+ объектов в Моск"/>
          <p:cNvSpPr txBox="1"/>
          <p:nvPr/>
        </p:nvSpPr>
        <p:spPr>
          <a:xfrm>
            <a:off x="889000" y="4038346"/>
            <a:ext cx="451124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Как за год запустить 10+ объектов в Москве</a:t>
            </a:r>
          </a:p>
        </p:txBody>
      </p:sp>
      <p:sp>
        <p:nvSpPr>
          <p:cNvPr id="8" name="Текст: и Санкт‑Петербурге — и как это повторить"/>
          <p:cNvSpPr txBox="1"/>
          <p:nvPr/>
        </p:nvSpPr>
        <p:spPr>
          <a:xfrm>
            <a:off x="889000" y="4317746"/>
            <a:ext cx="438582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и Санкт‑Петербурге — и как это повторить</a:t>
            </a:r>
          </a:p>
        </p:txBody>
      </p:sp>
      <p:sp>
        <p:nvSpPr>
          <p:cNvPr id="9" name="Текст: Артём Панасенко"/>
          <p:cNvSpPr txBox="1"/>
          <p:nvPr/>
        </p:nvSpPr>
        <p:spPr>
          <a:xfrm>
            <a:off x="889000" y="5219446"/>
            <a:ext cx="187053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Артём Панасенко</a:t>
            </a:r>
          </a:p>
        </p:txBody>
      </p:sp>
      <p:sp>
        <p:nvSpPr>
          <p:cNvPr id="10" name="Текст: ДЕВЕЛОПЕР, ИНВЕСТОР, ОСНОВАТЕЛЬ ГК «ПРЕМ"/>
          <p:cNvSpPr txBox="1"/>
          <p:nvPr/>
        </p:nvSpPr>
        <p:spPr>
          <a:xfrm>
            <a:off x="889000" y="5541264"/>
            <a:ext cx="360428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ДЕВЕЛОПЕР, ИНВЕСТОР, ОСНОВАТЕЛЬ ГК «ПРЕМЬЕР»</a:t>
            </a:r>
          </a:p>
        </p:txBody>
      </p:sp>
      <p:sp>
        <p:nvSpPr>
          <p:cNvPr id="11" name="Текст: КЛЮЧИ И ДОГОВОР АРЕНДЫ · УЛ. ЮЛИАНА СЕМЁ"/>
          <p:cNvSpPr txBox="1"/>
          <p:nvPr/>
        </p:nvSpPr>
        <p:spPr>
          <a:xfrm>
            <a:off x="7594600" y="5706618"/>
            <a:ext cx="332215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КЛЮЧИ И ДОГОВОР АРЕНДЫ · УЛ. ЮЛИАНА СЕМЁНОВА, 8</a:t>
            </a:r>
          </a:p>
        </p:txBody>
      </p:sp>
      <p:sp>
        <p:nvSpPr>
          <p:cNvPr id="12" name="Текст: ДОКЛАД"/>
          <p:cNvSpPr txBox="1"/>
          <p:nvPr/>
        </p:nvSpPr>
        <p:spPr>
          <a:xfrm>
            <a:off x="889000" y="309118"/>
            <a:ext cx="5051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ДОКЛАД</a:t>
            </a:r>
          </a:p>
        </p:txBody>
      </p:sp>
      <p:sp>
        <p:nvSpPr>
          <p:cNvPr id="1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ОДЕРЖАНИЕ"/>
          <p:cNvSpPr txBox="1"/>
          <p:nvPr/>
        </p:nvSpPr>
        <p:spPr>
          <a:xfrm>
            <a:off x="889000" y="949960"/>
            <a:ext cx="99862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СОДЕРЖАНИЕ</a:t>
            </a:r>
          </a:p>
        </p:txBody>
      </p:sp>
      <p:sp>
        <p:nvSpPr>
          <p:cNvPr id="4" name="Текст: О чём"/>
          <p:cNvSpPr txBox="1"/>
          <p:nvPr/>
        </p:nvSpPr>
        <p:spPr>
          <a:xfrm>
            <a:off x="889000" y="1221740"/>
            <a:ext cx="167644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 чём</a:t>
            </a:r>
          </a:p>
        </p:txBody>
      </p:sp>
      <p:sp>
        <p:nvSpPr>
          <p:cNvPr id="5" name="Текст: поговорим"/>
          <p:cNvSpPr txBox="1"/>
          <p:nvPr/>
        </p:nvSpPr>
        <p:spPr>
          <a:xfrm>
            <a:off x="889000" y="1748790"/>
            <a:ext cx="287742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поговорим</a:t>
            </a:r>
          </a:p>
        </p:txBody>
      </p:sp>
      <p:sp>
        <p:nvSpPr>
          <p:cNvPr id="6" name="Текст: Тема новая — поэтому идём"/>
          <p:cNvSpPr txBox="1"/>
          <p:nvPr/>
        </p:nvSpPr>
        <p:spPr>
          <a:xfrm>
            <a:off x="889000" y="2544572"/>
            <a:ext cx="221066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Тема новая — поэтому идём</a:t>
            </a:r>
          </a:p>
        </p:txBody>
      </p:sp>
      <p:sp>
        <p:nvSpPr>
          <p:cNvPr id="7" name="Текст: от опыта к цифрам и к тому, как это"/>
          <p:cNvSpPr txBox="1"/>
          <p:nvPr/>
        </p:nvSpPr>
        <p:spPr>
          <a:xfrm>
            <a:off x="889000" y="2773172"/>
            <a:ext cx="280312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от опыта к цифрам и к тому, как это</a:t>
            </a:r>
          </a:p>
        </p:txBody>
      </p:sp>
      <p:sp>
        <p:nvSpPr>
          <p:cNvPr id="8" name="Текст: повторить."/>
          <p:cNvSpPr txBox="1"/>
          <p:nvPr/>
        </p:nvSpPr>
        <p:spPr>
          <a:xfrm>
            <a:off x="889000" y="3001772"/>
            <a:ext cx="90148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повторить.</a:t>
            </a:r>
          </a:p>
        </p:txBody>
      </p:sp>
      <p:sp>
        <p:nvSpPr>
          <p:cNvPr id="9" name="Текст: 01"/>
          <p:cNvSpPr txBox="1"/>
          <p:nvPr/>
        </p:nvSpPr>
        <p:spPr>
          <a:xfrm>
            <a:off x="4826000" y="1159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0" name="Текст: Кто я и с чем пришёл"/>
          <p:cNvSpPr txBox="1"/>
          <p:nvPr/>
        </p:nvSpPr>
        <p:spPr>
          <a:xfrm>
            <a:off x="5397500" y="1079246"/>
            <a:ext cx="22248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Кто я и с чем пришёл</a:t>
            </a:r>
          </a:p>
        </p:txBody>
      </p:sp>
      <p:sp>
        <p:nvSpPr>
          <p:cNvPr id="11" name="Текст: 02"/>
          <p:cNvSpPr txBox="1"/>
          <p:nvPr/>
        </p:nvSpPr>
        <p:spPr>
          <a:xfrm>
            <a:off x="4826000" y="16804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2" name="Текст: Новое направление — субаренда"/>
          <p:cNvSpPr txBox="1"/>
          <p:nvPr/>
        </p:nvSpPr>
        <p:spPr>
          <a:xfrm>
            <a:off x="5397500" y="1599946"/>
            <a:ext cx="342948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Новое направление — субаренда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4826000" y="2201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4" name="Текст: Как устроен бизнес"/>
          <p:cNvSpPr txBox="1"/>
          <p:nvPr/>
        </p:nvSpPr>
        <p:spPr>
          <a:xfrm>
            <a:off x="5397500" y="2120646"/>
            <a:ext cx="208295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 устроен бизнес</a:t>
            </a:r>
          </a:p>
        </p:txBody>
      </p:sp>
      <p:sp>
        <p:nvSpPr>
          <p:cNvPr id="15" name="Текст: 04"/>
          <p:cNvSpPr txBox="1"/>
          <p:nvPr/>
        </p:nvSpPr>
        <p:spPr>
          <a:xfrm>
            <a:off x="4826000" y="27218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6" name="Текст: Команда и принципы"/>
          <p:cNvSpPr txBox="1"/>
          <p:nvPr/>
        </p:nvSpPr>
        <p:spPr>
          <a:xfrm>
            <a:off x="5397500" y="2641346"/>
            <a:ext cx="220346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Команда и принципы</a:t>
            </a:r>
          </a:p>
        </p:txBody>
      </p:sp>
      <p:sp>
        <p:nvSpPr>
          <p:cNvPr id="17" name="Текст: 05"/>
          <p:cNvSpPr txBox="1"/>
          <p:nvPr/>
        </p:nvSpPr>
        <p:spPr>
          <a:xfrm>
            <a:off x="4826000" y="32425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18" name="Текст: Кейсы: девять объектов в цифрах"/>
          <p:cNvSpPr txBox="1"/>
          <p:nvPr/>
        </p:nvSpPr>
        <p:spPr>
          <a:xfrm>
            <a:off x="5397500" y="3162046"/>
            <a:ext cx="346792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Кейсы: девять объектов в цифрах</a:t>
            </a:r>
          </a:p>
        </p:txBody>
      </p:sp>
      <p:sp>
        <p:nvSpPr>
          <p:cNvPr id="19" name="Текст: 06"/>
          <p:cNvSpPr txBox="1"/>
          <p:nvPr/>
        </p:nvSpPr>
        <p:spPr>
          <a:xfrm>
            <a:off x="4826000" y="37632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20" name="Текст: Как мы открываем объект"/>
          <p:cNvSpPr txBox="1"/>
          <p:nvPr/>
        </p:nvSpPr>
        <p:spPr>
          <a:xfrm>
            <a:off x="5397500" y="3682746"/>
            <a:ext cx="269976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 мы открываем объект</a:t>
            </a:r>
          </a:p>
        </p:txBody>
      </p:sp>
      <p:sp>
        <p:nvSpPr>
          <p:cNvPr id="21" name="Текст: 07"/>
          <p:cNvSpPr txBox="1"/>
          <p:nvPr/>
        </p:nvSpPr>
        <p:spPr>
          <a:xfrm>
            <a:off x="4826000" y="42839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22" name="Текст: Ужин, интенсив и бизнес под ключ"/>
          <p:cNvSpPr txBox="1"/>
          <p:nvPr/>
        </p:nvSpPr>
        <p:spPr>
          <a:xfrm>
            <a:off x="5397500" y="4203446"/>
            <a:ext cx="357654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Ужин, интенсив и бизнес под ключ</a:t>
            </a:r>
          </a:p>
        </p:txBody>
      </p:sp>
      <p:sp>
        <p:nvSpPr>
          <p:cNvPr id="23" name="Текст: ДОКЛАД"/>
          <p:cNvSpPr txBox="1"/>
          <p:nvPr/>
        </p:nvSpPr>
        <p:spPr>
          <a:xfrm>
            <a:off x="889000" y="309118"/>
            <a:ext cx="5051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ДОКЛАД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1"/>
          <p:cNvSpPr txBox="1"/>
          <p:nvPr/>
        </p:nvSpPr>
        <p:spPr>
          <a:xfrm>
            <a:off x="812800" y="374650"/>
            <a:ext cx="2811658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01</a:t>
            </a:r>
          </a:p>
        </p:txBody>
      </p:sp>
      <p:sp>
        <p:nvSpPr>
          <p:cNvPr id="4" name="Текст: Кто я"/>
          <p:cNvSpPr txBox="1"/>
          <p:nvPr/>
        </p:nvSpPr>
        <p:spPr>
          <a:xfrm>
            <a:off x="889000" y="4252722"/>
            <a:ext cx="227683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2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Кто я</a:t>
            </a:r>
          </a:p>
        </p:txBody>
      </p:sp>
      <p:sp>
        <p:nvSpPr>
          <p:cNvPr id="5" name="Текст: Для тех, кто видит меня впервые: чем зан"/>
          <p:cNvSpPr txBox="1"/>
          <p:nvPr/>
        </p:nvSpPr>
        <p:spPr>
          <a:xfrm>
            <a:off x="889000" y="5340096"/>
            <a:ext cx="497013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Для тех, кто видит меня впервые: чем занимался</a:t>
            </a:r>
          </a:p>
        </p:txBody>
      </p:sp>
      <p:sp>
        <p:nvSpPr>
          <p:cNvPr id="6" name="Текст: до субаренды и во что верю"/>
          <p:cNvSpPr txBox="1"/>
          <p:nvPr/>
        </p:nvSpPr>
        <p:spPr>
          <a:xfrm>
            <a:off x="889000" y="5625846"/>
            <a:ext cx="292739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до субаренды и во что верю</a:t>
            </a:r>
          </a:p>
        </p:txBody>
      </p:sp>
      <p:sp>
        <p:nvSpPr>
          <p:cNvPr id="7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ПИКЕР"/>
          <p:cNvSpPr txBox="1"/>
          <p:nvPr/>
        </p:nvSpPr>
        <p:spPr>
          <a:xfrm>
            <a:off x="5461000" y="949960"/>
            <a:ext cx="618237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СПИКЕР</a:t>
            </a:r>
          </a:p>
        </p:txBody>
      </p:sp>
      <p:sp>
        <p:nvSpPr>
          <p:cNvPr id="4" name="Текст: Артём Панасенко"/>
          <p:cNvSpPr txBox="1"/>
          <p:nvPr/>
        </p:nvSpPr>
        <p:spPr>
          <a:xfrm>
            <a:off x="5461000" y="1196340"/>
            <a:ext cx="447179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Артём Панасенко</a:t>
            </a:r>
          </a:p>
        </p:txBody>
      </p:sp>
      <p:sp>
        <p:nvSpPr>
          <p:cNvPr id="5" name="Текст: Строю, инвестирую и учу. В недвижимости "/>
          <p:cNvSpPr txBox="1"/>
          <p:nvPr/>
        </p:nvSpPr>
        <p:spPr>
          <a:xfrm>
            <a:off x="5461000" y="1930146"/>
            <a:ext cx="586554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Строю, инвестирую и учу. В недвижимости — с 2015 года.</a:t>
            </a:r>
          </a:p>
        </p:txBody>
      </p:sp>
      <p:sp>
        <p:nvSpPr>
          <p:cNvPr id="6" name="Текст: DOMIAN"/>
          <p:cNvSpPr txBox="1"/>
          <p:nvPr/>
        </p:nvSpPr>
        <p:spPr>
          <a:xfrm>
            <a:off x="5461000" y="26520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DOMIAN</a:t>
            </a:r>
          </a:p>
        </p:txBody>
      </p:sp>
      <p:sp>
        <p:nvSpPr>
          <p:cNvPr id="7" name="Текст: Собственник 5 офисов франшизы, 150 сотру"/>
          <p:cNvSpPr txBox="1"/>
          <p:nvPr/>
        </p:nvSpPr>
        <p:spPr>
          <a:xfrm>
            <a:off x="6921500" y="2633091"/>
            <a:ext cx="36976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Собственник 5 офисов франшизы, 150 сотрудников</a:t>
            </a:r>
          </a:p>
        </p:txBody>
      </p:sp>
      <p:sp>
        <p:nvSpPr>
          <p:cNvPr id="8" name="Текст: ГК «ПРЕМЬЕР»"/>
          <p:cNvSpPr txBox="1"/>
          <p:nvPr/>
        </p:nvSpPr>
        <p:spPr>
          <a:xfrm>
            <a:off x="5461000" y="307746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ГК «ПРЕМЬЕР»</a:t>
            </a:r>
          </a:p>
        </p:txBody>
      </p:sp>
      <p:sp>
        <p:nvSpPr>
          <p:cNvPr id="9" name="Текст: Основатель строительно-инвестиционной ко"/>
          <p:cNvSpPr txBox="1"/>
          <p:nvPr/>
        </p:nvSpPr>
        <p:spPr>
          <a:xfrm>
            <a:off x="6921500" y="3058541"/>
            <a:ext cx="37691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Основатель строительно-инвестиционной компании</a:t>
            </a:r>
          </a:p>
        </p:txBody>
      </p:sp>
      <p:sp>
        <p:nvSpPr>
          <p:cNvPr id="10" name="Текст: «ИНВЕЛИОН»"/>
          <p:cNvSpPr txBox="1"/>
          <p:nvPr/>
        </p:nvSpPr>
        <p:spPr>
          <a:xfrm>
            <a:off x="5461000" y="35029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«ИНВЕЛИОН»</a:t>
            </a:r>
          </a:p>
        </p:txBody>
      </p:sp>
      <p:sp>
        <p:nvSpPr>
          <p:cNvPr id="11" name="Текст: Президент ассоциации инвесторов и участн"/>
          <p:cNvSpPr txBox="1"/>
          <p:nvPr/>
        </p:nvSpPr>
        <p:spPr>
          <a:xfrm>
            <a:off x="6921500" y="3483991"/>
            <a:ext cx="44592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Президент ассоциации инвесторов и участников нацпроектов</a:t>
            </a:r>
          </a:p>
        </p:txBody>
      </p:sp>
      <p:sp>
        <p:nvSpPr>
          <p:cNvPr id="12" name="Текст: «ИНВЕСТОР PRO»"/>
          <p:cNvSpPr txBox="1"/>
          <p:nvPr/>
        </p:nvSpPr>
        <p:spPr>
          <a:xfrm>
            <a:off x="5461000" y="392201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«ИНВЕСТОР PRO»</a:t>
            </a:r>
          </a:p>
        </p:txBody>
      </p:sp>
      <p:sp>
        <p:nvSpPr>
          <p:cNvPr id="13" name="Текст: Автор курса для специалистов рынка и инв"/>
          <p:cNvSpPr txBox="1"/>
          <p:nvPr/>
        </p:nvSpPr>
        <p:spPr>
          <a:xfrm>
            <a:off x="6921500" y="3903091"/>
            <a:ext cx="36851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Автор курса для специалистов рынка и инвесторов</a:t>
            </a:r>
          </a:p>
        </p:txBody>
      </p:sp>
      <p:sp>
        <p:nvSpPr>
          <p:cNvPr id="14" name="Текст: КЛУБ «ДЕНЬГИ»"/>
          <p:cNvSpPr txBox="1"/>
          <p:nvPr/>
        </p:nvSpPr>
        <p:spPr>
          <a:xfrm>
            <a:off x="5461000" y="43474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КЛУБ «ДЕНЬГИ»</a:t>
            </a:r>
          </a:p>
        </p:txBody>
      </p:sp>
      <p:sp>
        <p:nvSpPr>
          <p:cNvPr id="15" name="Текст: Резидент"/>
          <p:cNvSpPr txBox="1"/>
          <p:nvPr/>
        </p:nvSpPr>
        <p:spPr>
          <a:xfrm>
            <a:off x="6921500" y="4328541"/>
            <a:ext cx="7232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Резидент</a:t>
            </a:r>
          </a:p>
        </p:txBody>
      </p:sp>
      <p:sp>
        <p:nvSpPr>
          <p:cNvPr id="16" name="Текст: СЦЕНА"/>
          <p:cNvSpPr txBox="1"/>
          <p:nvPr/>
        </p:nvSpPr>
        <p:spPr>
          <a:xfrm>
            <a:off x="5461000" y="4772914"/>
            <a:ext cx="4518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СЦЕНА</a:t>
            </a:r>
          </a:p>
        </p:txBody>
      </p:sp>
      <p:sp>
        <p:nvSpPr>
          <p:cNvPr id="17" name="Текст: Спикер и наставник"/>
          <p:cNvSpPr txBox="1"/>
          <p:nvPr/>
        </p:nvSpPr>
        <p:spPr>
          <a:xfrm>
            <a:off x="6921500" y="4753991"/>
            <a:ext cx="14676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Спикер и наставник</a:t>
            </a:r>
          </a:p>
        </p:txBody>
      </p:sp>
      <p:sp>
        <p:nvSpPr>
          <p:cNvPr id="18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1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УТЬ"/>
          <p:cNvSpPr txBox="1"/>
          <p:nvPr/>
        </p:nvSpPr>
        <p:spPr>
          <a:xfrm>
            <a:off x="889000" y="949960"/>
            <a:ext cx="42804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ПУТЬ</a:t>
            </a:r>
          </a:p>
        </p:txBody>
      </p:sp>
      <p:sp>
        <p:nvSpPr>
          <p:cNvPr id="4" name="Текст: Десять лет в недвижимости —"/>
          <p:cNvSpPr txBox="1"/>
          <p:nvPr/>
        </p:nvSpPr>
        <p:spPr>
          <a:xfrm>
            <a:off x="889000" y="1196340"/>
            <a:ext cx="7408088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Десять лет в недвижимости —</a:t>
            </a:r>
          </a:p>
        </p:txBody>
      </p:sp>
      <p:sp>
        <p:nvSpPr>
          <p:cNvPr id="5" name="Текст: пять шагов"/>
          <p:cNvSpPr txBox="1"/>
          <p:nvPr/>
        </p:nvSpPr>
        <p:spPr>
          <a:xfrm>
            <a:off x="889000" y="1723390"/>
            <a:ext cx="28814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пять шагов</a:t>
            </a:r>
          </a:p>
        </p:txBody>
      </p:sp>
      <p:sp>
        <p:nvSpPr>
          <p:cNvPr id="6" name="Текст: 2015"/>
          <p:cNvSpPr txBox="1"/>
          <p:nvPr/>
        </p:nvSpPr>
        <p:spPr>
          <a:xfrm>
            <a:off x="889000" y="3776218"/>
            <a:ext cx="95896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2015</a:t>
            </a:r>
          </a:p>
        </p:txBody>
      </p:sp>
      <p:sp>
        <p:nvSpPr>
          <p:cNvPr id="7" name="Текст: Домиан"/>
          <p:cNvSpPr txBox="1"/>
          <p:nvPr/>
        </p:nvSpPr>
        <p:spPr>
          <a:xfrm>
            <a:off x="889000" y="4329494"/>
            <a:ext cx="75001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Домиан</a:t>
            </a:r>
          </a:p>
        </p:txBody>
      </p:sp>
      <p:sp>
        <p:nvSpPr>
          <p:cNvPr id="8" name="Текст: Франшиза крупной сети"/>
          <p:cNvSpPr txBox="1"/>
          <p:nvPr/>
        </p:nvSpPr>
        <p:spPr>
          <a:xfrm>
            <a:off x="889000" y="4620641"/>
            <a:ext cx="17750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Франшиза крупной сети</a:t>
            </a:r>
          </a:p>
        </p:txBody>
      </p:sp>
      <p:sp>
        <p:nvSpPr>
          <p:cNvPr id="9" name="Текст: агентств Юга России:"/>
          <p:cNvSpPr txBox="1"/>
          <p:nvPr/>
        </p:nvSpPr>
        <p:spPr>
          <a:xfrm>
            <a:off x="889000" y="4823841"/>
            <a:ext cx="159043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агентств Юга России:</a:t>
            </a:r>
          </a:p>
        </p:txBody>
      </p:sp>
      <p:sp>
        <p:nvSpPr>
          <p:cNvPr id="10" name="Текст: 5 офисов, 150 сотрудников"/>
          <p:cNvSpPr txBox="1"/>
          <p:nvPr/>
        </p:nvSpPr>
        <p:spPr>
          <a:xfrm>
            <a:off x="889000" y="5027041"/>
            <a:ext cx="19700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5 офисов, 150 сотрудников</a:t>
            </a:r>
          </a:p>
        </p:txBody>
      </p:sp>
      <p:sp>
        <p:nvSpPr>
          <p:cNvPr id="11" name="Текст: 2019"/>
          <p:cNvSpPr txBox="1"/>
          <p:nvPr/>
        </p:nvSpPr>
        <p:spPr>
          <a:xfrm>
            <a:off x="3022600" y="3776218"/>
            <a:ext cx="960816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2019</a:t>
            </a:r>
          </a:p>
        </p:txBody>
      </p:sp>
      <p:sp>
        <p:nvSpPr>
          <p:cNvPr id="12" name="Текст: Премьер"/>
          <p:cNvSpPr txBox="1"/>
          <p:nvPr/>
        </p:nvSpPr>
        <p:spPr>
          <a:xfrm>
            <a:off x="3022600" y="4329494"/>
            <a:ext cx="85117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Премьер</a:t>
            </a:r>
          </a:p>
        </p:txBody>
      </p:sp>
      <p:sp>
        <p:nvSpPr>
          <p:cNvPr id="13" name="Текст: ИЖС, коммерческие"/>
          <p:cNvSpPr txBox="1"/>
          <p:nvPr/>
        </p:nvSpPr>
        <p:spPr>
          <a:xfrm>
            <a:off x="3022600" y="4620641"/>
            <a:ext cx="14938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ИЖС, коммерческие</a:t>
            </a:r>
          </a:p>
        </p:txBody>
      </p:sp>
      <p:sp>
        <p:nvSpPr>
          <p:cNvPr id="14" name="Текст: объекты, готовый"/>
          <p:cNvSpPr txBox="1"/>
          <p:nvPr/>
        </p:nvSpPr>
        <p:spPr>
          <a:xfrm>
            <a:off x="3022600" y="4823841"/>
            <a:ext cx="12944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объекты, готовый</a:t>
            </a:r>
          </a:p>
        </p:txBody>
      </p:sp>
      <p:sp>
        <p:nvSpPr>
          <p:cNvPr id="15" name="Текст: арендный бизнес"/>
          <p:cNvSpPr txBox="1"/>
          <p:nvPr/>
        </p:nvSpPr>
        <p:spPr>
          <a:xfrm>
            <a:off x="3022600" y="5027041"/>
            <a:ext cx="12876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арендный бизнес</a:t>
            </a:r>
          </a:p>
        </p:txBody>
      </p:sp>
      <p:sp>
        <p:nvSpPr>
          <p:cNvPr id="16" name="Текст: 2023"/>
          <p:cNvSpPr txBox="1"/>
          <p:nvPr/>
        </p:nvSpPr>
        <p:spPr>
          <a:xfrm>
            <a:off x="5156200" y="3776218"/>
            <a:ext cx="102363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9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2023</a:t>
            </a:r>
          </a:p>
        </p:txBody>
      </p:sp>
      <p:sp>
        <p:nvSpPr>
          <p:cNvPr id="17" name="Текст: Инвелион"/>
          <p:cNvSpPr txBox="1"/>
          <p:nvPr/>
        </p:nvSpPr>
        <p:spPr>
          <a:xfrm>
            <a:off x="5156200" y="4329494"/>
            <a:ext cx="92910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Инвелион</a:t>
            </a:r>
          </a:p>
        </p:txBody>
      </p:sp>
      <p:sp>
        <p:nvSpPr>
          <p:cNvPr id="18" name="Текст: Ассоциация инвесторов:"/>
          <p:cNvSpPr txBox="1"/>
          <p:nvPr/>
        </p:nvSpPr>
        <p:spPr>
          <a:xfrm>
            <a:off x="5156200" y="4620641"/>
            <a:ext cx="181214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Ассоциация инвесторов:</a:t>
            </a:r>
          </a:p>
        </p:txBody>
      </p:sp>
      <p:sp>
        <p:nvSpPr>
          <p:cNvPr id="19" name="Текст: гранты, субсидии,"/>
          <p:cNvSpPr txBox="1"/>
          <p:nvPr/>
        </p:nvSpPr>
        <p:spPr>
          <a:xfrm>
            <a:off x="5156200" y="4823841"/>
            <a:ext cx="13345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гранты, субсидии,</a:t>
            </a:r>
          </a:p>
        </p:txBody>
      </p:sp>
      <p:sp>
        <p:nvSpPr>
          <p:cNvPr id="20" name="Текст: финансирование бизнеса"/>
          <p:cNvSpPr txBox="1"/>
          <p:nvPr/>
        </p:nvSpPr>
        <p:spPr>
          <a:xfrm>
            <a:off x="5156200" y="5027041"/>
            <a:ext cx="18709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финансирование бизнеса</a:t>
            </a:r>
          </a:p>
        </p:txBody>
      </p:sp>
      <p:sp>
        <p:nvSpPr>
          <p:cNvPr id="21" name="Текст: 20__"/>
          <p:cNvSpPr txBox="1"/>
          <p:nvPr/>
        </p:nvSpPr>
        <p:spPr>
          <a:xfrm>
            <a:off x="7289800" y="3776218"/>
            <a:ext cx="940697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8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20__</a:t>
            </a:r>
          </a:p>
        </p:txBody>
      </p:sp>
      <p:sp>
        <p:nvSpPr>
          <p:cNvPr id="22" name="Текст: Инвестор PRO"/>
          <p:cNvSpPr txBox="1"/>
          <p:nvPr/>
        </p:nvSpPr>
        <p:spPr>
          <a:xfrm>
            <a:off x="7289800" y="4335843"/>
            <a:ext cx="13254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Инвестор PRO</a:t>
            </a:r>
          </a:p>
        </p:txBody>
      </p:sp>
      <p:sp>
        <p:nvSpPr>
          <p:cNvPr id="23" name="Текст: Курс и практикум на"/>
          <p:cNvSpPr txBox="1"/>
          <p:nvPr/>
        </p:nvSpPr>
        <p:spPr>
          <a:xfrm>
            <a:off x="7289800" y="4626991"/>
            <a:ext cx="150950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Курс и практикум на</a:t>
            </a:r>
          </a:p>
        </p:txBody>
      </p:sp>
      <p:sp>
        <p:nvSpPr>
          <p:cNvPr id="24" name="Текст: проектах Москвы: ГАБ,"/>
          <p:cNvSpPr txBox="1"/>
          <p:nvPr/>
        </p:nvSpPr>
        <p:spPr>
          <a:xfrm>
            <a:off x="7289800" y="4830191"/>
            <a:ext cx="166729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проектах Москвы: ГАБ,</a:t>
            </a:r>
          </a:p>
        </p:txBody>
      </p:sp>
      <p:sp>
        <p:nvSpPr>
          <p:cNvPr id="25" name="Текст: ИЖС, МКД"/>
          <p:cNvSpPr txBox="1"/>
          <p:nvPr/>
        </p:nvSpPr>
        <p:spPr>
          <a:xfrm>
            <a:off x="7289800" y="5033391"/>
            <a:ext cx="79294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ИЖС, МКД</a:t>
            </a:r>
          </a:p>
        </p:txBody>
      </p:sp>
      <p:sp>
        <p:nvSpPr>
          <p:cNvPr id="26" name="Текст: 2025"/>
          <p:cNvSpPr txBox="1"/>
          <p:nvPr/>
        </p:nvSpPr>
        <p:spPr>
          <a:xfrm>
            <a:off x="9423400" y="3776218"/>
            <a:ext cx="1029923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800" b="0" spc="-9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2025</a:t>
            </a:r>
          </a:p>
        </p:txBody>
      </p:sp>
      <p:sp>
        <p:nvSpPr>
          <p:cNvPr id="27" name="Текст: Субаренда"/>
          <p:cNvSpPr txBox="1"/>
          <p:nvPr/>
        </p:nvSpPr>
        <p:spPr>
          <a:xfrm>
            <a:off x="9423400" y="4329494"/>
            <a:ext cx="102737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Субаренда</a:t>
            </a:r>
          </a:p>
        </p:txBody>
      </p:sp>
      <p:sp>
        <p:nvSpPr>
          <p:cNvPr id="28" name="Текст: Новое направление:"/>
          <p:cNvSpPr txBox="1"/>
          <p:nvPr/>
        </p:nvSpPr>
        <p:spPr>
          <a:xfrm>
            <a:off x="9423400" y="4620641"/>
            <a:ext cx="14974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Новое направление:</a:t>
            </a:r>
          </a:p>
        </p:txBody>
      </p:sp>
      <p:sp>
        <p:nvSpPr>
          <p:cNvPr id="29" name="Текст: коммерческие помещения"/>
          <p:cNvSpPr txBox="1"/>
          <p:nvPr/>
        </p:nvSpPr>
        <p:spPr>
          <a:xfrm>
            <a:off x="9423400" y="4823841"/>
            <a:ext cx="19306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коммерческие помещения</a:t>
            </a:r>
          </a:p>
        </p:txBody>
      </p:sp>
      <p:sp>
        <p:nvSpPr>
          <p:cNvPr id="30" name="Текст: в Москве и Петербурге"/>
          <p:cNvSpPr txBox="1"/>
          <p:nvPr/>
        </p:nvSpPr>
        <p:spPr>
          <a:xfrm>
            <a:off x="9423400" y="5027041"/>
            <a:ext cx="17105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Москве и Петербурге</a:t>
            </a:r>
          </a:p>
        </p:txBody>
      </p:sp>
      <p:sp>
        <p:nvSpPr>
          <p:cNvPr id="31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3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 2015 ГОДА"/>
          <p:cNvSpPr txBox="1"/>
          <p:nvPr/>
        </p:nvSpPr>
        <p:spPr>
          <a:xfrm>
            <a:off x="889000" y="949960"/>
            <a:ext cx="109372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 2015 ГОДА</a:t>
            </a:r>
          </a:p>
        </p:txBody>
      </p:sp>
      <p:sp>
        <p:nvSpPr>
          <p:cNvPr id="4" name="Текст: Домиан"/>
          <p:cNvSpPr txBox="1"/>
          <p:nvPr/>
        </p:nvSpPr>
        <p:spPr>
          <a:xfrm>
            <a:off x="889000" y="1196340"/>
            <a:ext cx="212731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Домиан</a:t>
            </a:r>
          </a:p>
        </p:txBody>
      </p:sp>
      <p:sp>
        <p:nvSpPr>
          <p:cNvPr id="5" name="Текст: Крупная сеть агентств недвижимости на Юг"/>
          <p:cNvSpPr txBox="1"/>
          <p:nvPr/>
        </p:nvSpPr>
        <p:spPr>
          <a:xfrm>
            <a:off x="889000" y="1930146"/>
            <a:ext cx="547540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Крупная сеть агентств недвижимости на Юге России.</a:t>
            </a:r>
          </a:p>
        </p:txBody>
      </p:sp>
      <p:sp>
        <p:nvSpPr>
          <p:cNvPr id="6" name="Текст: Я — собственник пяти офисов франшизы."/>
          <p:cNvSpPr txBox="1"/>
          <p:nvPr/>
        </p:nvSpPr>
        <p:spPr>
          <a:xfrm>
            <a:off x="889000" y="2215896"/>
            <a:ext cx="424054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Я — собственник пяти офисов франшизы.</a:t>
            </a:r>
          </a:p>
        </p:txBody>
      </p:sp>
      <p:sp>
        <p:nvSpPr>
          <p:cNvPr id="7" name="Текст: 5"/>
          <p:cNvSpPr txBox="1"/>
          <p:nvPr/>
        </p:nvSpPr>
        <p:spPr>
          <a:xfrm>
            <a:off x="889000" y="2954528"/>
            <a:ext cx="54846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8" name="Текст: ОФИСОВ ПОД МОИМ УПРАВЛЕНИЕМ"/>
          <p:cNvSpPr txBox="1"/>
          <p:nvPr/>
        </p:nvSpPr>
        <p:spPr>
          <a:xfrm>
            <a:off x="889000" y="3560064"/>
            <a:ext cx="223012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ОФИСОВ ПОД МОИМ УПРАВЛЕНИЕМ</a:t>
            </a:r>
          </a:p>
        </p:txBody>
      </p:sp>
      <p:sp>
        <p:nvSpPr>
          <p:cNvPr id="9" name="Текст: 150"/>
          <p:cNvSpPr txBox="1"/>
          <p:nvPr/>
        </p:nvSpPr>
        <p:spPr>
          <a:xfrm>
            <a:off x="3956050" y="2954528"/>
            <a:ext cx="1018080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150</a:t>
            </a:r>
          </a:p>
        </p:txBody>
      </p:sp>
      <p:sp>
        <p:nvSpPr>
          <p:cNvPr id="10" name="Текст: СОТРУДНИКОВ"/>
          <p:cNvSpPr txBox="1"/>
          <p:nvPr/>
        </p:nvSpPr>
        <p:spPr>
          <a:xfrm>
            <a:off x="3956050" y="35600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СОТРУДНИКОВ</a:t>
            </a:r>
          </a:p>
        </p:txBody>
      </p:sp>
      <p:sp>
        <p:nvSpPr>
          <p:cNvPr id="11" name="Текст: 87"/>
          <p:cNvSpPr txBox="1"/>
          <p:nvPr/>
        </p:nvSpPr>
        <p:spPr>
          <a:xfrm>
            <a:off x="889000" y="4040378"/>
            <a:ext cx="783022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87</a:t>
            </a:r>
          </a:p>
        </p:txBody>
      </p:sp>
      <p:sp>
        <p:nvSpPr>
          <p:cNvPr id="12" name="Текст: ОФИСОВ В СЕТИ · 8 ГОРОДОВ"/>
          <p:cNvSpPr txBox="1"/>
          <p:nvPr/>
        </p:nvSpPr>
        <p:spPr>
          <a:xfrm>
            <a:off x="889000" y="465226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ОФИСОВ В СЕТИ · 8 ГОРОДОВ</a:t>
            </a:r>
          </a:p>
        </p:txBody>
      </p:sp>
      <p:sp>
        <p:nvSpPr>
          <p:cNvPr id="13" name="Текст: 7раз"/>
          <p:cNvSpPr txBox="1"/>
          <p:nvPr/>
        </p:nvSpPr>
        <p:spPr>
          <a:xfrm>
            <a:off x="3956050" y="4040378"/>
            <a:ext cx="86393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раз</a:t>
            </a:r>
          </a:p>
        </p:txBody>
      </p:sp>
      <p:sp>
        <p:nvSpPr>
          <p:cNvPr id="14" name="Текст: ФРАНШИЗНОЕ ПОДРАЗДЕЛЕНИЕ —"/>
          <p:cNvSpPr txBox="1"/>
          <p:nvPr/>
        </p:nvSpPr>
        <p:spPr>
          <a:xfrm>
            <a:off x="3956050" y="4652264"/>
            <a:ext cx="214929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ФРАНШИЗНОЕ ПОДРАЗДЕЛЕНИЕ —</a:t>
            </a:r>
          </a:p>
        </p:txBody>
      </p:sp>
      <p:sp>
        <p:nvSpPr>
          <p:cNvPr id="15" name="Текст: ЛУЧШЕЕ"/>
          <p:cNvSpPr txBox="1"/>
          <p:nvPr/>
        </p:nvSpPr>
        <p:spPr>
          <a:xfrm>
            <a:off x="3956050" y="48173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ЛУЧШЕЕ</a:t>
            </a:r>
          </a:p>
        </p:txBody>
      </p:sp>
      <p:sp>
        <p:nvSpPr>
          <p:cNvPr id="16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1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ГК «ПРЕМЬЕР» · С 2019 ГОДА"/>
          <p:cNvSpPr txBox="1"/>
          <p:nvPr/>
        </p:nvSpPr>
        <p:spPr>
          <a:xfrm>
            <a:off x="889000" y="949960"/>
            <a:ext cx="2520187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ГК «ПРЕМЬЕР» · С 2019 ГОДА</a:t>
            </a:r>
          </a:p>
        </p:txBody>
      </p:sp>
      <p:sp>
        <p:nvSpPr>
          <p:cNvPr id="4" name="Текст: Премьер в цифрах"/>
          <p:cNvSpPr txBox="1"/>
          <p:nvPr/>
        </p:nvSpPr>
        <p:spPr>
          <a:xfrm>
            <a:off x="889000" y="1196340"/>
            <a:ext cx="470752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Премьер в цифрах</a:t>
            </a:r>
          </a:p>
        </p:txBody>
      </p:sp>
      <p:sp>
        <p:nvSpPr>
          <p:cNvPr id="5" name="Текст: Строительно-инвестиционная компания: ИЖС"/>
          <p:cNvSpPr txBox="1"/>
          <p:nvPr/>
        </p:nvSpPr>
        <p:spPr>
          <a:xfrm>
            <a:off x="7747000" y="1115822"/>
            <a:ext cx="365345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Строительно-инвестиционная компания: ИЖС,</a:t>
            </a:r>
          </a:p>
        </p:txBody>
      </p:sp>
      <p:sp>
        <p:nvSpPr>
          <p:cNvPr id="6" name="Текст: коммерческие объекты, готовый арендный"/>
          <p:cNvSpPr txBox="1"/>
          <p:nvPr/>
        </p:nvSpPr>
        <p:spPr>
          <a:xfrm>
            <a:off x="7747000" y="1344422"/>
            <a:ext cx="336007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коммерческие объекты, готовый арендный</a:t>
            </a:r>
          </a:p>
        </p:txBody>
      </p:sp>
      <p:sp>
        <p:nvSpPr>
          <p:cNvPr id="7" name="Текст: бизнес. Данные на 2025 год."/>
          <p:cNvSpPr txBox="1"/>
          <p:nvPr/>
        </p:nvSpPr>
        <p:spPr>
          <a:xfrm>
            <a:off x="7747000" y="1573022"/>
            <a:ext cx="225250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бизнес. Данные на 2025 год.</a:t>
            </a:r>
          </a:p>
        </p:txBody>
      </p:sp>
      <p:sp>
        <p:nvSpPr>
          <p:cNvPr id="8" name="Текст: 120+"/>
          <p:cNvSpPr txBox="1"/>
          <p:nvPr/>
        </p:nvSpPr>
        <p:spPr>
          <a:xfrm>
            <a:off x="889000" y="2239010"/>
            <a:ext cx="194986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120+</a:t>
            </a:r>
          </a:p>
        </p:txBody>
      </p:sp>
      <p:sp>
        <p:nvSpPr>
          <p:cNvPr id="9" name="Текст: МЛН ₽ СОБСТВЕННЫХ СРЕДСТВ"/>
          <p:cNvSpPr txBox="1"/>
          <p:nvPr/>
        </p:nvSpPr>
        <p:spPr>
          <a:xfrm>
            <a:off x="889000" y="3191764"/>
            <a:ext cx="205597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СОБСТВЕННЫХ СРЕДСТВ</a:t>
            </a:r>
          </a:p>
        </p:txBody>
      </p:sp>
      <p:sp>
        <p:nvSpPr>
          <p:cNvPr id="10" name="Текст: ФОНД PREMIER"/>
          <p:cNvSpPr txBox="1"/>
          <p:nvPr/>
        </p:nvSpPr>
        <p:spPr>
          <a:xfrm>
            <a:off x="889000" y="335686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ФОНД PREMIER</a:t>
            </a:r>
          </a:p>
        </p:txBody>
      </p:sp>
      <p:sp>
        <p:nvSpPr>
          <p:cNvPr id="11" name="Текст: 210+"/>
          <p:cNvSpPr txBox="1"/>
          <p:nvPr/>
        </p:nvSpPr>
        <p:spPr>
          <a:xfrm>
            <a:off x="4569817" y="2239010"/>
            <a:ext cx="1949863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210+</a:t>
            </a:r>
          </a:p>
        </p:txBody>
      </p:sp>
      <p:sp>
        <p:nvSpPr>
          <p:cNvPr id="12" name="Текст: МЛН ₽ ПРИВЛЕЧЕНО"/>
          <p:cNvSpPr txBox="1"/>
          <p:nvPr/>
        </p:nvSpPr>
        <p:spPr>
          <a:xfrm>
            <a:off x="4569817" y="3191764"/>
            <a:ext cx="132848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ПРИВЛЕЧЕНО</a:t>
            </a:r>
          </a:p>
        </p:txBody>
      </p:sp>
      <p:sp>
        <p:nvSpPr>
          <p:cNvPr id="13" name="Текст: ОТ ИНВЕСТОРОВ"/>
          <p:cNvSpPr txBox="1"/>
          <p:nvPr/>
        </p:nvSpPr>
        <p:spPr>
          <a:xfrm>
            <a:off x="4569817" y="33568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 ИНВЕСТОРОВ</a:t>
            </a:r>
          </a:p>
        </p:txBody>
      </p:sp>
      <p:sp>
        <p:nvSpPr>
          <p:cNvPr id="14" name="Текст: 180+"/>
          <p:cNvSpPr txBox="1"/>
          <p:nvPr/>
        </p:nvSpPr>
        <p:spPr>
          <a:xfrm>
            <a:off x="8041184" y="2239010"/>
            <a:ext cx="1992170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180+</a:t>
            </a:r>
          </a:p>
        </p:txBody>
      </p:sp>
      <p:sp>
        <p:nvSpPr>
          <p:cNvPr id="15" name="Текст: МЛН ₽ БАНКОВСКОГО"/>
          <p:cNvSpPr txBox="1"/>
          <p:nvPr/>
        </p:nvSpPr>
        <p:spPr>
          <a:xfrm>
            <a:off x="8041184" y="3191764"/>
            <a:ext cx="140931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МЛН </a:t>
            </a: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БАНКОВСКОГО</a:t>
            </a:r>
          </a:p>
        </p:txBody>
      </p:sp>
      <p:sp>
        <p:nvSpPr>
          <p:cNvPr id="16" name="Текст: ФИНАНСИРОВАНИЯ"/>
          <p:cNvSpPr txBox="1"/>
          <p:nvPr/>
        </p:nvSpPr>
        <p:spPr>
          <a:xfrm>
            <a:off x="8041184" y="33568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ФИНАНСИРОВАНИЯ</a:t>
            </a:r>
          </a:p>
        </p:txBody>
      </p:sp>
      <p:sp>
        <p:nvSpPr>
          <p:cNvPr id="17" name="Текст: 40+"/>
          <p:cNvSpPr txBox="1"/>
          <p:nvPr/>
        </p:nvSpPr>
        <p:spPr>
          <a:xfrm>
            <a:off x="889000" y="3820160"/>
            <a:ext cx="1760514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40+</a:t>
            </a:r>
          </a:p>
        </p:txBody>
      </p:sp>
      <p:sp>
        <p:nvSpPr>
          <p:cNvPr id="18" name="Текст: РЕАЛИЗОВАННЫХ"/>
          <p:cNvSpPr txBox="1"/>
          <p:nvPr/>
        </p:nvSpPr>
        <p:spPr>
          <a:xfrm>
            <a:off x="889000" y="477291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РЕАЛИЗОВАННЫХ</a:t>
            </a:r>
          </a:p>
        </p:txBody>
      </p:sp>
      <p:sp>
        <p:nvSpPr>
          <p:cNvPr id="19" name="Текст: ПРОЕКТОВ"/>
          <p:cNvSpPr txBox="1"/>
          <p:nvPr/>
        </p:nvSpPr>
        <p:spPr>
          <a:xfrm>
            <a:off x="889000" y="493801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ПРОЕКТОВ</a:t>
            </a:r>
          </a:p>
        </p:txBody>
      </p:sp>
      <p:sp>
        <p:nvSpPr>
          <p:cNvPr id="20" name="Текст: 8мес"/>
          <p:cNvSpPr txBox="1"/>
          <p:nvPr/>
        </p:nvSpPr>
        <p:spPr>
          <a:xfrm>
            <a:off x="4569817" y="3820160"/>
            <a:ext cx="1339636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21" name="Текст: СРЕДНЯЯ ДЛИТЕЛЬНОСТЬ"/>
          <p:cNvSpPr txBox="1"/>
          <p:nvPr/>
        </p:nvSpPr>
        <p:spPr>
          <a:xfrm>
            <a:off x="4569817" y="47729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СРЕДНЯЯ ДЛИТЕЛЬНОСТЬ</a:t>
            </a:r>
          </a:p>
        </p:txBody>
      </p:sp>
      <p:sp>
        <p:nvSpPr>
          <p:cNvPr id="22" name="Текст: ПРОЕКТА"/>
          <p:cNvSpPr txBox="1"/>
          <p:nvPr/>
        </p:nvSpPr>
        <p:spPr>
          <a:xfrm>
            <a:off x="4569817" y="49380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ПРОЕКТА</a:t>
            </a:r>
          </a:p>
        </p:txBody>
      </p:sp>
      <p:sp>
        <p:nvSpPr>
          <p:cNvPr id="23" name="Текст: 32%"/>
          <p:cNvSpPr txBox="1"/>
          <p:nvPr/>
        </p:nvSpPr>
        <p:spPr>
          <a:xfrm>
            <a:off x="8041184" y="3820160"/>
            <a:ext cx="1471609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30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32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4" name="Текст: ГОДОВЫХ — ПАССИВНЫЙ ДОХОД"/>
          <p:cNvSpPr txBox="1"/>
          <p:nvPr/>
        </p:nvSpPr>
        <p:spPr>
          <a:xfrm>
            <a:off x="8041184" y="47729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ГОДОВЫХ — ПАССИВНЫЙ ДОХОД</a:t>
            </a:r>
          </a:p>
        </p:txBody>
      </p:sp>
      <p:sp>
        <p:nvSpPr>
          <p:cNvPr id="25" name="Текст: НАШИХ ИНВЕСТОРОВ"/>
          <p:cNvSpPr txBox="1"/>
          <p:nvPr/>
        </p:nvSpPr>
        <p:spPr>
          <a:xfrm>
            <a:off x="8041184" y="4938014"/>
            <a:ext cx="134096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НАШИХ ИНВЕСТОРОВ</a:t>
            </a:r>
          </a:p>
        </p:txBody>
      </p:sp>
      <p:sp>
        <p:nvSpPr>
          <p:cNvPr id="26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ОРТФЕЛЬ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ПОРТФЕЛЬ</a:t>
            </a:r>
          </a:p>
        </p:txBody>
      </p:sp>
      <p:sp>
        <p:nvSpPr>
          <p:cNvPr id="4" name="Текст: Что мы строили и запускали"/>
          <p:cNvSpPr txBox="1"/>
          <p:nvPr/>
        </p:nvSpPr>
        <p:spPr>
          <a:xfrm>
            <a:off x="889000" y="1196340"/>
            <a:ext cx="701797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Что мы строили и запускали</a:t>
            </a:r>
          </a:p>
        </p:txBody>
      </p:sp>
      <p:sp>
        <p:nvSpPr>
          <p:cNvPr id="5" name="Текст: ИЖС"/>
          <p:cNvSpPr txBox="1"/>
          <p:nvPr/>
        </p:nvSpPr>
        <p:spPr>
          <a:xfrm>
            <a:off x="889000" y="405536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ИЖС</a:t>
            </a:r>
          </a:p>
        </p:txBody>
      </p:sp>
      <p:sp>
        <p:nvSpPr>
          <p:cNvPr id="6" name="Текст: Коттеджные посёлки"/>
          <p:cNvSpPr txBox="1"/>
          <p:nvPr/>
        </p:nvSpPr>
        <p:spPr>
          <a:xfrm>
            <a:off x="889000" y="4278694"/>
            <a:ext cx="189600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Коттеджные посёлки</a:t>
            </a:r>
          </a:p>
        </p:txBody>
      </p:sp>
      <p:sp>
        <p:nvSpPr>
          <p:cNvPr id="7" name="Текст: Нектарин, Щепкин сквер, Лазурный —"/>
          <p:cNvSpPr txBox="1"/>
          <p:nvPr/>
        </p:nvSpPr>
        <p:spPr>
          <a:xfrm>
            <a:off x="889000" y="4575810"/>
            <a:ext cx="247514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Нектарин, Щепкин сквер, Лазурный —</a:t>
            </a:r>
          </a:p>
        </p:txBody>
      </p:sp>
      <p:sp>
        <p:nvSpPr>
          <p:cNvPr id="8" name="Текст: Ростов-на-Дону. 50 лет Октября —"/>
          <p:cNvSpPr txBox="1"/>
          <p:nvPr/>
        </p:nvSpPr>
        <p:spPr>
          <a:xfrm>
            <a:off x="889000" y="4759960"/>
            <a:ext cx="228257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Ростов-на-Дону. 50 лет Октября —</a:t>
            </a:r>
          </a:p>
        </p:txBody>
      </p:sp>
      <p:sp>
        <p:nvSpPr>
          <p:cNvPr id="9" name="Текст: Батайск. Мечта — Москва"/>
          <p:cNvSpPr txBox="1"/>
          <p:nvPr/>
        </p:nvSpPr>
        <p:spPr>
          <a:xfrm>
            <a:off x="889000" y="4944110"/>
            <a:ext cx="168821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Батайск. Мечта — Москва</a:t>
            </a:r>
          </a:p>
        </p:txBody>
      </p:sp>
      <p:sp>
        <p:nvSpPr>
          <p:cNvPr id="10" name="Текст: ЖИЛОЙ ДОМ"/>
          <p:cNvSpPr txBox="1"/>
          <p:nvPr/>
        </p:nvSpPr>
        <p:spPr>
          <a:xfrm>
            <a:off x="3568700" y="405536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ЖИЛОЙ ДОМ</a:t>
            </a:r>
          </a:p>
        </p:txBody>
      </p:sp>
      <p:sp>
        <p:nvSpPr>
          <p:cNvPr id="11" name="Текст: ЖК «Золотой», Ростов-на-"/>
          <p:cNvSpPr txBox="1"/>
          <p:nvPr/>
        </p:nvSpPr>
        <p:spPr>
          <a:xfrm>
            <a:off x="3568700" y="4278694"/>
            <a:ext cx="234879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ЖК «Золотой», Ростов-на-</a:t>
            </a:r>
          </a:p>
        </p:txBody>
      </p:sp>
      <p:sp>
        <p:nvSpPr>
          <p:cNvPr id="12" name="Текст: Дону"/>
          <p:cNvSpPr txBox="1"/>
          <p:nvPr/>
        </p:nvSpPr>
        <p:spPr>
          <a:xfrm>
            <a:off x="3568700" y="4500943"/>
            <a:ext cx="51807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Дону</a:t>
            </a:r>
          </a:p>
        </p:txBody>
      </p:sp>
      <p:sp>
        <p:nvSpPr>
          <p:cNvPr id="13" name="Текст: 450 млн ₽ инвестиций — вместе"/>
          <p:cNvSpPr txBox="1"/>
          <p:nvPr/>
        </p:nvSpPr>
        <p:spPr>
          <a:xfrm>
            <a:off x="3568700" y="4798060"/>
            <a:ext cx="212830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450 млн ₽ инвестиций — вместе</a:t>
            </a:r>
          </a:p>
        </p:txBody>
      </p:sp>
      <p:sp>
        <p:nvSpPr>
          <p:cNvPr id="14" name="Текст: с девелоперами и банкирами южной"/>
          <p:cNvSpPr txBox="1"/>
          <p:nvPr/>
        </p:nvSpPr>
        <p:spPr>
          <a:xfrm>
            <a:off x="3568700" y="4982210"/>
            <a:ext cx="241690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девелоперами и банкирами южной</a:t>
            </a:r>
          </a:p>
        </p:txBody>
      </p:sp>
      <p:sp>
        <p:nvSpPr>
          <p:cNvPr id="15" name="Текст: столицы"/>
          <p:cNvSpPr txBox="1"/>
          <p:nvPr/>
        </p:nvSpPr>
        <p:spPr>
          <a:xfrm>
            <a:off x="3568700" y="5166360"/>
            <a:ext cx="59538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столицы</a:t>
            </a:r>
          </a:p>
        </p:txBody>
      </p:sp>
      <p:sp>
        <p:nvSpPr>
          <p:cNvPr id="16" name="Текст: ГАБ"/>
          <p:cNvSpPr txBox="1"/>
          <p:nvPr/>
        </p:nvSpPr>
        <p:spPr>
          <a:xfrm>
            <a:off x="6248400" y="405536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ГАБ</a:t>
            </a:r>
          </a:p>
        </p:txBody>
      </p:sp>
      <p:sp>
        <p:nvSpPr>
          <p:cNvPr id="17" name="Текст: Готовый арендный бизнес"/>
          <p:cNvSpPr txBox="1"/>
          <p:nvPr/>
        </p:nvSpPr>
        <p:spPr>
          <a:xfrm>
            <a:off x="6248400" y="4278694"/>
            <a:ext cx="233819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Готовый арендный бизнес</a:t>
            </a:r>
          </a:p>
        </p:txBody>
      </p:sp>
      <p:sp>
        <p:nvSpPr>
          <p:cNvPr id="18" name="Текст: Первые этажи в новостройках Москвы"/>
          <p:cNvSpPr txBox="1"/>
          <p:nvPr/>
        </p:nvSpPr>
        <p:spPr>
          <a:xfrm>
            <a:off x="6248400" y="4575810"/>
            <a:ext cx="253339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Первые этажи в новостройках Москвы</a:t>
            </a:r>
          </a:p>
        </p:txBody>
      </p:sp>
      <p:sp>
        <p:nvSpPr>
          <p:cNvPr id="19" name="Текст: и МО, строительство и реконструкция"/>
          <p:cNvSpPr txBox="1"/>
          <p:nvPr/>
        </p:nvSpPr>
        <p:spPr>
          <a:xfrm>
            <a:off x="6248400" y="4759960"/>
            <a:ext cx="250037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МО, строительство и реконструкция</a:t>
            </a:r>
          </a:p>
        </p:txBody>
      </p:sp>
      <p:sp>
        <p:nvSpPr>
          <p:cNvPr id="20" name="Текст: под сетевых арендаторов"/>
          <p:cNvSpPr txBox="1"/>
          <p:nvPr/>
        </p:nvSpPr>
        <p:spPr>
          <a:xfrm>
            <a:off x="6248400" y="4944110"/>
            <a:ext cx="170631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под сетевых арендаторов</a:t>
            </a:r>
          </a:p>
        </p:txBody>
      </p:sp>
      <p:sp>
        <p:nvSpPr>
          <p:cNvPr id="21" name="Текст: ФЛИППИНГ"/>
          <p:cNvSpPr txBox="1"/>
          <p:nvPr/>
        </p:nvSpPr>
        <p:spPr>
          <a:xfrm>
            <a:off x="8928100" y="40553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ФЛИППИНГ</a:t>
            </a:r>
          </a:p>
        </p:txBody>
      </p:sp>
      <p:sp>
        <p:nvSpPr>
          <p:cNvPr id="22" name="Текст: Квартиры в Москве"/>
          <p:cNvSpPr txBox="1"/>
          <p:nvPr/>
        </p:nvSpPr>
        <p:spPr>
          <a:xfrm>
            <a:off x="8928100" y="4278694"/>
            <a:ext cx="176676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Квартиры в Москве</a:t>
            </a:r>
          </a:p>
        </p:txBody>
      </p:sp>
      <p:sp>
        <p:nvSpPr>
          <p:cNvPr id="23" name="Текст: Коллективные инвестиции от 3 млн ₽"/>
          <p:cNvSpPr txBox="1"/>
          <p:nvPr/>
        </p:nvSpPr>
        <p:spPr>
          <a:xfrm>
            <a:off x="8928100" y="4575810"/>
            <a:ext cx="244675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Коллективные инвестиции от 3 млн ₽</a:t>
            </a:r>
          </a:p>
        </p:txBody>
      </p:sp>
      <p:sp>
        <p:nvSpPr>
          <p:cNvPr id="24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РЕДА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СРЕДА</a:t>
            </a:r>
          </a:p>
        </p:txBody>
      </p:sp>
      <p:sp>
        <p:nvSpPr>
          <p:cNvPr id="4" name="Текст: Сообщество,"/>
          <p:cNvSpPr txBox="1"/>
          <p:nvPr/>
        </p:nvSpPr>
        <p:spPr>
          <a:xfrm>
            <a:off x="889000" y="1196340"/>
            <a:ext cx="33929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Сообщество,</a:t>
            </a:r>
          </a:p>
        </p:txBody>
      </p:sp>
      <p:sp>
        <p:nvSpPr>
          <p:cNvPr id="5" name="Текст: в котором я расту"/>
          <p:cNvSpPr txBox="1"/>
          <p:nvPr/>
        </p:nvSpPr>
        <p:spPr>
          <a:xfrm>
            <a:off x="889000" y="1723390"/>
            <a:ext cx="454522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 котором я расту</a:t>
            </a:r>
          </a:p>
        </p:txBody>
      </p:sp>
      <p:sp>
        <p:nvSpPr>
          <p:cNvPr id="6" name="Текст: 2023"/>
          <p:cNvSpPr txBox="1"/>
          <p:nvPr/>
        </p:nvSpPr>
        <p:spPr>
          <a:xfrm>
            <a:off x="889000" y="2785364"/>
            <a:ext cx="3852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2023</a:t>
            </a:r>
          </a:p>
        </p:txBody>
      </p:sp>
      <p:sp>
        <p:nvSpPr>
          <p:cNvPr id="7" name="Текст: «Инвелион»"/>
          <p:cNvSpPr txBox="1"/>
          <p:nvPr/>
        </p:nvSpPr>
        <p:spPr>
          <a:xfrm>
            <a:off x="1460500" y="2735644"/>
            <a:ext cx="110544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«Инвелион»</a:t>
            </a:r>
          </a:p>
        </p:txBody>
      </p:sp>
      <p:sp>
        <p:nvSpPr>
          <p:cNvPr id="8" name="Текст: Президент ассоциации инвесторов и участн"/>
          <p:cNvSpPr txBox="1"/>
          <p:nvPr/>
        </p:nvSpPr>
        <p:spPr>
          <a:xfrm>
            <a:off x="1460500" y="3001391"/>
            <a:ext cx="455953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Президент ассоциации инвесторов и участников национальных</a:t>
            </a:r>
          </a:p>
        </p:txBody>
      </p:sp>
      <p:sp>
        <p:nvSpPr>
          <p:cNvPr id="9" name="Текст: проектов"/>
          <p:cNvSpPr txBox="1"/>
          <p:nvPr/>
        </p:nvSpPr>
        <p:spPr>
          <a:xfrm>
            <a:off x="1460500" y="3204591"/>
            <a:ext cx="71856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проектов</a:t>
            </a:r>
          </a:p>
        </p:txBody>
      </p:sp>
      <p:sp>
        <p:nvSpPr>
          <p:cNvPr id="10" name="Текст: —"/>
          <p:cNvSpPr txBox="1"/>
          <p:nvPr/>
        </p:nvSpPr>
        <p:spPr>
          <a:xfrm>
            <a:off x="889000" y="37251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1" name="Текст: Клуб «Деньги»"/>
          <p:cNvSpPr txBox="1"/>
          <p:nvPr/>
        </p:nvSpPr>
        <p:spPr>
          <a:xfrm>
            <a:off x="1460500" y="3675444"/>
            <a:ext cx="133289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Клуб «Деньги»</a:t>
            </a:r>
          </a:p>
        </p:txBody>
      </p:sp>
      <p:sp>
        <p:nvSpPr>
          <p:cNvPr id="12" name="Текст: Резидент предпринимательского клуба"/>
          <p:cNvSpPr txBox="1"/>
          <p:nvPr/>
        </p:nvSpPr>
        <p:spPr>
          <a:xfrm>
            <a:off x="1460500" y="3941191"/>
            <a:ext cx="284688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Резидент предпринимательского клуба</a:t>
            </a:r>
          </a:p>
        </p:txBody>
      </p:sp>
      <p:sp>
        <p:nvSpPr>
          <p:cNvPr id="13" name="Текст: —"/>
          <p:cNvSpPr txBox="1"/>
          <p:nvPr/>
        </p:nvSpPr>
        <p:spPr>
          <a:xfrm>
            <a:off x="889000" y="44617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4" name="Текст: Всероссийский жилищный конгресс"/>
          <p:cNvSpPr txBox="1"/>
          <p:nvPr/>
        </p:nvSpPr>
        <p:spPr>
          <a:xfrm>
            <a:off x="1460500" y="4412043"/>
            <a:ext cx="323682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Всероссийский жилищный конгресс</a:t>
            </a:r>
          </a:p>
        </p:txBody>
      </p:sp>
      <p:sp>
        <p:nvSpPr>
          <p:cNvPr id="15" name="Текст: Спикер деловой программы"/>
          <p:cNvSpPr txBox="1"/>
          <p:nvPr/>
        </p:nvSpPr>
        <p:spPr>
          <a:xfrm>
            <a:off x="1460500" y="4677791"/>
            <a:ext cx="20464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Спикер деловой программы</a:t>
            </a:r>
          </a:p>
        </p:txBody>
      </p:sp>
      <p:sp>
        <p:nvSpPr>
          <p:cNvPr id="16" name="Текст: —"/>
          <p:cNvSpPr txBox="1"/>
          <p:nvPr/>
        </p:nvSpPr>
        <p:spPr>
          <a:xfrm>
            <a:off x="889000" y="519836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—</a:t>
            </a:r>
          </a:p>
        </p:txBody>
      </p:sp>
      <p:sp>
        <p:nvSpPr>
          <p:cNvPr id="17" name="Текст: Бизнес-завтраки и инфо-туры"/>
          <p:cNvSpPr txBox="1"/>
          <p:nvPr/>
        </p:nvSpPr>
        <p:spPr>
          <a:xfrm>
            <a:off x="1460500" y="5148643"/>
            <a:ext cx="270201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Бизнес-завтраки и инфо-туры</a:t>
            </a:r>
          </a:p>
        </p:txBody>
      </p:sp>
      <p:sp>
        <p:nvSpPr>
          <p:cNvPr id="18" name="Текст: Встречи инвесторов и выезды на объекты"/>
          <p:cNvSpPr txBox="1"/>
          <p:nvPr/>
        </p:nvSpPr>
        <p:spPr>
          <a:xfrm>
            <a:off x="1460500" y="5414391"/>
            <a:ext cx="301323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Встречи инвесторов и выезды на объекты</a:t>
            </a:r>
          </a:p>
        </p:txBody>
      </p:sp>
      <p:sp>
        <p:nvSpPr>
          <p:cNvPr id="19" name="Текст: ВЖК · СПИКЕР"/>
          <p:cNvSpPr txBox="1"/>
          <p:nvPr/>
        </p:nvSpPr>
        <p:spPr>
          <a:xfrm>
            <a:off x="6705600" y="3928618"/>
            <a:ext cx="881316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ВЖК · СПИКЕР</a:t>
            </a:r>
          </a:p>
        </p:txBody>
      </p:sp>
      <p:sp>
        <p:nvSpPr>
          <p:cNvPr id="20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ВО ЧТО Я ВЕРЮ"/>
          <p:cNvSpPr txBox="1"/>
          <p:nvPr/>
        </p:nvSpPr>
        <p:spPr>
          <a:xfrm>
            <a:off x="889000" y="949960"/>
            <a:ext cx="128391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 ЧТО Я ВЕРЮ</a:t>
            </a:r>
          </a:p>
        </p:txBody>
      </p:sp>
      <p:sp>
        <p:nvSpPr>
          <p:cNvPr id="4" name="Текст: Мои ценности"/>
          <p:cNvSpPr txBox="1"/>
          <p:nvPr/>
        </p:nvSpPr>
        <p:spPr>
          <a:xfrm>
            <a:off x="889000" y="1196340"/>
            <a:ext cx="365152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Мои ценности</a:t>
            </a:r>
          </a:p>
        </p:txBody>
      </p:sp>
      <p:sp>
        <p:nvSpPr>
          <p:cNvPr id="5" name="Текст: ЧЕРНОВИК — СФОРМУЛИРОВАТЬ ВМЕСТЕ С АРТЁМ"/>
          <p:cNvSpPr txBox="1"/>
          <p:nvPr/>
        </p:nvSpPr>
        <p:spPr>
          <a:xfrm>
            <a:off x="8619430" y="1636522"/>
            <a:ext cx="2753410" cy="1173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00" b="0" spc="70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ЧЕРНОВИК — СФОРМУЛИРОВАТЬ ВМЕСТЕ С АРТЁМОМ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8890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7" name="Текст: Цифры прежде решений"/>
          <p:cNvSpPr txBox="1"/>
          <p:nvPr/>
        </p:nvSpPr>
        <p:spPr>
          <a:xfrm>
            <a:off x="889000" y="2546096"/>
            <a:ext cx="256861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Цифры прежде решений</a:t>
            </a:r>
          </a:p>
        </p:txBody>
      </p:sp>
      <p:sp>
        <p:nvSpPr>
          <p:cNvPr id="8" name="Текст: Каждый проект начинается"/>
          <p:cNvSpPr txBox="1"/>
          <p:nvPr/>
        </p:nvSpPr>
        <p:spPr>
          <a:xfrm>
            <a:off x="889000" y="2880741"/>
            <a:ext cx="198154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Каждый проект начинается</a:t>
            </a:r>
          </a:p>
        </p:txBody>
      </p:sp>
      <p:sp>
        <p:nvSpPr>
          <p:cNvPr id="9" name="Текст: с финмодели, а не с вдохновения"/>
          <p:cNvSpPr txBox="1"/>
          <p:nvPr/>
        </p:nvSpPr>
        <p:spPr>
          <a:xfrm>
            <a:off x="889000" y="3083941"/>
            <a:ext cx="240738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финмодели, а не с вдохновения</a:t>
            </a:r>
          </a:p>
        </p:txBody>
      </p:sp>
      <p:sp>
        <p:nvSpPr>
          <p:cNvPr id="10" name="Текст: 02"/>
          <p:cNvSpPr txBox="1"/>
          <p:nvPr/>
        </p:nvSpPr>
        <p:spPr>
          <a:xfrm>
            <a:off x="35687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1" name="Текст: Долгий горизонт"/>
          <p:cNvSpPr txBox="1"/>
          <p:nvPr/>
        </p:nvSpPr>
        <p:spPr>
          <a:xfrm>
            <a:off x="3568700" y="2546096"/>
            <a:ext cx="179704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Долгий горизонт</a:t>
            </a:r>
          </a:p>
        </p:txBody>
      </p:sp>
      <p:sp>
        <p:nvSpPr>
          <p:cNvPr id="12" name="Текст: Договоры на 7–10 лет и отношения"/>
          <p:cNvSpPr txBox="1"/>
          <p:nvPr/>
        </p:nvSpPr>
        <p:spPr>
          <a:xfrm>
            <a:off x="3568700" y="2880741"/>
            <a:ext cx="251402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Договоры на 7–10 лет и отношения</a:t>
            </a:r>
          </a:p>
        </p:txBody>
      </p:sp>
      <p:sp>
        <p:nvSpPr>
          <p:cNvPr id="13" name="Текст: с партнёрами на годы"/>
          <p:cNvSpPr txBox="1"/>
          <p:nvPr/>
        </p:nvSpPr>
        <p:spPr>
          <a:xfrm>
            <a:off x="3568700" y="3083941"/>
            <a:ext cx="16051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партнёрами на годы</a:t>
            </a:r>
          </a:p>
        </p:txBody>
      </p:sp>
      <p:sp>
        <p:nvSpPr>
          <p:cNvPr id="14" name="Текст: 03"/>
          <p:cNvSpPr txBox="1"/>
          <p:nvPr/>
        </p:nvSpPr>
        <p:spPr>
          <a:xfrm>
            <a:off x="6248400" y="22900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5" name="Текст: Делиться опытом"/>
          <p:cNvSpPr txBox="1"/>
          <p:nvPr/>
        </p:nvSpPr>
        <p:spPr>
          <a:xfrm>
            <a:off x="6248400" y="2546096"/>
            <a:ext cx="185067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Делиться опытом</a:t>
            </a:r>
          </a:p>
        </p:txBody>
      </p:sp>
      <p:sp>
        <p:nvSpPr>
          <p:cNvPr id="16" name="Текст: Рынок растёт, когда растут люди"/>
          <p:cNvSpPr txBox="1"/>
          <p:nvPr/>
        </p:nvSpPr>
        <p:spPr>
          <a:xfrm>
            <a:off x="6248400" y="2880741"/>
            <a:ext cx="23818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Рынок растёт, когда растут люди</a:t>
            </a:r>
          </a:p>
        </p:txBody>
      </p:sp>
      <p:sp>
        <p:nvSpPr>
          <p:cNvPr id="17" name="Текст: в нём"/>
          <p:cNvSpPr txBox="1"/>
          <p:nvPr/>
        </p:nvSpPr>
        <p:spPr>
          <a:xfrm>
            <a:off x="6248400" y="3083941"/>
            <a:ext cx="4558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нём</a:t>
            </a:r>
          </a:p>
        </p:txBody>
      </p:sp>
      <p:sp>
        <p:nvSpPr>
          <p:cNvPr id="18" name="Текст: 04"/>
          <p:cNvSpPr txBox="1"/>
          <p:nvPr/>
        </p:nvSpPr>
        <p:spPr>
          <a:xfrm>
            <a:off x="8928100" y="2290064"/>
            <a:ext cx="2093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9" name="Текст: Команда и семья"/>
          <p:cNvSpPr txBox="1"/>
          <p:nvPr/>
        </p:nvSpPr>
        <p:spPr>
          <a:xfrm>
            <a:off x="8928100" y="2546096"/>
            <a:ext cx="180618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Команда и семья</a:t>
            </a:r>
          </a:p>
        </p:txBody>
      </p:sp>
      <p:sp>
        <p:nvSpPr>
          <p:cNvPr id="20" name="Текст: Результат всегда командный,"/>
          <p:cNvSpPr txBox="1"/>
          <p:nvPr/>
        </p:nvSpPr>
        <p:spPr>
          <a:xfrm>
            <a:off x="8928100" y="2880741"/>
            <a:ext cx="213046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Результат всегда командный,</a:t>
            </a:r>
          </a:p>
        </p:txBody>
      </p:sp>
      <p:sp>
        <p:nvSpPr>
          <p:cNvPr id="21" name="Текст: а энергию дают близкие и спорт"/>
          <p:cNvSpPr txBox="1"/>
          <p:nvPr/>
        </p:nvSpPr>
        <p:spPr>
          <a:xfrm>
            <a:off x="8928100" y="3083941"/>
            <a:ext cx="23561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 энергию дают близкие и спорт</a:t>
            </a:r>
          </a:p>
        </p:txBody>
      </p:sp>
      <p:sp>
        <p:nvSpPr>
          <p:cNvPr id="22" name="Текст: 01 — КТО Я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 — КТО Я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2"/>
          <p:cNvSpPr txBox="1"/>
          <p:nvPr/>
        </p:nvSpPr>
        <p:spPr>
          <a:xfrm>
            <a:off x="812800" y="374650"/>
            <a:ext cx="3229691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1134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02</a:t>
            </a:r>
          </a:p>
        </p:txBody>
      </p:sp>
      <p:sp>
        <p:nvSpPr>
          <p:cNvPr id="4" name="Текст: Новое"/>
          <p:cNvSpPr txBox="1"/>
          <p:nvPr/>
        </p:nvSpPr>
        <p:spPr>
          <a:xfrm>
            <a:off x="889000" y="3478022"/>
            <a:ext cx="2737217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1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Новое</a:t>
            </a:r>
          </a:p>
        </p:txBody>
      </p:sp>
      <p:sp>
        <p:nvSpPr>
          <p:cNvPr id="5" name="Текст: направление"/>
          <p:cNvSpPr txBox="1"/>
          <p:nvPr/>
        </p:nvSpPr>
        <p:spPr>
          <a:xfrm>
            <a:off x="889000" y="4252722"/>
            <a:ext cx="5159676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0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направление</a:t>
            </a:r>
          </a:p>
        </p:txBody>
      </p:sp>
      <p:sp>
        <p:nvSpPr>
          <p:cNvPr id="6" name="Текст: Субаренда коммерческой недвижимости. Мос"/>
          <p:cNvSpPr txBox="1"/>
          <p:nvPr/>
        </p:nvSpPr>
        <p:spPr>
          <a:xfrm>
            <a:off x="889000" y="5340096"/>
            <a:ext cx="510110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Субаренда коммерческой недвижимости. Москва</a:t>
            </a:r>
          </a:p>
        </p:txBody>
      </p:sp>
      <p:sp>
        <p:nvSpPr>
          <p:cNvPr id="7" name="Текст: и Санкт‑Петербург"/>
          <p:cNvSpPr txBox="1"/>
          <p:nvPr/>
        </p:nvSpPr>
        <p:spPr>
          <a:xfrm>
            <a:off x="889000" y="5625846"/>
            <a:ext cx="202457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и Санкт‑Петербург</a:t>
            </a:r>
          </a:p>
        </p:txBody>
      </p:sp>
      <p:sp>
        <p:nvSpPr>
          <p:cNvPr id="8" name="Текст: 2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2 блока</a:t>
            </a:r>
          </a:p>
        </p:txBody>
      </p:sp>
      <p:sp>
        <p:nvSpPr>
          <p:cNvPr id="9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1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МЕР · ОДНО ПОМЕЩЕНИЕ"/>
          <p:cNvSpPr txBox="1"/>
          <p:nvPr/>
        </p:nvSpPr>
        <p:spPr>
          <a:xfrm>
            <a:off x="889000" y="949960"/>
            <a:ext cx="223489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ПРИМЕР · ОДНО ПОМЕЩЕНИЕ</a:t>
            </a:r>
          </a:p>
        </p:txBody>
      </p:sp>
      <p:sp>
        <p:nvSpPr>
          <p:cNvPr id="4" name="Текст: Почему субаренда выгоднее владения"/>
          <p:cNvSpPr txBox="1"/>
          <p:nvPr/>
        </p:nvSpPr>
        <p:spPr>
          <a:xfrm>
            <a:off x="889000" y="1196340"/>
            <a:ext cx="95220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Почему субаренда выгоднее владения</a:t>
            </a:r>
          </a:p>
        </p:txBody>
      </p:sp>
      <p:sp>
        <p:nvSpPr>
          <p:cNvPr id="5" name="Текст: ВЛАДЕНИЕ · ПОКУПАЕМ ПОМЕЩЕНИЕ"/>
          <p:cNvSpPr txBox="1"/>
          <p:nvPr/>
        </p:nvSpPr>
        <p:spPr>
          <a:xfrm>
            <a:off x="889000" y="241706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ВЛАДЕНИЕ · ПОКУПАЕМ ПОМЕЩЕНИЕ</a:t>
            </a:r>
          </a:p>
        </p:txBody>
      </p:sp>
      <p:sp>
        <p:nvSpPr>
          <p:cNvPr id="6" name="Текст: 40 млн ₽"/>
          <p:cNvSpPr txBox="1"/>
          <p:nvPr/>
        </p:nvSpPr>
        <p:spPr>
          <a:xfrm>
            <a:off x="889000" y="2645410"/>
            <a:ext cx="2254644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0" b="0" spc="-29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40 </a:t>
            </a:r>
            <a:r>
              <a:rPr sz="1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7" name="Текст: вкладываем в покупку объекта"/>
          <p:cNvSpPr txBox="1"/>
          <p:nvPr/>
        </p:nvSpPr>
        <p:spPr>
          <a:xfrm>
            <a:off x="889000" y="3585972"/>
            <a:ext cx="24441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вкладываем в покупку объекта</a:t>
            </a:r>
          </a:p>
        </p:txBody>
      </p:sp>
      <p:sp>
        <p:nvSpPr>
          <p:cNvPr id="8" name="Текст: АРЕНДА В МЕСЯЦ"/>
          <p:cNvSpPr txBox="1"/>
          <p:nvPr/>
        </p:nvSpPr>
        <p:spPr>
          <a:xfrm>
            <a:off x="889000" y="435381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 В МЕСЯЦ</a:t>
            </a:r>
          </a:p>
        </p:txBody>
      </p:sp>
      <p:sp>
        <p:nvSpPr>
          <p:cNvPr id="9" name="Текст: от 300 000 ₽"/>
          <p:cNvSpPr txBox="1"/>
          <p:nvPr/>
        </p:nvSpPr>
        <p:spPr>
          <a:xfrm>
            <a:off x="889000" y="4555744"/>
            <a:ext cx="200023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300 000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0" name="Текст: СУБАРЕНДА · ТО ЖЕ ПОМЕЩЕНИЕ БЕЗ ПОКУПКИ"/>
          <p:cNvSpPr txBox="1"/>
          <p:nvPr/>
        </p:nvSpPr>
        <p:spPr>
          <a:xfrm>
            <a:off x="4908550" y="2417064"/>
            <a:ext cx="320012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СУБАРЕНДА · ТО ЖЕ ПОМЕЩЕНИЕ БЕЗ ПОКУПКИ</a:t>
            </a:r>
          </a:p>
        </p:txBody>
      </p:sp>
      <p:sp>
        <p:nvSpPr>
          <p:cNvPr id="11" name="Текст: Покупаем право пользования и владения на"/>
          <p:cNvSpPr txBox="1"/>
          <p:nvPr/>
        </p:nvSpPr>
        <p:spPr>
          <a:xfrm>
            <a:off x="4908550" y="2711196"/>
            <a:ext cx="526121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Покупаем право пользования и владения на срок —</a:t>
            </a:r>
          </a:p>
        </p:txBody>
      </p:sp>
      <p:sp>
        <p:nvSpPr>
          <p:cNvPr id="12" name="Текст: договор аренды на 10 лет вместо 40 млн ₽"/>
          <p:cNvSpPr txBox="1"/>
          <p:nvPr/>
        </p:nvSpPr>
        <p:spPr>
          <a:xfrm>
            <a:off x="4908550" y="2958846"/>
            <a:ext cx="551811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договор аренды на 10 лет вместо 40 млн ₽ на покупку</a:t>
            </a:r>
          </a:p>
        </p:txBody>
      </p:sp>
      <p:sp>
        <p:nvSpPr>
          <p:cNvPr id="13" name="Текст: 01"/>
          <p:cNvSpPr txBox="1"/>
          <p:nvPr/>
        </p:nvSpPr>
        <p:spPr>
          <a:xfrm>
            <a:off x="4908550" y="36108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4" name="Текст: Делим помещение на части"/>
          <p:cNvSpPr txBox="1"/>
          <p:nvPr/>
        </p:nvSpPr>
        <p:spPr>
          <a:xfrm>
            <a:off x="5353050" y="3561144"/>
            <a:ext cx="245900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Делим помещение на части</a:t>
            </a:r>
          </a:p>
        </p:txBody>
      </p:sp>
      <p:sp>
        <p:nvSpPr>
          <p:cNvPr id="15" name="Текст: 02"/>
          <p:cNvSpPr txBox="1"/>
          <p:nvPr/>
        </p:nvSpPr>
        <p:spPr>
          <a:xfrm>
            <a:off x="4908550" y="417601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6" name="Текст: Сдаём части в субаренду"/>
          <p:cNvSpPr txBox="1"/>
          <p:nvPr/>
        </p:nvSpPr>
        <p:spPr>
          <a:xfrm>
            <a:off x="5353050" y="4126294"/>
            <a:ext cx="227811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Сдаём части в субаренду</a:t>
            </a:r>
          </a:p>
        </p:txBody>
      </p:sp>
      <p:sp>
        <p:nvSpPr>
          <p:cNvPr id="17" name="Текст: от 450 000 ₽/мес"/>
          <p:cNvSpPr txBox="1"/>
          <p:nvPr/>
        </p:nvSpPr>
        <p:spPr>
          <a:xfrm>
            <a:off x="9236075" y="3996944"/>
            <a:ext cx="230183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450 000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₽/мес</a:t>
            </a:r>
          </a:p>
        </p:txBody>
      </p:sp>
      <p:sp>
        <p:nvSpPr>
          <p:cNvPr id="18" name="Текст: 03"/>
          <p:cNvSpPr txBox="1"/>
          <p:nvPr/>
        </p:nvSpPr>
        <p:spPr>
          <a:xfrm>
            <a:off x="4908550" y="474751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9" name="Текст: Получаем пассивный доход"/>
          <p:cNvSpPr txBox="1"/>
          <p:nvPr/>
        </p:nvSpPr>
        <p:spPr>
          <a:xfrm>
            <a:off x="5353050" y="4697793"/>
            <a:ext cx="247693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Получаем пассивный доход</a:t>
            </a:r>
          </a:p>
        </p:txBody>
      </p:sp>
      <p:sp>
        <p:nvSpPr>
          <p:cNvPr id="20" name="Текст: от 150 000 ₽/мес"/>
          <p:cNvSpPr txBox="1"/>
          <p:nvPr/>
        </p:nvSpPr>
        <p:spPr>
          <a:xfrm>
            <a:off x="9318923" y="4568444"/>
            <a:ext cx="221567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150 000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₽/мес</a:t>
            </a:r>
          </a:p>
        </p:txBody>
      </p:sp>
      <p:sp>
        <p:nvSpPr>
          <p:cNvPr id="2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ОЧЕМУ СУБАРЕНД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ПОЧЕМУ СУБАРЕНДА</a:t>
            </a:r>
          </a:p>
        </p:txBody>
      </p:sp>
      <p:sp>
        <p:nvSpPr>
          <p:cNvPr id="4" name="Текст: Арендный бизнес"/>
          <p:cNvSpPr txBox="1"/>
          <p:nvPr/>
        </p:nvSpPr>
        <p:spPr>
          <a:xfrm>
            <a:off x="889000" y="1196340"/>
            <a:ext cx="44805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Арендный бизнес</a:t>
            </a:r>
          </a:p>
        </p:txBody>
      </p:sp>
      <p:sp>
        <p:nvSpPr>
          <p:cNvPr id="5" name="Текст: без покупки объекта"/>
          <p:cNvSpPr txBox="1"/>
          <p:nvPr/>
        </p:nvSpPr>
        <p:spPr>
          <a:xfrm>
            <a:off x="889000" y="1723390"/>
            <a:ext cx="520224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без покупки объекта</a:t>
            </a:r>
          </a:p>
        </p:txBody>
      </p:sp>
      <p:sp>
        <p:nvSpPr>
          <p:cNvPr id="6" name="Текст: Сравнение на цифрах наших собственных"/>
          <p:cNvSpPr txBox="1"/>
          <p:nvPr/>
        </p:nvSpPr>
        <p:spPr>
          <a:xfrm>
            <a:off x="7624266" y="1871472"/>
            <a:ext cx="329334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Сравнение на цифрах наших собственных</a:t>
            </a:r>
          </a:p>
        </p:txBody>
      </p:sp>
      <p:sp>
        <p:nvSpPr>
          <p:cNvPr id="7" name="Текст: проектов"/>
          <p:cNvSpPr txBox="1"/>
          <p:nvPr/>
        </p:nvSpPr>
        <p:spPr>
          <a:xfrm>
            <a:off x="7624266" y="2100072"/>
            <a:ext cx="78388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проектов</a:t>
            </a:r>
          </a:p>
        </p:txBody>
      </p:sp>
      <p:sp>
        <p:nvSpPr>
          <p:cNvPr id="8" name="Текст: ГОТОВЫЙ АРЕНДНЫЙ БИЗНЕС"/>
          <p:cNvSpPr txBox="1"/>
          <p:nvPr/>
        </p:nvSpPr>
        <p:spPr>
          <a:xfrm>
            <a:off x="2717800" y="2715514"/>
            <a:ext cx="190679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ГОТОВЫЙ АРЕНДНЫЙ БИЗНЕС</a:t>
            </a:r>
          </a:p>
        </p:txBody>
      </p:sp>
      <p:sp>
        <p:nvSpPr>
          <p:cNvPr id="9" name="Текст: СУБАРЕНДА"/>
          <p:cNvSpPr txBox="1"/>
          <p:nvPr/>
        </p:nvSpPr>
        <p:spPr>
          <a:xfrm>
            <a:off x="7162800" y="271551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СУБАРЕНДА</a:t>
            </a:r>
          </a:p>
        </p:txBody>
      </p:sp>
      <p:sp>
        <p:nvSpPr>
          <p:cNvPr id="10" name="Текст: ПРИМЕР"/>
          <p:cNvSpPr txBox="1"/>
          <p:nvPr/>
        </p:nvSpPr>
        <p:spPr>
          <a:xfrm>
            <a:off x="889000" y="31219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ПРИМЕР</a:t>
            </a:r>
          </a:p>
        </p:txBody>
      </p:sp>
      <p:sp>
        <p:nvSpPr>
          <p:cNvPr id="11" name="Текст: «Пятёрочка», Зверево"/>
          <p:cNvSpPr txBox="1"/>
          <p:nvPr/>
        </p:nvSpPr>
        <p:spPr>
          <a:xfrm>
            <a:off x="2717800" y="3072194"/>
            <a:ext cx="198301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5E5850"/>
                </a:solidFill>
                <a:latin typeface="Onest Medium"/>
                <a:cs typeface="Onest Medium"/>
                <a:ea typeface="Onest Medium"/>
              </a:rPr>
              <a:t>«Пятёрочка», Зверево</a:t>
            </a:r>
          </a:p>
        </p:txBody>
      </p:sp>
      <p:sp>
        <p:nvSpPr>
          <p:cNvPr id="12" name="Текст: Садовая, Санкт‑Петербург"/>
          <p:cNvSpPr txBox="1"/>
          <p:nvPr/>
        </p:nvSpPr>
        <p:spPr>
          <a:xfrm>
            <a:off x="7162800" y="3072194"/>
            <a:ext cx="240291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Садовая, Санкт‑Петербург</a:t>
            </a:r>
          </a:p>
        </p:txBody>
      </p:sp>
      <p:sp>
        <p:nvSpPr>
          <p:cNvPr id="13" name="Текст: ВХОД"/>
          <p:cNvSpPr txBox="1"/>
          <p:nvPr/>
        </p:nvSpPr>
        <p:spPr>
          <a:xfrm>
            <a:off x="889000" y="3623564"/>
            <a:ext cx="37097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ВХОД</a:t>
            </a:r>
          </a:p>
        </p:txBody>
      </p:sp>
      <p:sp>
        <p:nvSpPr>
          <p:cNvPr id="14" name="Текст: 15 млн ₽"/>
          <p:cNvSpPr txBox="1"/>
          <p:nvPr/>
        </p:nvSpPr>
        <p:spPr>
          <a:xfrm>
            <a:off x="2717800" y="3469132"/>
            <a:ext cx="838362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55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15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5" name="Текст: 153–239 тыс. ₽"/>
          <p:cNvSpPr txBox="1"/>
          <p:nvPr/>
        </p:nvSpPr>
        <p:spPr>
          <a:xfrm>
            <a:off x="7162800" y="3469132"/>
            <a:ext cx="1665916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153–239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16" name="Текст: ДОХОДНОСТЬ"/>
          <p:cNvSpPr txBox="1"/>
          <p:nvPr/>
        </p:nvSpPr>
        <p:spPr>
          <a:xfrm>
            <a:off x="889000" y="410616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ДОХОДНОСТЬ</a:t>
            </a:r>
          </a:p>
        </p:txBody>
      </p:sp>
      <p:sp>
        <p:nvSpPr>
          <p:cNvPr id="17" name="Текст: 20 % годовых"/>
          <p:cNvSpPr txBox="1"/>
          <p:nvPr/>
        </p:nvSpPr>
        <p:spPr>
          <a:xfrm>
            <a:off x="2717800" y="3951732"/>
            <a:ext cx="1187155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20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годовых</a:t>
            </a:r>
          </a:p>
        </p:txBody>
      </p:sp>
      <p:sp>
        <p:nvSpPr>
          <p:cNvPr id="18" name="Текст: от 100 % годовых на капитал"/>
          <p:cNvSpPr txBox="1"/>
          <p:nvPr/>
        </p:nvSpPr>
        <p:spPr>
          <a:xfrm>
            <a:off x="7162800" y="3951732"/>
            <a:ext cx="2341346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100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годовых на капитал</a:t>
            </a:r>
          </a:p>
        </p:txBody>
      </p:sp>
      <p:sp>
        <p:nvSpPr>
          <p:cNvPr id="19" name="Текст: ОКУПАЕМОСТЬ"/>
          <p:cNvSpPr txBox="1"/>
          <p:nvPr/>
        </p:nvSpPr>
        <p:spPr>
          <a:xfrm>
            <a:off x="889000" y="4588764"/>
            <a:ext cx="93680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ОКУПАЕМОСТЬ</a:t>
            </a:r>
          </a:p>
        </p:txBody>
      </p:sp>
      <p:sp>
        <p:nvSpPr>
          <p:cNvPr id="20" name="Текст: 5 лет"/>
          <p:cNvSpPr txBox="1"/>
          <p:nvPr/>
        </p:nvSpPr>
        <p:spPr>
          <a:xfrm>
            <a:off x="2717800" y="4434332"/>
            <a:ext cx="596581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6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5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21" name="Текст: 1–3 месяца"/>
          <p:cNvSpPr txBox="1"/>
          <p:nvPr/>
        </p:nvSpPr>
        <p:spPr>
          <a:xfrm>
            <a:off x="7162800" y="4434332"/>
            <a:ext cx="1078332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5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1–3 </a:t>
            </a:r>
            <a:r>
              <a:rPr sz="9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месяца</a:t>
            </a:r>
          </a:p>
        </p:txBody>
      </p:sp>
      <p:sp>
        <p:nvSpPr>
          <p:cNvPr id="22" name="Текст: ОБЪЕКТ"/>
          <p:cNvSpPr txBox="1"/>
          <p:nvPr/>
        </p:nvSpPr>
        <p:spPr>
          <a:xfrm>
            <a:off x="889000" y="49951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ОБЪЕКТ</a:t>
            </a:r>
          </a:p>
        </p:txBody>
      </p:sp>
      <p:sp>
        <p:nvSpPr>
          <p:cNvPr id="23" name="Текст: В собственности: покупка 3,7 млн + ремон"/>
          <p:cNvSpPr txBox="1"/>
          <p:nvPr/>
        </p:nvSpPr>
        <p:spPr>
          <a:xfrm>
            <a:off x="2717800" y="4976241"/>
            <a:ext cx="367575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 собственности: покупка 3,7 млн + ремонт 11,3 млн</a:t>
            </a:r>
          </a:p>
        </p:txBody>
      </p:sp>
      <p:sp>
        <p:nvSpPr>
          <p:cNvPr id="24" name="Текст: В долгосрочной аренде на 7–10 лет, без п"/>
          <p:cNvSpPr txBox="1"/>
          <p:nvPr/>
        </p:nvSpPr>
        <p:spPr>
          <a:xfrm>
            <a:off x="7162800" y="4976241"/>
            <a:ext cx="347990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 долгосрочной аренде на 7–10 лет, без покупки</a:t>
            </a:r>
          </a:p>
        </p:txBody>
      </p:sp>
      <p:sp>
        <p:nvSpPr>
          <p:cNvPr id="25" name="Текст: ПРОВЕРИТЬ ФОРМУЛИРОВКИ"/>
          <p:cNvSpPr txBox="1"/>
          <p:nvPr/>
        </p:nvSpPr>
        <p:spPr>
          <a:xfrm>
            <a:off x="958850" y="5757672"/>
            <a:ext cx="1459025" cy="1173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00" b="0" spc="70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ПРОВЕРИТЬ ФОРМУЛИРОВКИ</a:t>
            </a:r>
          </a:p>
        </p:txBody>
      </p:sp>
      <p:sp>
        <p:nvSpPr>
          <p:cNvPr id="26" name="Текст: СУБАРЕНДА — ПО ФИНМОДЕЛИ САДОВОЙ: ТРИ СЦ"/>
          <p:cNvSpPr txBox="1"/>
          <p:nvPr/>
        </p:nvSpPr>
        <p:spPr>
          <a:xfrm>
            <a:off x="2550220" y="5731764"/>
            <a:ext cx="724175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СУБАРЕНДА — ПО ФИНМОДЕЛИ САДОВОЙ: ТРИ СЦЕНАРИЯ, ВЛОЖЕНИЯ ЗА ВЫЧЕТОМ ДЕПОЗИТОВ АРЕНДАТОРОВ</a:t>
            </a:r>
          </a:p>
        </p:txBody>
      </p:sp>
      <p:sp>
        <p:nvSpPr>
          <p:cNvPr id="27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ИТОГИ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ИТОГИ</a:t>
            </a:r>
          </a:p>
        </p:txBody>
      </p:sp>
      <p:sp>
        <p:nvSpPr>
          <p:cNvPr id="4" name="Текст: Меньше чем за год"/>
          <p:cNvSpPr txBox="1"/>
          <p:nvPr/>
        </p:nvSpPr>
        <p:spPr>
          <a:xfrm>
            <a:off x="889000" y="1196340"/>
            <a:ext cx="481076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Меньше чем за год</a:t>
            </a:r>
          </a:p>
        </p:txBody>
      </p:sp>
      <p:sp>
        <p:nvSpPr>
          <p:cNvPr id="5" name="Текст: 10+"/>
          <p:cNvSpPr txBox="1"/>
          <p:nvPr/>
        </p:nvSpPr>
        <p:spPr>
          <a:xfrm>
            <a:off x="889000" y="2220595"/>
            <a:ext cx="2442361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10+</a:t>
            </a:r>
          </a:p>
        </p:txBody>
      </p:sp>
      <p:sp>
        <p:nvSpPr>
          <p:cNvPr id="6" name="Текст: объектов"/>
          <p:cNvSpPr txBox="1"/>
          <p:nvPr/>
        </p:nvSpPr>
        <p:spPr>
          <a:xfrm>
            <a:off x="889000" y="3700844"/>
            <a:ext cx="88339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объектов</a:t>
            </a:r>
          </a:p>
        </p:txBody>
      </p:sp>
      <p:sp>
        <p:nvSpPr>
          <p:cNvPr id="7" name="Текст: запущено в субаренду"/>
          <p:cNvSpPr txBox="1"/>
          <p:nvPr/>
        </p:nvSpPr>
        <p:spPr>
          <a:xfrm>
            <a:off x="889000" y="3966591"/>
            <a:ext cx="165915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запущено в субаренду</a:t>
            </a:r>
          </a:p>
        </p:txBody>
      </p:sp>
      <p:sp>
        <p:nvSpPr>
          <p:cNvPr id="8" name="Текст: 2"/>
          <p:cNvSpPr txBox="1"/>
          <p:nvPr/>
        </p:nvSpPr>
        <p:spPr>
          <a:xfrm>
            <a:off x="3702050" y="2220595"/>
            <a:ext cx="1310935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</a:t>
            </a:r>
          </a:p>
        </p:txBody>
      </p:sp>
      <p:sp>
        <p:nvSpPr>
          <p:cNvPr id="9" name="Текст: города"/>
          <p:cNvSpPr txBox="1"/>
          <p:nvPr/>
        </p:nvSpPr>
        <p:spPr>
          <a:xfrm>
            <a:off x="3702050" y="3700844"/>
            <a:ext cx="685153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города</a:t>
            </a:r>
          </a:p>
        </p:txBody>
      </p:sp>
      <p:sp>
        <p:nvSpPr>
          <p:cNvPr id="10" name="Текст: Москва и Санкт‑Петербург"/>
          <p:cNvSpPr txBox="1"/>
          <p:nvPr/>
        </p:nvSpPr>
        <p:spPr>
          <a:xfrm>
            <a:off x="3702050" y="3966591"/>
            <a:ext cx="198329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Москва и Санкт‑Петербург</a:t>
            </a:r>
          </a:p>
        </p:txBody>
      </p:sp>
      <p:sp>
        <p:nvSpPr>
          <p:cNvPr id="11" name="Текст: &lt;12"/>
          <p:cNvSpPr txBox="1"/>
          <p:nvPr/>
        </p:nvSpPr>
        <p:spPr>
          <a:xfrm>
            <a:off x="6305550" y="2220595"/>
            <a:ext cx="2316416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&lt;12</a:t>
            </a:r>
          </a:p>
        </p:txBody>
      </p:sp>
      <p:sp>
        <p:nvSpPr>
          <p:cNvPr id="12" name="Текст: месяцев"/>
          <p:cNvSpPr txBox="1"/>
          <p:nvPr/>
        </p:nvSpPr>
        <p:spPr>
          <a:xfrm>
            <a:off x="6305550" y="3700844"/>
            <a:ext cx="810604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месяцев</a:t>
            </a:r>
          </a:p>
        </p:txBody>
      </p:sp>
      <p:sp>
        <p:nvSpPr>
          <p:cNvPr id="13" name="Текст: от первого объекта месяц"/>
          <p:cNvSpPr txBox="1"/>
          <p:nvPr/>
        </p:nvSpPr>
        <p:spPr>
          <a:xfrm>
            <a:off x="6305550" y="3966591"/>
            <a:ext cx="190356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от первого объекта </a:t>
            </a: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месяц</a:t>
            </a:r>
          </a:p>
        </p:txBody>
      </p:sp>
      <p:sp>
        <p:nvSpPr>
          <p:cNvPr id="14" name="Текст: старта"/>
          <p:cNvSpPr txBox="1"/>
          <p:nvPr/>
        </p:nvSpPr>
        <p:spPr>
          <a:xfrm>
            <a:off x="6305550" y="4169791"/>
            <a:ext cx="5337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старта</a:t>
            </a:r>
          </a:p>
        </p:txBody>
      </p:sp>
      <p:sp>
        <p:nvSpPr>
          <p:cNvPr id="15" name="Текст: 29"/>
          <p:cNvSpPr txBox="1"/>
          <p:nvPr/>
        </p:nvSpPr>
        <p:spPr>
          <a:xfrm>
            <a:off x="8909050" y="2220595"/>
            <a:ext cx="2024893" cy="1538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500" b="0" spc="-47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29</a:t>
            </a:r>
          </a:p>
        </p:txBody>
      </p:sp>
      <p:sp>
        <p:nvSpPr>
          <p:cNvPr id="16" name="Текст: арендаторов"/>
          <p:cNvSpPr txBox="1"/>
          <p:nvPr/>
        </p:nvSpPr>
        <p:spPr>
          <a:xfrm>
            <a:off x="8909050" y="3700844"/>
            <a:ext cx="1198849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арендаторов</a:t>
            </a:r>
          </a:p>
        </p:txBody>
      </p:sp>
      <p:sp>
        <p:nvSpPr>
          <p:cNvPr id="17" name="Текст: в девяти разобранных кейсах"/>
          <p:cNvSpPr txBox="1"/>
          <p:nvPr/>
        </p:nvSpPr>
        <p:spPr>
          <a:xfrm>
            <a:off x="8909050" y="3966591"/>
            <a:ext cx="214616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 девяти разобранных кейсах</a:t>
            </a:r>
          </a:p>
        </p:txBody>
      </p:sp>
      <p:sp>
        <p:nvSpPr>
          <p:cNvPr id="18" name="Текст: 1 151 000 ₽ в месяц"/>
          <p:cNvSpPr txBox="1"/>
          <p:nvPr/>
        </p:nvSpPr>
        <p:spPr>
          <a:xfrm>
            <a:off x="889000" y="5373878"/>
            <a:ext cx="3320380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1 151 000</a:t>
            </a:r>
            <a:r>
              <a:rPr sz="1600" b="0" spc="66">
                <a:solidFill>
                  <a:srgbClr val="5E5850"/>
                </a:solidFill>
                <a:latin typeface="Onest"/>
                <a:cs typeface="Onest"/>
                <a:ea typeface="Onest"/>
              </a:rPr>
              <a:t> ₽ в месяц</a:t>
            </a:r>
          </a:p>
        </p:txBody>
      </p:sp>
      <p:sp>
        <p:nvSpPr>
          <p:cNvPr id="19" name="Текст: суммарный доход девяти объектов, разобра"/>
          <p:cNvSpPr txBox="1"/>
          <p:nvPr/>
        </p:nvSpPr>
        <p:spPr>
          <a:xfrm>
            <a:off x="4103886" y="5694172"/>
            <a:ext cx="453928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суммарный доход девяти объектов, разобранных в кейсах</a:t>
            </a:r>
          </a:p>
        </p:txBody>
      </p:sp>
      <p:sp>
        <p:nvSpPr>
          <p:cNvPr id="20" name="Текст: РАСЧЁТ ПО ДАННЫМ КЕЙСОВ"/>
          <p:cNvSpPr txBox="1"/>
          <p:nvPr/>
        </p:nvSpPr>
        <p:spPr>
          <a:xfrm>
            <a:off x="9515277" y="572541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РАСЧЁТ ПО ДАННЫМ КЕЙСОВ</a:t>
            </a:r>
          </a:p>
        </p:txBody>
      </p:sp>
      <p:sp>
        <p:nvSpPr>
          <p:cNvPr id="2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2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ГЕОГРАФИЯ"/>
          <p:cNvSpPr txBox="1"/>
          <p:nvPr/>
        </p:nvSpPr>
        <p:spPr>
          <a:xfrm>
            <a:off x="889000" y="949960"/>
            <a:ext cx="90352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ГЕОГРАФИЯ</a:t>
            </a:r>
          </a:p>
        </p:txBody>
      </p:sp>
      <p:sp>
        <p:nvSpPr>
          <p:cNvPr id="4" name="Текст: Две столицы"/>
          <p:cNvSpPr txBox="1"/>
          <p:nvPr/>
        </p:nvSpPr>
        <p:spPr>
          <a:xfrm>
            <a:off x="889000" y="1196340"/>
            <a:ext cx="330494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Две столицы</a:t>
            </a:r>
          </a:p>
        </p:txBody>
      </p:sp>
      <p:sp>
        <p:nvSpPr>
          <p:cNvPr id="5" name="Текст: Санкт‑Петербург"/>
          <p:cNvSpPr txBox="1"/>
          <p:nvPr/>
        </p:nvSpPr>
        <p:spPr>
          <a:xfrm>
            <a:off x="889000" y="2105406"/>
            <a:ext cx="2927979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6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Санкт‑Петербург</a:t>
            </a:r>
          </a:p>
        </p:txBody>
      </p:sp>
      <p:sp>
        <p:nvSpPr>
          <p:cNvPr id="6" name="Текст: 59°57′ С.Ш. · 30°19′ В.Д."/>
          <p:cNvSpPr txBox="1"/>
          <p:nvPr/>
        </p:nvSpPr>
        <p:spPr>
          <a:xfrm>
            <a:off x="3835400" y="23091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59°57′ С.Ш. · 30°19′ В.Д.</a:t>
            </a:r>
          </a:p>
        </p:txBody>
      </p:sp>
      <p:sp>
        <p:nvSpPr>
          <p:cNvPr id="7" name="Текст: 01"/>
          <p:cNvSpPr txBox="1"/>
          <p:nvPr/>
        </p:nvSpPr>
        <p:spPr>
          <a:xfrm>
            <a:off x="889000" y="29250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8" name="Текст: ул. Садовая"/>
          <p:cNvSpPr txBox="1"/>
          <p:nvPr/>
        </p:nvSpPr>
        <p:spPr>
          <a:xfrm>
            <a:off x="1333500" y="2856865"/>
            <a:ext cx="1222947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Садовая</a:t>
            </a:r>
          </a:p>
        </p:txBody>
      </p:sp>
      <p:sp>
        <p:nvSpPr>
          <p:cNvPr id="9" name="Текст: 109 М² · 2 АРЕНДАТОРА"/>
          <p:cNvSpPr txBox="1"/>
          <p:nvPr/>
        </p:nvSpPr>
        <p:spPr>
          <a:xfrm>
            <a:off x="4146252" y="2925064"/>
            <a:ext cx="174513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109 М² · 2 АРЕНДАТОРА</a:t>
            </a:r>
          </a:p>
        </p:txBody>
      </p:sp>
      <p:sp>
        <p:nvSpPr>
          <p:cNvPr id="10" name="Текст: 02"/>
          <p:cNvSpPr txBox="1"/>
          <p:nvPr/>
        </p:nvSpPr>
        <p:spPr>
          <a:xfrm>
            <a:off x="889000" y="3572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1" name="Текст: ул. Восстания"/>
          <p:cNvSpPr txBox="1"/>
          <p:nvPr/>
        </p:nvSpPr>
        <p:spPr>
          <a:xfrm>
            <a:off x="1333500" y="3504565"/>
            <a:ext cx="1420251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Восстания</a:t>
            </a:r>
          </a:p>
        </p:txBody>
      </p:sp>
      <p:sp>
        <p:nvSpPr>
          <p:cNvPr id="12" name="Текст: 158,4 М² · 3 АРЕНДАТОРА"/>
          <p:cNvSpPr txBox="1"/>
          <p:nvPr/>
        </p:nvSpPr>
        <p:spPr>
          <a:xfrm>
            <a:off x="3990777" y="3572764"/>
            <a:ext cx="190679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158,4 М² · 3 АРЕНДАТОРА</a:t>
            </a:r>
          </a:p>
        </p:txBody>
      </p:sp>
      <p:sp>
        <p:nvSpPr>
          <p:cNvPr id="13" name="Текст: +"/>
          <p:cNvSpPr txBox="1"/>
          <p:nvPr/>
        </p:nvSpPr>
        <p:spPr>
          <a:xfrm>
            <a:off x="889000" y="417601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+</a:t>
            </a:r>
          </a:p>
        </p:txBody>
      </p:sp>
      <p:sp>
        <p:nvSpPr>
          <p:cNvPr id="14" name="Текст: ещё объекты в Петербурге — список"/>
          <p:cNvSpPr txBox="1"/>
          <p:nvPr/>
        </p:nvSpPr>
        <p:spPr>
          <a:xfrm>
            <a:off x="1333500" y="4157091"/>
            <a:ext cx="264144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ещё объекты в Петербурге — список</a:t>
            </a:r>
          </a:p>
        </p:txBody>
      </p:sp>
      <p:sp>
        <p:nvSpPr>
          <p:cNvPr id="15" name="Текст: Москва и область"/>
          <p:cNvSpPr txBox="1"/>
          <p:nvPr/>
        </p:nvSpPr>
        <p:spPr>
          <a:xfrm>
            <a:off x="6413500" y="2105406"/>
            <a:ext cx="2984619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6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Москва и область</a:t>
            </a:r>
          </a:p>
        </p:txBody>
      </p:sp>
      <p:sp>
        <p:nvSpPr>
          <p:cNvPr id="16" name="Текст: 55°45′ С.Ш. · 37°37′ В.Д."/>
          <p:cNvSpPr txBox="1"/>
          <p:nvPr/>
        </p:nvSpPr>
        <p:spPr>
          <a:xfrm>
            <a:off x="9359900" y="2309114"/>
            <a:ext cx="206846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55°45′ С.Ш. · 37°37′ В.Д.</a:t>
            </a:r>
          </a:p>
        </p:txBody>
      </p:sp>
      <p:sp>
        <p:nvSpPr>
          <p:cNvPr id="17" name="Текст: 03"/>
          <p:cNvSpPr txBox="1"/>
          <p:nvPr/>
        </p:nvSpPr>
        <p:spPr>
          <a:xfrm>
            <a:off x="6413500" y="2810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8" name="Текст: ул. Буданова"/>
          <p:cNvSpPr txBox="1"/>
          <p:nvPr/>
        </p:nvSpPr>
        <p:spPr>
          <a:xfrm>
            <a:off x="6858000" y="2761044"/>
            <a:ext cx="1194477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Буданова</a:t>
            </a:r>
          </a:p>
        </p:txBody>
      </p:sp>
      <p:sp>
        <p:nvSpPr>
          <p:cNvPr id="19" name="Текст: 124,3 М² · 4 АРЕНДАТОРА"/>
          <p:cNvSpPr txBox="1"/>
          <p:nvPr/>
        </p:nvSpPr>
        <p:spPr>
          <a:xfrm>
            <a:off x="9515277" y="28107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124,3 М² · 4 АРЕНДАТОРА</a:t>
            </a:r>
          </a:p>
        </p:txBody>
      </p:sp>
      <p:sp>
        <p:nvSpPr>
          <p:cNvPr id="20" name="Текст: 04"/>
          <p:cNvSpPr txBox="1"/>
          <p:nvPr/>
        </p:nvSpPr>
        <p:spPr>
          <a:xfrm>
            <a:off x="6413500" y="32425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21" name="Текст: Ленинский проспект"/>
          <p:cNvSpPr txBox="1"/>
          <p:nvPr/>
        </p:nvSpPr>
        <p:spPr>
          <a:xfrm>
            <a:off x="6858000" y="3192844"/>
            <a:ext cx="186537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Ленинский проспект</a:t>
            </a:r>
          </a:p>
        </p:txBody>
      </p:sp>
      <p:sp>
        <p:nvSpPr>
          <p:cNvPr id="22" name="Текст: 99,2 М² · 5 АРЕНДАТОРОВ"/>
          <p:cNvSpPr txBox="1"/>
          <p:nvPr/>
        </p:nvSpPr>
        <p:spPr>
          <a:xfrm>
            <a:off x="9515277" y="32425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99,2 М² · 5 АРЕНДАТОРОВ</a:t>
            </a:r>
          </a:p>
        </p:txBody>
      </p:sp>
      <p:sp>
        <p:nvSpPr>
          <p:cNvPr id="23" name="Текст: 05"/>
          <p:cNvSpPr txBox="1"/>
          <p:nvPr/>
        </p:nvSpPr>
        <p:spPr>
          <a:xfrm>
            <a:off x="6413500" y="3680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4" name="Текст: ул. Юлиана Семёнова"/>
          <p:cNvSpPr txBox="1"/>
          <p:nvPr/>
        </p:nvSpPr>
        <p:spPr>
          <a:xfrm>
            <a:off x="6858000" y="3630994"/>
            <a:ext cx="19580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ул. Юлиана Семёнова</a:t>
            </a:r>
          </a:p>
        </p:txBody>
      </p:sp>
      <p:sp>
        <p:nvSpPr>
          <p:cNvPr id="25" name="Текст: 126,4 М² · 4 АРЕНДАТОРА"/>
          <p:cNvSpPr txBox="1"/>
          <p:nvPr/>
        </p:nvSpPr>
        <p:spPr>
          <a:xfrm>
            <a:off x="9515277" y="368071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126,4 М² · 4 АРЕНДАТОРА</a:t>
            </a:r>
          </a:p>
        </p:txBody>
      </p:sp>
      <p:sp>
        <p:nvSpPr>
          <p:cNvPr id="26" name="Текст: 06"/>
          <p:cNvSpPr txBox="1"/>
          <p:nvPr/>
        </p:nvSpPr>
        <p:spPr>
          <a:xfrm>
            <a:off x="6413500" y="41125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27" name="Текст: Винлаб и Самокат"/>
          <p:cNvSpPr txBox="1"/>
          <p:nvPr/>
        </p:nvSpPr>
        <p:spPr>
          <a:xfrm>
            <a:off x="6858000" y="4062794"/>
            <a:ext cx="164439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Винлаб и Самокат</a:t>
            </a:r>
          </a:p>
        </p:txBody>
      </p:sp>
      <p:sp>
        <p:nvSpPr>
          <p:cNvPr id="28" name="Текст: 425 М² · 5 АРЕНДАТОРОВ"/>
          <p:cNvSpPr txBox="1"/>
          <p:nvPr/>
        </p:nvSpPr>
        <p:spPr>
          <a:xfrm>
            <a:off x="9593064" y="4112514"/>
            <a:ext cx="18259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425 М² · 5 АРЕНДАТОРОВ</a:t>
            </a:r>
          </a:p>
        </p:txBody>
      </p:sp>
      <p:sp>
        <p:nvSpPr>
          <p:cNvPr id="29" name="Текст: 07"/>
          <p:cNvSpPr txBox="1"/>
          <p:nvPr/>
        </p:nvSpPr>
        <p:spPr>
          <a:xfrm>
            <a:off x="6413500" y="45443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30" name="Текст: Мята Lounge"/>
          <p:cNvSpPr txBox="1"/>
          <p:nvPr/>
        </p:nvSpPr>
        <p:spPr>
          <a:xfrm>
            <a:off x="6858000" y="4494593"/>
            <a:ext cx="119335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Мята Lounge</a:t>
            </a:r>
          </a:p>
        </p:txBody>
      </p:sp>
      <p:sp>
        <p:nvSpPr>
          <p:cNvPr id="31" name="Текст: 161 М² · 1 АРЕНДАТОР"/>
          <p:cNvSpPr txBox="1"/>
          <p:nvPr/>
        </p:nvSpPr>
        <p:spPr>
          <a:xfrm>
            <a:off x="9748441" y="45443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161 М² · 1 АРЕНДАТОР</a:t>
            </a:r>
          </a:p>
        </p:txBody>
      </p:sp>
      <p:sp>
        <p:nvSpPr>
          <p:cNvPr id="32" name="Текст: 08"/>
          <p:cNvSpPr txBox="1"/>
          <p:nvPr/>
        </p:nvSpPr>
        <p:spPr>
          <a:xfrm>
            <a:off x="6413500" y="49761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08</a:t>
            </a:r>
          </a:p>
        </p:txBody>
      </p:sp>
      <p:sp>
        <p:nvSpPr>
          <p:cNvPr id="33" name="Текст: Одинцово"/>
          <p:cNvSpPr txBox="1"/>
          <p:nvPr/>
        </p:nvSpPr>
        <p:spPr>
          <a:xfrm>
            <a:off x="6858000" y="4926393"/>
            <a:ext cx="948335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Одинцово</a:t>
            </a:r>
          </a:p>
        </p:txBody>
      </p:sp>
      <p:sp>
        <p:nvSpPr>
          <p:cNvPr id="34" name="Текст: 98 М² · 3 АРЕНДАТОРА"/>
          <p:cNvSpPr txBox="1"/>
          <p:nvPr/>
        </p:nvSpPr>
        <p:spPr>
          <a:xfrm>
            <a:off x="9748441" y="497611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98 М² · 3 АРЕНДАТОРА</a:t>
            </a:r>
          </a:p>
        </p:txBody>
      </p:sp>
      <p:sp>
        <p:nvSpPr>
          <p:cNvPr id="35" name="Текст: 09"/>
          <p:cNvSpPr txBox="1"/>
          <p:nvPr/>
        </p:nvSpPr>
        <p:spPr>
          <a:xfrm>
            <a:off x="6413500" y="54079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09</a:t>
            </a:r>
          </a:p>
        </p:txBody>
      </p:sp>
      <p:sp>
        <p:nvSpPr>
          <p:cNvPr id="36" name="Текст: Люберцы, ул. Инициативная"/>
          <p:cNvSpPr txBox="1"/>
          <p:nvPr/>
        </p:nvSpPr>
        <p:spPr>
          <a:xfrm>
            <a:off x="6858000" y="5358193"/>
            <a:ext cx="2497200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Люберцы, ул. Инициативная</a:t>
            </a:r>
          </a:p>
        </p:txBody>
      </p:sp>
      <p:sp>
        <p:nvSpPr>
          <p:cNvPr id="37" name="Текст: 176 М² · 2 АРЕНДАТОРА"/>
          <p:cNvSpPr txBox="1"/>
          <p:nvPr/>
        </p:nvSpPr>
        <p:spPr>
          <a:xfrm>
            <a:off x="9670752" y="5407914"/>
            <a:ext cx="174513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176 М² · 2 АРЕНДАТОРА</a:t>
            </a:r>
          </a:p>
        </p:txBody>
      </p:sp>
      <p:sp>
        <p:nvSpPr>
          <p:cNvPr id="38" name="Текст: +"/>
          <p:cNvSpPr txBox="1"/>
          <p:nvPr/>
        </p:nvSpPr>
        <p:spPr>
          <a:xfrm>
            <a:off x="6413500" y="5839714"/>
            <a:ext cx="12847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+</a:t>
            </a:r>
          </a:p>
        </p:txBody>
      </p:sp>
      <p:sp>
        <p:nvSpPr>
          <p:cNvPr id="39" name="Текст: Тверской район"/>
          <p:cNvSpPr txBox="1"/>
          <p:nvPr/>
        </p:nvSpPr>
        <p:spPr>
          <a:xfrm>
            <a:off x="6858000" y="5789993"/>
            <a:ext cx="145721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Тверской район</a:t>
            </a:r>
          </a:p>
        </p:txBody>
      </p:sp>
      <p:sp>
        <p:nvSpPr>
          <p:cNvPr id="40" name="Текст: 375 М² · МФЦ"/>
          <p:cNvSpPr txBox="1"/>
          <p:nvPr/>
        </p:nvSpPr>
        <p:spPr>
          <a:xfrm>
            <a:off x="10370245" y="5839714"/>
            <a:ext cx="101763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375 М² · МФЦ</a:t>
            </a:r>
          </a:p>
        </p:txBody>
      </p:sp>
      <p:sp>
        <p:nvSpPr>
          <p:cNvPr id="41" name="Текст: 02 — НОВОЕ НАПРАВЛЕНИЕ"/>
          <p:cNvSpPr txBox="1"/>
          <p:nvPr/>
        </p:nvSpPr>
        <p:spPr>
          <a:xfrm>
            <a:off x="889000" y="309118"/>
            <a:ext cx="17562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 — НОВОЕ НАПРАВЛЕНИЕ</a:t>
            </a:r>
          </a:p>
        </p:txBody>
      </p:sp>
      <p:sp>
        <p:nvSpPr>
          <p:cNvPr id="4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3"/>
          <p:cNvSpPr txBox="1"/>
          <p:nvPr/>
        </p:nvSpPr>
        <p:spPr>
          <a:xfrm>
            <a:off x="812800" y="374650"/>
            <a:ext cx="3318845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03</a:t>
            </a:r>
          </a:p>
        </p:txBody>
      </p:sp>
      <p:sp>
        <p:nvSpPr>
          <p:cNvPr id="4" name="Текст: Как устроен"/>
          <p:cNvSpPr txBox="1"/>
          <p:nvPr/>
        </p:nvSpPr>
        <p:spPr>
          <a:xfrm>
            <a:off x="889000" y="3763772"/>
            <a:ext cx="481688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81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Как устроен</a:t>
            </a:r>
          </a:p>
        </p:txBody>
      </p:sp>
      <p:sp>
        <p:nvSpPr>
          <p:cNvPr id="5" name="Текст: бизнес"/>
          <p:cNvSpPr txBox="1"/>
          <p:nvPr/>
        </p:nvSpPr>
        <p:spPr>
          <a:xfrm>
            <a:off x="889000" y="4538472"/>
            <a:ext cx="297584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9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бизнес</a:t>
            </a:r>
          </a:p>
        </p:txBody>
      </p:sp>
      <p:sp>
        <p:nvSpPr>
          <p:cNvPr id="6" name="Текст: Модель, деление площади и движение денег"/>
          <p:cNvSpPr txBox="1"/>
          <p:nvPr/>
        </p:nvSpPr>
        <p:spPr>
          <a:xfrm>
            <a:off x="889000" y="5625846"/>
            <a:ext cx="461124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Модель, деление площади и движение денег</a:t>
            </a:r>
          </a:p>
        </p:txBody>
      </p:sp>
      <p:sp>
        <p:nvSpPr>
          <p:cNvPr id="7" name="Текст: 3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3 блока</a:t>
            </a:r>
          </a:p>
        </p:txBody>
      </p:sp>
      <p:sp>
        <p:nvSpPr>
          <p:cNvPr id="8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МОДЕЛЬ"/>
          <p:cNvSpPr txBox="1"/>
          <p:nvPr/>
        </p:nvSpPr>
        <p:spPr>
          <a:xfrm>
            <a:off x="889000" y="949960"/>
            <a:ext cx="61823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МОДЕЛЬ</a:t>
            </a:r>
          </a:p>
        </p:txBody>
      </p:sp>
      <p:sp>
        <p:nvSpPr>
          <p:cNvPr id="4" name="Текст: Три шага"/>
          <p:cNvSpPr txBox="1"/>
          <p:nvPr/>
        </p:nvSpPr>
        <p:spPr>
          <a:xfrm>
            <a:off x="889000" y="1196340"/>
            <a:ext cx="241324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7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Три шага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3349244"/>
            <a:ext cx="46708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6" name="Текст: Снимаем"/>
          <p:cNvSpPr txBox="1"/>
          <p:nvPr/>
        </p:nvSpPr>
        <p:spPr>
          <a:xfrm>
            <a:off x="889000" y="3760470"/>
            <a:ext cx="1276392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Снимаем</a:t>
            </a:r>
          </a:p>
        </p:txBody>
      </p:sp>
      <p:sp>
        <p:nvSpPr>
          <p:cNvPr id="7" name="Текст: Помещение 100–300 м²"/>
          <p:cNvSpPr txBox="1"/>
          <p:nvPr/>
        </p:nvSpPr>
        <p:spPr>
          <a:xfrm>
            <a:off x="889000" y="4201922"/>
            <a:ext cx="190350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Помещение 100–300 м²</a:t>
            </a:r>
          </a:p>
        </p:txBody>
      </p:sp>
      <p:sp>
        <p:nvSpPr>
          <p:cNvPr id="8" name="Текст: в долгосрочную аренду. Ставка ниже"/>
          <p:cNvSpPr txBox="1"/>
          <p:nvPr/>
        </p:nvSpPr>
        <p:spPr>
          <a:xfrm>
            <a:off x="889000" y="4430522"/>
            <a:ext cx="294323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долгосрочную аренду. Ставка ниже</a:t>
            </a:r>
          </a:p>
        </p:txBody>
      </p:sp>
      <p:sp>
        <p:nvSpPr>
          <p:cNvPr id="9" name="Текст: рыночной, условия и срок фиксируем"/>
          <p:cNvSpPr txBox="1"/>
          <p:nvPr/>
        </p:nvSpPr>
        <p:spPr>
          <a:xfrm>
            <a:off x="889000" y="4659122"/>
            <a:ext cx="296558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рыночной, условия и срок фиксируем</a:t>
            </a:r>
          </a:p>
        </p:txBody>
      </p:sp>
      <p:sp>
        <p:nvSpPr>
          <p:cNvPr id="10" name="Текст: в договоре."/>
          <p:cNvSpPr txBox="1"/>
          <p:nvPr/>
        </p:nvSpPr>
        <p:spPr>
          <a:xfrm>
            <a:off x="889000" y="4887722"/>
            <a:ext cx="9658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 договоре.</a:t>
            </a:r>
          </a:p>
        </p:txBody>
      </p:sp>
      <p:sp>
        <p:nvSpPr>
          <p:cNvPr id="11" name="Текст: 02"/>
          <p:cNvSpPr txBox="1"/>
          <p:nvPr/>
        </p:nvSpPr>
        <p:spPr>
          <a:xfrm>
            <a:off x="4478834" y="3349244"/>
            <a:ext cx="52795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106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12" name="Текст: Делим"/>
          <p:cNvSpPr txBox="1"/>
          <p:nvPr/>
        </p:nvSpPr>
        <p:spPr>
          <a:xfrm>
            <a:off x="4478834" y="3760470"/>
            <a:ext cx="946128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Делим</a:t>
            </a:r>
          </a:p>
        </p:txBody>
      </p:sp>
      <p:sp>
        <p:nvSpPr>
          <p:cNvPr id="13" name="Текст: На блоки 30–50–70 м² и адаптируем"/>
          <p:cNvSpPr txBox="1"/>
          <p:nvPr/>
        </p:nvSpPr>
        <p:spPr>
          <a:xfrm>
            <a:off x="4478834" y="4201922"/>
            <a:ext cx="289219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 блоки 30–50–70 м² и адаптируем</a:t>
            </a:r>
          </a:p>
        </p:txBody>
      </p:sp>
      <p:sp>
        <p:nvSpPr>
          <p:cNvPr id="14" name="Текст: под спрос района: отдельные входы,"/>
          <p:cNvSpPr txBox="1"/>
          <p:nvPr/>
        </p:nvSpPr>
        <p:spPr>
          <a:xfrm>
            <a:off x="4478834" y="4430522"/>
            <a:ext cx="287745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под спрос района: отдельные входы,</a:t>
            </a:r>
          </a:p>
        </p:txBody>
      </p:sp>
      <p:sp>
        <p:nvSpPr>
          <p:cNvPr id="15" name="Текст: витрины, коммуникации."/>
          <p:cNvSpPr txBox="1"/>
          <p:nvPr/>
        </p:nvSpPr>
        <p:spPr>
          <a:xfrm>
            <a:off x="4478834" y="4659122"/>
            <a:ext cx="19561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витрины, коммуникации.</a:t>
            </a:r>
          </a:p>
        </p:txBody>
      </p:sp>
      <p:sp>
        <p:nvSpPr>
          <p:cNvPr id="16" name="Текст: 03"/>
          <p:cNvSpPr txBox="1"/>
          <p:nvPr/>
        </p:nvSpPr>
        <p:spPr>
          <a:xfrm>
            <a:off x="8068667" y="3349244"/>
            <a:ext cx="54284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17" name="Текст: Сдаём"/>
          <p:cNvSpPr txBox="1"/>
          <p:nvPr/>
        </p:nvSpPr>
        <p:spPr>
          <a:xfrm>
            <a:off x="8068667" y="3760470"/>
            <a:ext cx="945346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Сдаём</a:t>
            </a:r>
          </a:p>
        </p:txBody>
      </p:sp>
      <p:sp>
        <p:nvSpPr>
          <p:cNvPr id="18" name="Текст: Каждому арендатору — свой формат."/>
          <p:cNvSpPr txBox="1"/>
          <p:nvPr/>
        </p:nvSpPr>
        <p:spPr>
          <a:xfrm>
            <a:off x="8068667" y="4201922"/>
            <a:ext cx="293546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Каждому арендатору — свой формат.</a:t>
            </a:r>
          </a:p>
        </p:txBody>
      </p:sp>
      <p:sp>
        <p:nvSpPr>
          <p:cNvPr id="19" name="Текст: Ставка от 3 000 ₽/м² против"/>
          <p:cNvSpPr txBox="1"/>
          <p:nvPr/>
        </p:nvSpPr>
        <p:spPr>
          <a:xfrm>
            <a:off x="8068667" y="4430522"/>
            <a:ext cx="229133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Ставка от 3 000 ₽/м² против</a:t>
            </a:r>
          </a:p>
        </p:txBody>
      </p:sp>
      <p:sp>
        <p:nvSpPr>
          <p:cNvPr id="20" name="Текст: 2 000 ₽/м² у собственника. Разница"/>
          <p:cNvSpPr txBox="1"/>
          <p:nvPr/>
        </p:nvSpPr>
        <p:spPr>
          <a:xfrm>
            <a:off x="8068667" y="4659122"/>
            <a:ext cx="286509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2 000 ₽/м² у собственника. Разница</a:t>
            </a:r>
          </a:p>
        </p:txBody>
      </p:sp>
      <p:sp>
        <p:nvSpPr>
          <p:cNvPr id="21" name="Текст: — наш доход."/>
          <p:cNvSpPr txBox="1"/>
          <p:nvPr/>
        </p:nvSpPr>
        <p:spPr>
          <a:xfrm>
            <a:off x="8068667" y="4887722"/>
            <a:ext cx="107821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— наш доход.</a:t>
            </a:r>
          </a:p>
        </p:txBody>
      </p:sp>
      <p:sp>
        <p:nvSpPr>
          <p:cNvPr id="22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ЛЮЧЕВАЯ МЕХАНИКА"/>
          <p:cNvSpPr txBox="1"/>
          <p:nvPr/>
        </p:nvSpPr>
        <p:spPr>
          <a:xfrm>
            <a:off x="889000" y="949960"/>
            <a:ext cx="166430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КЛЮЧЕВАЯ МЕХАНИКА</a:t>
            </a:r>
          </a:p>
        </p:txBody>
      </p:sp>
      <p:sp>
        <p:nvSpPr>
          <p:cNvPr id="4" name="Текст: Один метр — две ставки"/>
          <p:cNvSpPr txBox="1"/>
          <p:nvPr/>
        </p:nvSpPr>
        <p:spPr>
          <a:xfrm>
            <a:off x="889000" y="1196340"/>
            <a:ext cx="601131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Один метр — две ставки</a:t>
            </a:r>
          </a:p>
        </p:txBody>
      </p:sp>
      <p:sp>
        <p:nvSpPr>
          <p:cNvPr id="5" name="Текст: ДО · ОДНО ПОМЕЩЕНИЕ"/>
          <p:cNvSpPr txBox="1"/>
          <p:nvPr/>
        </p:nvSpPr>
        <p:spPr>
          <a:xfrm>
            <a:off x="889000" y="2004314"/>
            <a:ext cx="158346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· ОДНО ПОМЕЩЕНИЕ</a:t>
            </a:r>
          </a:p>
        </p:txBody>
      </p:sp>
      <p:sp>
        <p:nvSpPr>
          <p:cNvPr id="6" name="Текст: 120 м²"/>
          <p:cNvSpPr txBox="1"/>
          <p:nvPr/>
        </p:nvSpPr>
        <p:spPr>
          <a:xfrm>
            <a:off x="3448546" y="3443065"/>
            <a:ext cx="613126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м²</a:t>
            </a:r>
          </a:p>
        </p:txBody>
      </p:sp>
      <p:sp>
        <p:nvSpPr>
          <p:cNvPr id="7" name="Текст: ПЛОЩАДЬ"/>
          <p:cNvSpPr txBox="1"/>
          <p:nvPr/>
        </p:nvSpPr>
        <p:spPr>
          <a:xfrm>
            <a:off x="889000" y="51602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8" name="Текст: 100–300 м²"/>
          <p:cNvSpPr txBox="1"/>
          <p:nvPr/>
        </p:nvSpPr>
        <p:spPr>
          <a:xfrm>
            <a:off x="889000" y="5365496"/>
            <a:ext cx="125430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100–300 м²</a:t>
            </a:r>
          </a:p>
        </p:txBody>
      </p:sp>
      <p:sp>
        <p:nvSpPr>
          <p:cNvPr id="9" name="Текст: СТАВКА СОБСТВЕННИКА"/>
          <p:cNvSpPr txBox="1"/>
          <p:nvPr/>
        </p:nvSpPr>
        <p:spPr>
          <a:xfrm>
            <a:off x="3330575" y="5160264"/>
            <a:ext cx="158346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СТАВКА СОБСТВЕННИКА</a:t>
            </a:r>
          </a:p>
        </p:txBody>
      </p:sp>
      <p:sp>
        <p:nvSpPr>
          <p:cNvPr id="10" name="Текст: от 2 000 ₽/м²"/>
          <p:cNvSpPr txBox="1"/>
          <p:nvPr/>
        </p:nvSpPr>
        <p:spPr>
          <a:xfrm>
            <a:off x="3330575" y="5365496"/>
            <a:ext cx="148776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 2 000 ₽/м²</a:t>
            </a:r>
          </a:p>
        </p:txBody>
      </p:sp>
      <p:sp>
        <p:nvSpPr>
          <p:cNvPr id="11" name="Текст: ПОСЛЕ · ТРИ БЛОКА"/>
          <p:cNvSpPr txBox="1"/>
          <p:nvPr/>
        </p:nvSpPr>
        <p:spPr>
          <a:xfrm>
            <a:off x="6572250" y="20043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ПОСЛЕ · ТРИ БЛОКА</a:t>
            </a:r>
          </a:p>
        </p:txBody>
      </p:sp>
      <p:sp>
        <p:nvSpPr>
          <p:cNvPr id="12" name="Текст: 61 м²"/>
          <p:cNvSpPr txBox="1"/>
          <p:nvPr/>
        </p:nvSpPr>
        <p:spPr>
          <a:xfrm>
            <a:off x="7961709" y="3637534"/>
            <a:ext cx="504397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 spc="-28">
                <a:solidFill>
                  <a:srgbClr val="171615"/>
                </a:solidFill>
                <a:latin typeface="Onest"/>
                <a:cs typeface="Onest"/>
                <a:ea typeface="Onest"/>
              </a:rPr>
              <a:t>61 м²</a:t>
            </a:r>
          </a:p>
        </p:txBody>
      </p:sp>
      <p:sp>
        <p:nvSpPr>
          <p:cNvPr id="13" name="Текст: 37 м²"/>
          <p:cNvSpPr txBox="1"/>
          <p:nvPr/>
        </p:nvSpPr>
        <p:spPr>
          <a:xfrm>
            <a:off x="9329142" y="3443065"/>
            <a:ext cx="526217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37 м²</a:t>
            </a:r>
          </a:p>
        </p:txBody>
      </p:sp>
      <p:sp>
        <p:nvSpPr>
          <p:cNvPr id="14" name="Текст: 18 м²"/>
          <p:cNvSpPr txBox="1"/>
          <p:nvPr/>
        </p:nvSpPr>
        <p:spPr>
          <a:xfrm>
            <a:off x="10117634" y="3193034"/>
            <a:ext cx="504212" cy="226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18 м²</a:t>
            </a:r>
          </a:p>
        </p:txBody>
      </p:sp>
      <p:sp>
        <p:nvSpPr>
          <p:cNvPr id="15" name="Текст: БЛОКИ"/>
          <p:cNvSpPr txBox="1"/>
          <p:nvPr/>
        </p:nvSpPr>
        <p:spPr>
          <a:xfrm>
            <a:off x="6572250" y="5160264"/>
            <a:ext cx="4518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БЛОКИ</a:t>
            </a:r>
          </a:p>
        </p:txBody>
      </p:sp>
      <p:sp>
        <p:nvSpPr>
          <p:cNvPr id="16" name="Текст: 30–50–70 м²"/>
          <p:cNvSpPr txBox="1"/>
          <p:nvPr/>
        </p:nvSpPr>
        <p:spPr>
          <a:xfrm>
            <a:off x="6572250" y="5365496"/>
            <a:ext cx="139432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30–50–70 м²</a:t>
            </a:r>
          </a:p>
        </p:txBody>
      </p:sp>
      <p:sp>
        <p:nvSpPr>
          <p:cNvPr id="17" name="Текст: СТАВКА ДЛЯ АРЕНДАТОРОВ"/>
          <p:cNvSpPr txBox="1"/>
          <p:nvPr/>
        </p:nvSpPr>
        <p:spPr>
          <a:xfrm>
            <a:off x="9013825" y="5160264"/>
            <a:ext cx="18259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СТАВКА ДЛЯ АРЕНДАТОРОВ</a:t>
            </a:r>
          </a:p>
        </p:txBody>
      </p:sp>
      <p:sp>
        <p:nvSpPr>
          <p:cNvPr id="18" name="Текст: от 3 000 ₽/м²"/>
          <p:cNvSpPr txBox="1"/>
          <p:nvPr/>
        </p:nvSpPr>
        <p:spPr>
          <a:xfrm>
            <a:off x="9013825" y="5365496"/>
            <a:ext cx="1495545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 3 000 ₽/м²</a:t>
            </a:r>
          </a:p>
        </p:txBody>
      </p:sp>
      <p:sp>
        <p:nvSpPr>
          <p:cNvPr id="19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ЭКОНОМИКА"/>
          <p:cNvSpPr txBox="1"/>
          <p:nvPr/>
        </p:nvSpPr>
        <p:spPr>
          <a:xfrm>
            <a:off x="889000" y="949960"/>
            <a:ext cx="90352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ЭКОНОМИКА</a:t>
            </a:r>
          </a:p>
        </p:txBody>
      </p:sp>
      <p:sp>
        <p:nvSpPr>
          <p:cNvPr id="4" name="Текст: Как движутся деньги"/>
          <p:cNvSpPr txBox="1"/>
          <p:nvPr/>
        </p:nvSpPr>
        <p:spPr>
          <a:xfrm>
            <a:off x="889000" y="1196340"/>
            <a:ext cx="526585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движутся деньги</a:t>
            </a:r>
          </a:p>
        </p:txBody>
      </p:sp>
      <p:sp>
        <p:nvSpPr>
          <p:cNvPr id="5" name="Текст: СУБАРЕНДАТОРЫ"/>
          <p:cNvSpPr txBox="1"/>
          <p:nvPr/>
        </p:nvSpPr>
        <p:spPr>
          <a:xfrm>
            <a:off x="889000" y="23789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СУБАРЕНДАТОРЫ</a:t>
            </a:r>
          </a:p>
        </p:txBody>
      </p:sp>
      <p:sp>
        <p:nvSpPr>
          <p:cNvPr id="6" name="Текст: 2–5 блоков"/>
          <p:cNvSpPr txBox="1"/>
          <p:nvPr/>
        </p:nvSpPr>
        <p:spPr>
          <a:xfrm>
            <a:off x="889000" y="2609596"/>
            <a:ext cx="122814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2–5 блоков</a:t>
            </a:r>
          </a:p>
        </p:txBody>
      </p:sp>
      <p:sp>
        <p:nvSpPr>
          <p:cNvPr id="7" name="Текст: аптека, кофейня, цветы, ПВЗ,"/>
          <p:cNvSpPr txBox="1"/>
          <p:nvPr/>
        </p:nvSpPr>
        <p:spPr>
          <a:xfrm>
            <a:off x="889000" y="2931541"/>
            <a:ext cx="209632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аптека, кофейня, цветы, ПВЗ,</a:t>
            </a:r>
          </a:p>
        </p:txBody>
      </p:sp>
      <p:sp>
        <p:nvSpPr>
          <p:cNvPr id="8" name="Текст: услуги"/>
          <p:cNvSpPr txBox="1"/>
          <p:nvPr/>
        </p:nvSpPr>
        <p:spPr>
          <a:xfrm>
            <a:off x="889000" y="3134741"/>
            <a:ext cx="5429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услуги</a:t>
            </a:r>
          </a:p>
        </p:txBody>
      </p:sp>
      <p:sp>
        <p:nvSpPr>
          <p:cNvPr id="9" name="Текст: АРЕНДА ОТ 3 000"/>
          <p:cNvSpPr txBox="1"/>
          <p:nvPr/>
        </p:nvSpPr>
        <p:spPr>
          <a:xfrm>
            <a:off x="3512741" y="2753614"/>
            <a:ext cx="126013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 ОТ 3 000</a:t>
            </a:r>
          </a:p>
        </p:txBody>
      </p:sp>
      <p:sp>
        <p:nvSpPr>
          <p:cNvPr id="10" name="Текст: ₽/М²"/>
          <p:cNvSpPr txBox="1"/>
          <p:nvPr/>
        </p:nvSpPr>
        <p:spPr>
          <a:xfrm>
            <a:off x="3946227" y="2930144"/>
            <a:ext cx="358490" cy="133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/М²</a:t>
            </a:r>
          </a:p>
        </p:txBody>
      </p:sp>
      <p:sp>
        <p:nvSpPr>
          <p:cNvPr id="11" name="Текст: МЫ"/>
          <p:cNvSpPr txBox="1"/>
          <p:nvPr/>
        </p:nvSpPr>
        <p:spPr>
          <a:xfrm>
            <a:off x="4889500" y="23789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МЫ</a:t>
            </a:r>
          </a:p>
        </p:txBody>
      </p:sp>
      <p:sp>
        <p:nvSpPr>
          <p:cNvPr id="12" name="Текст: Управляющий"/>
          <p:cNvSpPr txBox="1"/>
          <p:nvPr/>
        </p:nvSpPr>
        <p:spPr>
          <a:xfrm>
            <a:off x="4889500" y="2609596"/>
            <a:ext cx="151148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Управляющий</a:t>
            </a:r>
          </a:p>
        </p:txBody>
      </p:sp>
      <p:sp>
        <p:nvSpPr>
          <p:cNvPr id="13" name="Текст: арендатор"/>
          <p:cNvSpPr txBox="1"/>
          <p:nvPr/>
        </p:nvSpPr>
        <p:spPr>
          <a:xfrm>
            <a:off x="4889500" y="2857246"/>
            <a:ext cx="116634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</a:t>
            </a:r>
          </a:p>
        </p:txBody>
      </p:sp>
      <p:sp>
        <p:nvSpPr>
          <p:cNvPr id="14" name="Текст: ремонт, деление, поиск"/>
          <p:cNvSpPr txBox="1"/>
          <p:nvPr/>
        </p:nvSpPr>
        <p:spPr>
          <a:xfrm>
            <a:off x="4889500" y="3179191"/>
            <a:ext cx="172133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ремонт, деление, поиск</a:t>
            </a:r>
          </a:p>
        </p:txBody>
      </p:sp>
      <p:sp>
        <p:nvSpPr>
          <p:cNvPr id="15" name="Текст: арендаторов, сервис"/>
          <p:cNvSpPr txBox="1"/>
          <p:nvPr/>
        </p:nvSpPr>
        <p:spPr>
          <a:xfrm>
            <a:off x="4889500" y="3382391"/>
            <a:ext cx="154728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арендаторов, сервис</a:t>
            </a:r>
          </a:p>
        </p:txBody>
      </p:sp>
      <p:sp>
        <p:nvSpPr>
          <p:cNvPr id="16" name="Текст: ФИКСИРОВАННЫЙ"/>
          <p:cNvSpPr txBox="1"/>
          <p:nvPr/>
        </p:nvSpPr>
        <p:spPr>
          <a:xfrm>
            <a:off x="7591028" y="2753614"/>
            <a:ext cx="10984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ФИКСИРОВАННЫЙ</a:t>
            </a:r>
          </a:p>
        </p:txBody>
      </p:sp>
      <p:sp>
        <p:nvSpPr>
          <p:cNvPr id="17" name="Текст: ПЛАТЁЖ"/>
          <p:cNvSpPr txBox="1"/>
          <p:nvPr/>
        </p:nvSpPr>
        <p:spPr>
          <a:xfrm>
            <a:off x="7862987" y="291871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ПЛАТЁЖ</a:t>
            </a:r>
          </a:p>
        </p:txBody>
      </p:sp>
      <p:sp>
        <p:nvSpPr>
          <p:cNvPr id="18" name="Текст: СОБСТВЕННИК"/>
          <p:cNvSpPr txBox="1"/>
          <p:nvPr/>
        </p:nvSpPr>
        <p:spPr>
          <a:xfrm>
            <a:off x="8890000" y="23789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</a:t>
            </a:r>
          </a:p>
        </p:txBody>
      </p:sp>
      <p:sp>
        <p:nvSpPr>
          <p:cNvPr id="19" name="Текст: Один надёжный"/>
          <p:cNvSpPr txBox="1"/>
          <p:nvPr/>
        </p:nvSpPr>
        <p:spPr>
          <a:xfrm>
            <a:off x="8890000" y="2609596"/>
            <a:ext cx="170512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Один надёжный</a:t>
            </a:r>
          </a:p>
        </p:txBody>
      </p:sp>
      <p:sp>
        <p:nvSpPr>
          <p:cNvPr id="20" name="Текст: арендатор"/>
          <p:cNvSpPr txBox="1"/>
          <p:nvPr/>
        </p:nvSpPr>
        <p:spPr>
          <a:xfrm>
            <a:off x="8890000" y="2857246"/>
            <a:ext cx="116634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</a:t>
            </a:r>
          </a:p>
        </p:txBody>
      </p:sp>
      <p:sp>
        <p:nvSpPr>
          <p:cNvPr id="21" name="Текст: стабильный платёж на 7–10 лет"/>
          <p:cNvSpPr txBox="1"/>
          <p:nvPr/>
        </p:nvSpPr>
        <p:spPr>
          <a:xfrm>
            <a:off x="8890000" y="3179191"/>
            <a:ext cx="225701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стабильный платёж на 7–10 лет</a:t>
            </a:r>
          </a:p>
        </p:txBody>
      </p:sp>
      <p:sp>
        <p:nvSpPr>
          <p:cNvPr id="22" name="Текст: и обновлённое помещение"/>
          <p:cNvSpPr txBox="1"/>
          <p:nvPr/>
        </p:nvSpPr>
        <p:spPr>
          <a:xfrm>
            <a:off x="8890000" y="3382391"/>
            <a:ext cx="19619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и обновлённое помещение</a:t>
            </a:r>
          </a:p>
        </p:txBody>
      </p:sp>
      <p:sp>
        <p:nvSpPr>
          <p:cNvPr id="23" name="Текст: 30–50%"/>
          <p:cNvSpPr txBox="1"/>
          <p:nvPr/>
        </p:nvSpPr>
        <p:spPr>
          <a:xfrm>
            <a:off x="889000" y="4903978"/>
            <a:ext cx="191094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30–50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4" name="Текст: МАРЖИНАЛЬНОСТЬ ОБЪЕКТА"/>
          <p:cNvSpPr txBox="1"/>
          <p:nvPr/>
        </p:nvSpPr>
        <p:spPr>
          <a:xfrm>
            <a:off x="889000" y="5522214"/>
            <a:ext cx="182596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МАРЖИНАЛЬНОСТЬ ОБЪЕКТА</a:t>
            </a:r>
          </a:p>
        </p:txBody>
      </p:sp>
      <p:sp>
        <p:nvSpPr>
          <p:cNvPr id="25" name="Текст: от 100%"/>
          <p:cNvSpPr txBox="1"/>
          <p:nvPr/>
        </p:nvSpPr>
        <p:spPr>
          <a:xfrm>
            <a:off x="4569817" y="4903978"/>
            <a:ext cx="1839023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100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</a:t>
            </a:r>
          </a:p>
        </p:txBody>
      </p:sp>
      <p:sp>
        <p:nvSpPr>
          <p:cNvPr id="26" name="Текст: ГОДОВЫХ НА ВЛОЖЕННЫЙ КАПИТАЛ"/>
          <p:cNvSpPr txBox="1"/>
          <p:nvPr/>
        </p:nvSpPr>
        <p:spPr>
          <a:xfrm>
            <a:off x="4569817" y="5522214"/>
            <a:ext cx="231095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ГОДОВЫХ НА ВЛОЖЕННЫЙ КАПИТАЛ</a:t>
            </a:r>
          </a:p>
        </p:txBody>
      </p:sp>
      <p:sp>
        <p:nvSpPr>
          <p:cNvPr id="27" name="Текст: 7–10лет"/>
          <p:cNvSpPr txBox="1"/>
          <p:nvPr/>
        </p:nvSpPr>
        <p:spPr>
          <a:xfrm>
            <a:off x="8041184" y="4903978"/>
            <a:ext cx="158695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7–10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28" name="Текст: СРОК ДОГОВОРА С СОБСТВЕННИКОМ"/>
          <p:cNvSpPr txBox="1"/>
          <p:nvPr/>
        </p:nvSpPr>
        <p:spPr>
          <a:xfrm>
            <a:off x="8041184" y="552221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СРОК ДОГОВОРА С СОБСТВЕННИКОМ</a:t>
            </a:r>
          </a:p>
        </p:txBody>
      </p:sp>
      <p:sp>
        <p:nvSpPr>
          <p:cNvPr id="29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ПРОС"/>
          <p:cNvSpPr txBox="1"/>
          <p:nvPr/>
        </p:nvSpPr>
        <p:spPr>
          <a:xfrm>
            <a:off x="889000" y="949960"/>
            <a:ext cx="52313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СПРОС</a:t>
            </a:r>
          </a:p>
        </p:txBody>
      </p:sp>
      <p:sp>
        <p:nvSpPr>
          <p:cNvPr id="4" name="Текст: Кто арендует блоки"/>
          <p:cNvSpPr txBox="1"/>
          <p:nvPr/>
        </p:nvSpPr>
        <p:spPr>
          <a:xfrm>
            <a:off x="889000" y="1196340"/>
            <a:ext cx="497549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Кто арендует блоки</a:t>
            </a:r>
          </a:p>
        </p:txBody>
      </p:sp>
      <p:sp>
        <p:nvSpPr>
          <p:cNvPr id="5" name="Текст: 29 арендаторов в девяти кейсах. Малый фо"/>
          <p:cNvSpPr txBox="1"/>
          <p:nvPr/>
        </p:nvSpPr>
        <p:spPr>
          <a:xfrm>
            <a:off x="7493000" y="1115822"/>
            <a:ext cx="377042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29 арендаторов в девяти кейсах. Малый формат</a:t>
            </a:r>
          </a:p>
        </p:txBody>
      </p:sp>
      <p:sp>
        <p:nvSpPr>
          <p:cNvPr id="6" name="Текст: и ежедневный спрос — то, что нужно жител"/>
          <p:cNvSpPr txBox="1"/>
          <p:nvPr/>
        </p:nvSpPr>
        <p:spPr>
          <a:xfrm>
            <a:off x="7493000" y="1344422"/>
            <a:ext cx="359797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и ежедневный спрос — то, что нужно жителям</a:t>
            </a:r>
          </a:p>
        </p:txBody>
      </p:sp>
      <p:sp>
        <p:nvSpPr>
          <p:cNvPr id="7" name="Текст: улицы."/>
          <p:cNvSpPr txBox="1"/>
          <p:nvPr/>
        </p:nvSpPr>
        <p:spPr>
          <a:xfrm>
            <a:off x="7493000" y="1573022"/>
            <a:ext cx="58687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улицы.</a:t>
            </a:r>
          </a:p>
        </p:txBody>
      </p:sp>
      <p:sp>
        <p:nvSpPr>
          <p:cNvPr id="8" name="Текст: 9"/>
          <p:cNvSpPr txBox="1"/>
          <p:nvPr/>
        </p:nvSpPr>
        <p:spPr>
          <a:xfrm>
            <a:off x="889000" y="2262378"/>
            <a:ext cx="551979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</a:t>
            </a:r>
          </a:p>
        </p:txBody>
      </p:sp>
      <p:sp>
        <p:nvSpPr>
          <p:cNvPr id="9" name="Текст: Еда и напитки"/>
          <p:cNvSpPr txBox="1"/>
          <p:nvPr/>
        </p:nvSpPr>
        <p:spPr>
          <a:xfrm>
            <a:off x="889000" y="2843022"/>
            <a:ext cx="11498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Еда и напитки</a:t>
            </a:r>
          </a:p>
        </p:txBody>
      </p:sp>
      <p:sp>
        <p:nvSpPr>
          <p:cNvPr id="10" name="Текст: Кофейни и кофе-стойка · 4"/>
          <p:cNvSpPr txBox="1"/>
          <p:nvPr/>
        </p:nvSpPr>
        <p:spPr>
          <a:xfrm>
            <a:off x="889000" y="3693541"/>
            <a:ext cx="19503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Кофейни и кофе-стойка · 4</a:t>
            </a:r>
          </a:p>
        </p:txBody>
      </p:sp>
      <p:sp>
        <p:nvSpPr>
          <p:cNvPr id="11" name="Текст: Винлаб · 1"/>
          <p:cNvSpPr txBox="1"/>
          <p:nvPr/>
        </p:nvSpPr>
        <p:spPr>
          <a:xfrm>
            <a:off x="889000" y="3928491"/>
            <a:ext cx="7471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Винлаб · 1</a:t>
            </a:r>
          </a:p>
        </p:txBody>
      </p:sp>
      <p:sp>
        <p:nvSpPr>
          <p:cNvPr id="12" name="Текст: Мята Lounge · 1"/>
          <p:cNvSpPr txBox="1"/>
          <p:nvPr/>
        </p:nvSpPr>
        <p:spPr>
          <a:xfrm>
            <a:off x="889000" y="4169791"/>
            <a:ext cx="11390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Мята Lounge · 1</a:t>
            </a:r>
          </a:p>
        </p:txBody>
      </p:sp>
      <p:sp>
        <p:nvSpPr>
          <p:cNvPr id="13" name="Текст: Шаурма · 1"/>
          <p:cNvSpPr txBox="1"/>
          <p:nvPr/>
        </p:nvSpPr>
        <p:spPr>
          <a:xfrm>
            <a:off x="889000" y="4404741"/>
            <a:ext cx="8071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Шаурма · 1</a:t>
            </a:r>
          </a:p>
        </p:txBody>
      </p:sp>
      <p:sp>
        <p:nvSpPr>
          <p:cNvPr id="14" name="Текст: Пиво · 1"/>
          <p:cNvSpPr txBox="1"/>
          <p:nvPr/>
        </p:nvSpPr>
        <p:spPr>
          <a:xfrm>
            <a:off x="889000" y="4639691"/>
            <a:ext cx="59579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Пиво · 1</a:t>
            </a:r>
          </a:p>
        </p:txBody>
      </p:sp>
      <p:sp>
        <p:nvSpPr>
          <p:cNvPr id="15" name="Текст: Овощи и фрукты · 1"/>
          <p:cNvSpPr txBox="1"/>
          <p:nvPr/>
        </p:nvSpPr>
        <p:spPr>
          <a:xfrm>
            <a:off x="889000" y="4880991"/>
            <a:ext cx="139661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Овощи и фрукты · 1</a:t>
            </a:r>
          </a:p>
        </p:txBody>
      </p:sp>
      <p:sp>
        <p:nvSpPr>
          <p:cNvPr id="16" name="Текст: 6"/>
          <p:cNvSpPr txBox="1"/>
          <p:nvPr/>
        </p:nvSpPr>
        <p:spPr>
          <a:xfrm>
            <a:off x="3972520" y="2262378"/>
            <a:ext cx="553484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6</a:t>
            </a:r>
          </a:p>
        </p:txBody>
      </p:sp>
      <p:sp>
        <p:nvSpPr>
          <p:cNvPr id="17" name="Текст: Здоровье и красота"/>
          <p:cNvSpPr txBox="1"/>
          <p:nvPr/>
        </p:nvSpPr>
        <p:spPr>
          <a:xfrm>
            <a:off x="3972520" y="2843022"/>
            <a:ext cx="160184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Здоровье и красота</a:t>
            </a:r>
          </a:p>
        </p:txBody>
      </p:sp>
      <p:sp>
        <p:nvSpPr>
          <p:cNvPr id="18" name="Текст: Аптеки · 3"/>
          <p:cNvSpPr txBox="1"/>
          <p:nvPr/>
        </p:nvSpPr>
        <p:spPr>
          <a:xfrm>
            <a:off x="3972520" y="3693541"/>
            <a:ext cx="7646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Аптеки · 3</a:t>
            </a:r>
          </a:p>
        </p:txBody>
      </p:sp>
      <p:sp>
        <p:nvSpPr>
          <p:cNvPr id="19" name="Текст: Эпиляция · 2"/>
          <p:cNvSpPr txBox="1"/>
          <p:nvPr/>
        </p:nvSpPr>
        <p:spPr>
          <a:xfrm>
            <a:off x="3972520" y="3928491"/>
            <a:ext cx="9470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Эпиляция · 2</a:t>
            </a:r>
          </a:p>
        </p:txBody>
      </p:sp>
      <p:sp>
        <p:nvSpPr>
          <p:cNvPr id="20" name="Текст: Массаж · 1"/>
          <p:cNvSpPr txBox="1"/>
          <p:nvPr/>
        </p:nvSpPr>
        <p:spPr>
          <a:xfrm>
            <a:off x="3972520" y="4169791"/>
            <a:ext cx="7961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Массаж · 1</a:t>
            </a:r>
          </a:p>
        </p:txBody>
      </p:sp>
      <p:sp>
        <p:nvSpPr>
          <p:cNvPr id="21" name="Текст: 5"/>
          <p:cNvSpPr txBox="1"/>
          <p:nvPr/>
        </p:nvSpPr>
        <p:spPr>
          <a:xfrm>
            <a:off x="6096000" y="2262378"/>
            <a:ext cx="54846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22" name="Текст: Цветы и подарки"/>
          <p:cNvSpPr txBox="1"/>
          <p:nvPr/>
        </p:nvSpPr>
        <p:spPr>
          <a:xfrm>
            <a:off x="6096000" y="2843022"/>
            <a:ext cx="136934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Цветы и подарки</a:t>
            </a:r>
          </a:p>
        </p:txBody>
      </p:sp>
      <p:sp>
        <p:nvSpPr>
          <p:cNvPr id="23" name="Текст: Цветы · 4"/>
          <p:cNvSpPr txBox="1"/>
          <p:nvPr/>
        </p:nvSpPr>
        <p:spPr>
          <a:xfrm>
            <a:off x="6096000" y="3693541"/>
            <a:ext cx="7105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Цветы · 4</a:t>
            </a:r>
          </a:p>
        </p:txBody>
      </p:sp>
      <p:sp>
        <p:nvSpPr>
          <p:cNvPr id="24" name="Текст: Сувениры · 1"/>
          <p:cNvSpPr txBox="1"/>
          <p:nvPr/>
        </p:nvSpPr>
        <p:spPr>
          <a:xfrm>
            <a:off x="6096000" y="3928491"/>
            <a:ext cx="93780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Сувениры · 1</a:t>
            </a:r>
          </a:p>
        </p:txBody>
      </p:sp>
      <p:sp>
        <p:nvSpPr>
          <p:cNvPr id="25" name="Текст: 5"/>
          <p:cNvSpPr txBox="1"/>
          <p:nvPr/>
        </p:nvSpPr>
        <p:spPr>
          <a:xfrm>
            <a:off x="7899400" y="2262378"/>
            <a:ext cx="548466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5</a:t>
            </a:r>
          </a:p>
        </p:txBody>
      </p:sp>
      <p:sp>
        <p:nvSpPr>
          <p:cNvPr id="26" name="Текст: ПВЗ и доставка"/>
          <p:cNvSpPr txBox="1"/>
          <p:nvPr/>
        </p:nvSpPr>
        <p:spPr>
          <a:xfrm>
            <a:off x="7899400" y="2843022"/>
            <a:ext cx="126908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ПВЗ и доставка</a:t>
            </a:r>
          </a:p>
        </p:txBody>
      </p:sp>
      <p:sp>
        <p:nvSpPr>
          <p:cNvPr id="27" name="Текст: Ozon · 3"/>
          <p:cNvSpPr txBox="1"/>
          <p:nvPr/>
        </p:nvSpPr>
        <p:spPr>
          <a:xfrm>
            <a:off x="7899400" y="3693541"/>
            <a:ext cx="62964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Ozon · 3</a:t>
            </a:r>
          </a:p>
        </p:txBody>
      </p:sp>
      <p:sp>
        <p:nvSpPr>
          <p:cNvPr id="28" name="Текст: Wildberries · 1"/>
          <p:cNvSpPr txBox="1"/>
          <p:nvPr/>
        </p:nvSpPr>
        <p:spPr>
          <a:xfrm>
            <a:off x="7899400" y="3928491"/>
            <a:ext cx="99983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Wildberries · 1</a:t>
            </a:r>
          </a:p>
        </p:txBody>
      </p:sp>
      <p:sp>
        <p:nvSpPr>
          <p:cNvPr id="29" name="Текст: Самокат · 1"/>
          <p:cNvSpPr txBox="1"/>
          <p:nvPr/>
        </p:nvSpPr>
        <p:spPr>
          <a:xfrm>
            <a:off x="7899400" y="4169791"/>
            <a:ext cx="83115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Самокат · 1</a:t>
            </a:r>
          </a:p>
        </p:txBody>
      </p:sp>
      <p:sp>
        <p:nvSpPr>
          <p:cNvPr id="30" name="Текст: 4"/>
          <p:cNvSpPr txBox="1"/>
          <p:nvPr/>
        </p:nvSpPr>
        <p:spPr>
          <a:xfrm>
            <a:off x="9702800" y="2262378"/>
            <a:ext cx="555492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</a:t>
            </a:r>
          </a:p>
        </p:txBody>
      </p:sp>
      <p:sp>
        <p:nvSpPr>
          <p:cNvPr id="31" name="Текст: Сервисы"/>
          <p:cNvSpPr txBox="1"/>
          <p:nvPr/>
        </p:nvSpPr>
        <p:spPr>
          <a:xfrm>
            <a:off x="9702800" y="2843022"/>
            <a:ext cx="75215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Сервисы</a:t>
            </a:r>
          </a:p>
        </p:txBody>
      </p:sp>
      <p:sp>
        <p:nvSpPr>
          <p:cNvPr id="32" name="Текст: Прачечная · 1"/>
          <p:cNvSpPr txBox="1"/>
          <p:nvPr/>
        </p:nvSpPr>
        <p:spPr>
          <a:xfrm>
            <a:off x="9702800" y="3693541"/>
            <a:ext cx="9887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Прачечная · 1</a:t>
            </a:r>
          </a:p>
        </p:txBody>
      </p:sp>
      <p:sp>
        <p:nvSpPr>
          <p:cNvPr id="33" name="Текст: Ателье · 1"/>
          <p:cNvSpPr txBox="1"/>
          <p:nvPr/>
        </p:nvSpPr>
        <p:spPr>
          <a:xfrm>
            <a:off x="9702800" y="3928491"/>
            <a:ext cx="72175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Ателье · 1</a:t>
            </a:r>
          </a:p>
        </p:txBody>
      </p:sp>
      <p:sp>
        <p:nvSpPr>
          <p:cNvPr id="34" name="Текст: Ремонт телефонов · 1"/>
          <p:cNvSpPr txBox="1"/>
          <p:nvPr/>
        </p:nvSpPr>
        <p:spPr>
          <a:xfrm>
            <a:off x="9702800" y="4169791"/>
            <a:ext cx="154161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Ремонт телефонов · 1</a:t>
            </a:r>
          </a:p>
        </p:txBody>
      </p:sp>
      <p:sp>
        <p:nvSpPr>
          <p:cNvPr id="35" name="Текст: Склад одежды · 1"/>
          <p:cNvSpPr txBox="1"/>
          <p:nvPr/>
        </p:nvSpPr>
        <p:spPr>
          <a:xfrm>
            <a:off x="9702800" y="4404741"/>
            <a:ext cx="12511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Склад одежды · 1</a:t>
            </a:r>
          </a:p>
        </p:txBody>
      </p:sp>
      <p:sp>
        <p:nvSpPr>
          <p:cNvPr id="36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ЛИКВИДНОСТЬ И СПРОС"/>
          <p:cNvSpPr txBox="1"/>
          <p:nvPr/>
        </p:nvSpPr>
        <p:spPr>
          <a:xfrm>
            <a:off x="889000" y="949960"/>
            <a:ext cx="185450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ЛИКВИДНОСТЬ И СПРОС</a:t>
            </a:r>
          </a:p>
        </p:txBody>
      </p:sp>
      <p:sp>
        <p:nvSpPr>
          <p:cNvPr id="4" name="Текст: С субарендой работают"/>
          <p:cNvSpPr txBox="1"/>
          <p:nvPr/>
        </p:nvSpPr>
        <p:spPr>
          <a:xfrm>
            <a:off x="889000" y="1196340"/>
            <a:ext cx="601427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 субарендой работают</a:t>
            </a:r>
          </a:p>
        </p:txBody>
      </p:sp>
      <p:sp>
        <p:nvSpPr>
          <p:cNvPr id="5" name="Текст: сети любого масштаба"/>
          <p:cNvSpPr txBox="1"/>
          <p:nvPr/>
        </p:nvSpPr>
        <p:spPr>
          <a:xfrm>
            <a:off x="889000" y="1723390"/>
            <a:ext cx="573458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сети любого масштаба</a:t>
            </a:r>
          </a:p>
        </p:txBody>
      </p:sp>
      <p:sp>
        <p:nvSpPr>
          <p:cNvPr id="6" name="Текст: Федеральные, локальные и новички — более"/>
          <p:cNvSpPr txBox="1"/>
          <p:nvPr/>
        </p:nvSpPr>
        <p:spPr>
          <a:xfrm>
            <a:off x="8001000" y="1871472"/>
            <a:ext cx="348291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Федеральные, локальные и новички — более</a:t>
            </a:r>
          </a:p>
        </p:txBody>
      </p:sp>
      <p:sp>
        <p:nvSpPr>
          <p:cNvPr id="7" name="Текст: 600 компаний по России"/>
          <p:cNvSpPr txBox="1"/>
          <p:nvPr/>
        </p:nvSpPr>
        <p:spPr>
          <a:xfrm>
            <a:off x="8001000" y="2100072"/>
            <a:ext cx="199970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600 компаний по России</a:t>
            </a:r>
          </a:p>
        </p:txBody>
      </p:sp>
      <p:sp>
        <p:nvSpPr>
          <p:cNvPr id="8" name="Текст: Ozon"/>
          <p:cNvSpPr txBox="1"/>
          <p:nvPr/>
        </p:nvSpPr>
        <p:spPr>
          <a:xfrm>
            <a:off x="1564184" y="2798762"/>
            <a:ext cx="48147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Ozon</a:t>
            </a:r>
          </a:p>
        </p:txBody>
      </p:sp>
      <p:sp>
        <p:nvSpPr>
          <p:cNvPr id="9" name="Текст: Wildberries"/>
          <p:cNvSpPr txBox="1"/>
          <p:nvPr/>
        </p:nvSpPr>
        <p:spPr>
          <a:xfrm>
            <a:off x="3086596" y="2798762"/>
            <a:ext cx="93168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Wildberries</a:t>
            </a:r>
          </a:p>
        </p:txBody>
      </p:sp>
      <p:sp>
        <p:nvSpPr>
          <p:cNvPr id="10" name="Текст: Яндекс Маркет"/>
          <p:cNvSpPr txBox="1"/>
          <p:nvPr/>
        </p:nvSpPr>
        <p:spPr>
          <a:xfrm>
            <a:off x="4661396" y="2798762"/>
            <a:ext cx="126637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Яндекс Маркет</a:t>
            </a:r>
          </a:p>
        </p:txBody>
      </p:sp>
      <p:sp>
        <p:nvSpPr>
          <p:cNvPr id="11" name="Текст: Lamoda"/>
          <p:cNvSpPr txBox="1"/>
          <p:nvPr/>
        </p:nvSpPr>
        <p:spPr>
          <a:xfrm>
            <a:off x="6676529" y="2798762"/>
            <a:ext cx="684961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Lamoda</a:t>
            </a:r>
          </a:p>
        </p:txBody>
      </p:sp>
      <p:sp>
        <p:nvSpPr>
          <p:cNvPr id="12" name="Текст: Самокат"/>
          <p:cNvSpPr txBox="1"/>
          <p:nvPr/>
        </p:nvSpPr>
        <p:spPr>
          <a:xfrm>
            <a:off x="8382794" y="2798762"/>
            <a:ext cx="74604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Самокат</a:t>
            </a:r>
          </a:p>
        </p:txBody>
      </p:sp>
      <p:sp>
        <p:nvSpPr>
          <p:cNvPr id="13" name="Текст: Винлаб"/>
          <p:cNvSpPr txBox="1"/>
          <p:nvPr/>
        </p:nvSpPr>
        <p:spPr>
          <a:xfrm>
            <a:off x="10163770" y="2798762"/>
            <a:ext cx="65173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</a:t>
            </a:r>
          </a:p>
        </p:txBody>
      </p:sp>
      <p:sp>
        <p:nvSpPr>
          <p:cNvPr id="14" name="Текст: Здравсити"/>
          <p:cNvSpPr txBox="1"/>
          <p:nvPr/>
        </p:nvSpPr>
        <p:spPr>
          <a:xfrm>
            <a:off x="1355626" y="3357562"/>
            <a:ext cx="91533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Здравсити</a:t>
            </a:r>
          </a:p>
        </p:txBody>
      </p:sp>
      <p:sp>
        <p:nvSpPr>
          <p:cNvPr id="15" name="Текст: Ригла"/>
          <p:cNvSpPr txBox="1"/>
          <p:nvPr/>
        </p:nvSpPr>
        <p:spPr>
          <a:xfrm>
            <a:off x="3277791" y="3357562"/>
            <a:ext cx="53396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Ригла</a:t>
            </a:r>
          </a:p>
        </p:txBody>
      </p:sp>
      <p:sp>
        <p:nvSpPr>
          <p:cNvPr id="16" name="Текст: Горздрав"/>
          <p:cNvSpPr txBox="1"/>
          <p:nvPr/>
        </p:nvSpPr>
        <p:spPr>
          <a:xfrm>
            <a:off x="4881066" y="3357562"/>
            <a:ext cx="80939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 spc="-28">
                <a:solidFill>
                  <a:srgbClr val="171615"/>
                </a:solidFill>
                <a:latin typeface="Onest"/>
                <a:cs typeface="Onest"/>
                <a:ea typeface="Onest"/>
              </a:rPr>
              <a:t>Горздрав</a:t>
            </a:r>
          </a:p>
        </p:txBody>
      </p:sp>
      <p:sp>
        <p:nvSpPr>
          <p:cNvPr id="17" name="Текст: Хлебник"/>
          <p:cNvSpPr txBox="1"/>
          <p:nvPr/>
        </p:nvSpPr>
        <p:spPr>
          <a:xfrm>
            <a:off x="6654304" y="3357562"/>
            <a:ext cx="73128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Хлебник</a:t>
            </a:r>
          </a:p>
        </p:txBody>
      </p:sp>
      <p:sp>
        <p:nvSpPr>
          <p:cNvPr id="18" name="Текст: Ермолино"/>
          <p:cNvSpPr txBox="1"/>
          <p:nvPr/>
        </p:nvSpPr>
        <p:spPr>
          <a:xfrm>
            <a:off x="8325842" y="3357562"/>
            <a:ext cx="86454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Ермолино</a:t>
            </a:r>
          </a:p>
        </p:txBody>
      </p:sp>
      <p:sp>
        <p:nvSpPr>
          <p:cNvPr id="19" name="Текст: Север-Метрополь"/>
          <p:cNvSpPr txBox="1"/>
          <p:nvPr/>
        </p:nvSpPr>
        <p:spPr>
          <a:xfrm>
            <a:off x="9750921" y="3357562"/>
            <a:ext cx="151046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Север-Метрополь</a:t>
            </a:r>
          </a:p>
        </p:txBody>
      </p:sp>
      <p:sp>
        <p:nvSpPr>
          <p:cNvPr id="20" name="Текст: Чио Чио"/>
          <p:cNvSpPr txBox="1"/>
          <p:nvPr/>
        </p:nvSpPr>
        <p:spPr>
          <a:xfrm>
            <a:off x="1446312" y="3916362"/>
            <a:ext cx="726645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Чио Чио</a:t>
            </a:r>
          </a:p>
        </p:txBody>
      </p:sp>
      <p:sp>
        <p:nvSpPr>
          <p:cNvPr id="21" name="Текст: Uppetit"/>
          <p:cNvSpPr txBox="1"/>
          <p:nvPr/>
        </p:nvSpPr>
        <p:spPr>
          <a:xfrm>
            <a:off x="3225602" y="3916362"/>
            <a:ext cx="642432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Uppetit</a:t>
            </a:r>
          </a:p>
        </p:txBody>
      </p:sp>
      <p:sp>
        <p:nvSpPr>
          <p:cNvPr id="22" name="Текст: Милти"/>
          <p:cNvSpPr txBox="1"/>
          <p:nvPr/>
        </p:nvSpPr>
        <p:spPr>
          <a:xfrm>
            <a:off x="4990306" y="3916362"/>
            <a:ext cx="58212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Милти</a:t>
            </a:r>
          </a:p>
        </p:txBody>
      </p:sp>
      <p:sp>
        <p:nvSpPr>
          <p:cNvPr id="23" name="Текст: Мята Lounge"/>
          <p:cNvSpPr txBox="1"/>
          <p:nvPr/>
        </p:nvSpPr>
        <p:spPr>
          <a:xfrm>
            <a:off x="6481862" y="3916362"/>
            <a:ext cx="108990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24" name="Текст: Coral Travel"/>
          <p:cNvSpPr txBox="1"/>
          <p:nvPr/>
        </p:nvSpPr>
        <p:spPr>
          <a:xfrm>
            <a:off x="8272760" y="3916362"/>
            <a:ext cx="97494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Coral Travel</a:t>
            </a:r>
          </a:p>
        </p:txBody>
      </p:sp>
      <p:sp>
        <p:nvSpPr>
          <p:cNvPr id="25" name="Текст: Столото"/>
          <p:cNvSpPr txBox="1"/>
          <p:nvPr/>
        </p:nvSpPr>
        <p:spPr>
          <a:xfrm>
            <a:off x="10126563" y="3916362"/>
            <a:ext cx="729353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Столото</a:t>
            </a:r>
          </a:p>
        </p:txBody>
      </p:sp>
      <p:sp>
        <p:nvSpPr>
          <p:cNvPr id="26" name="Текст: КАК НАХОДИМ АРЕНДАТОРОВ"/>
          <p:cNvSpPr txBox="1"/>
          <p:nvPr/>
        </p:nvSpPr>
        <p:spPr>
          <a:xfrm>
            <a:off x="889000" y="4715764"/>
            <a:ext cx="19067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КАК НАХОДИМ АРЕНДАТОРОВ</a:t>
            </a:r>
          </a:p>
        </p:txBody>
      </p:sp>
      <p:sp>
        <p:nvSpPr>
          <p:cNvPr id="27" name="Текст: Онлайн-площадки (Циан, Авито) и прямые м"/>
          <p:cNvSpPr txBox="1"/>
          <p:nvPr/>
        </p:nvSpPr>
        <p:spPr>
          <a:xfrm>
            <a:off x="889000" y="4944491"/>
            <a:ext cx="480507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Онлайн-площадки (Циан, Авито) и прямые менеджеры по развитию</a:t>
            </a:r>
          </a:p>
        </p:txBody>
      </p:sp>
      <p:sp>
        <p:nvSpPr>
          <p:cNvPr id="28" name="Текст: сетей"/>
          <p:cNvSpPr txBox="1"/>
          <p:nvPr/>
        </p:nvSpPr>
        <p:spPr>
          <a:xfrm>
            <a:off x="889000" y="5147691"/>
            <a:ext cx="4708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сетей</a:t>
            </a:r>
          </a:p>
        </p:txBody>
      </p:sp>
      <p:sp>
        <p:nvSpPr>
          <p:cNvPr id="29" name="Текст: ФОКУС ВНИМАНИЯ"/>
          <p:cNvSpPr txBox="1"/>
          <p:nvPr/>
        </p:nvSpPr>
        <p:spPr>
          <a:xfrm>
            <a:off x="6350000" y="47157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ФОКУС ВНИМАНИЯ</a:t>
            </a:r>
          </a:p>
        </p:txBody>
      </p:sp>
      <p:sp>
        <p:nvSpPr>
          <p:cNvPr id="30" name="Текст: Разные арендаторы на объекте — главный з"/>
          <p:cNvSpPr txBox="1"/>
          <p:nvPr/>
        </p:nvSpPr>
        <p:spPr>
          <a:xfrm>
            <a:off x="6350000" y="4944491"/>
            <a:ext cx="500019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Разные арендаторы на объекте — главный защитный механизм. Спрос</a:t>
            </a:r>
          </a:p>
        </p:txBody>
      </p:sp>
      <p:sp>
        <p:nvSpPr>
          <p:cNvPr id="31" name="Текст: пунктов выдачи и ритейла у дома (пекарни"/>
          <p:cNvSpPr txBox="1"/>
          <p:nvPr/>
        </p:nvSpPr>
        <p:spPr>
          <a:xfrm>
            <a:off x="6350000" y="5147691"/>
            <a:ext cx="43606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пунктов выдачи и ритейла у дома (пекарни, аптеки) устойчив</a:t>
            </a:r>
          </a:p>
        </p:txBody>
      </p:sp>
      <p:sp>
        <p:nvSpPr>
          <p:cNvPr id="32" name="Текст: к экономическим шокам."/>
          <p:cNvSpPr txBox="1"/>
          <p:nvPr/>
        </p:nvSpPr>
        <p:spPr>
          <a:xfrm>
            <a:off x="6350000" y="5350891"/>
            <a:ext cx="18186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 экономическим шокам.</a:t>
            </a:r>
          </a:p>
        </p:txBody>
      </p:sp>
      <p:sp>
        <p:nvSpPr>
          <p:cNvPr id="33" name="Текст: 03 — КАК УСТРОЕН БИЗНЕС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 — КАК УСТРОЕН БИЗНЕС</a:t>
            </a:r>
          </a:p>
        </p:txBody>
      </p:sp>
      <p:sp>
        <p:nvSpPr>
          <p:cNvPr id="3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4"/>
          <p:cNvSpPr txBox="1"/>
          <p:nvPr/>
        </p:nvSpPr>
        <p:spPr>
          <a:xfrm>
            <a:off x="812800" y="374650"/>
            <a:ext cx="3370357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04</a:t>
            </a:r>
          </a:p>
        </p:txBody>
      </p:sp>
      <p:sp>
        <p:nvSpPr>
          <p:cNvPr id="4" name="Текст: Команда"/>
          <p:cNvSpPr txBox="1"/>
          <p:nvPr/>
        </p:nvSpPr>
        <p:spPr>
          <a:xfrm>
            <a:off x="889000" y="3763772"/>
            <a:ext cx="3584447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97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Команда</a:t>
            </a:r>
          </a:p>
        </p:txBody>
      </p:sp>
      <p:sp>
        <p:nvSpPr>
          <p:cNvPr id="5" name="Текст: и принципы"/>
          <p:cNvSpPr txBox="1"/>
          <p:nvPr/>
        </p:nvSpPr>
        <p:spPr>
          <a:xfrm>
            <a:off x="889000" y="4538472"/>
            <a:ext cx="4668665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и принципы</a:t>
            </a:r>
          </a:p>
        </p:txBody>
      </p:sp>
      <p:sp>
        <p:nvSpPr>
          <p:cNvPr id="6" name="Текст: Кто делает объекты и по каким правилам"/>
          <p:cNvSpPr txBox="1"/>
          <p:nvPr/>
        </p:nvSpPr>
        <p:spPr>
          <a:xfrm>
            <a:off x="889000" y="5625846"/>
            <a:ext cx="423605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Кто делает объекты и по каким правилам</a:t>
            </a:r>
          </a:p>
        </p:txBody>
      </p:sp>
      <p:sp>
        <p:nvSpPr>
          <p:cNvPr id="7" name="Текст: 4 блока"/>
          <p:cNvSpPr txBox="1"/>
          <p:nvPr/>
        </p:nvSpPr>
        <p:spPr>
          <a:xfrm>
            <a:off x="9620663" y="5721012"/>
            <a:ext cx="491482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4 блока</a:t>
            </a:r>
          </a:p>
        </p:txBody>
      </p:sp>
      <p:sp>
        <p:nvSpPr>
          <p:cNvPr id="8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ОМАНДА"/>
          <p:cNvSpPr txBox="1"/>
          <p:nvPr/>
        </p:nvSpPr>
        <p:spPr>
          <a:xfrm>
            <a:off x="7112000" y="949960"/>
            <a:ext cx="713335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КОМАНДА</a:t>
            </a:r>
          </a:p>
        </p:txBody>
      </p:sp>
      <p:sp>
        <p:nvSpPr>
          <p:cNvPr id="4" name="Текст: Каждый объект"/>
          <p:cNvSpPr txBox="1"/>
          <p:nvPr/>
        </p:nvSpPr>
        <p:spPr>
          <a:xfrm>
            <a:off x="7112000" y="1211580"/>
            <a:ext cx="2949045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000" b="0" spc="-10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Каждый объект</a:t>
            </a:r>
          </a:p>
        </p:txBody>
      </p:sp>
      <p:sp>
        <p:nvSpPr>
          <p:cNvPr id="5" name="Текст: запускает команда"/>
          <p:cNvSpPr txBox="1"/>
          <p:nvPr/>
        </p:nvSpPr>
        <p:spPr>
          <a:xfrm>
            <a:off x="7112000" y="1605280"/>
            <a:ext cx="3604978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000" b="0" spc="-10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запускает команда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7112000" y="24297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7" name="Текст: Ремонтные бригады"/>
          <p:cNvSpPr txBox="1"/>
          <p:nvPr/>
        </p:nvSpPr>
        <p:spPr>
          <a:xfrm>
            <a:off x="7493000" y="2398522"/>
            <a:ext cx="160815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Ремонтные бригады</a:t>
            </a:r>
          </a:p>
        </p:txBody>
      </p:sp>
      <p:sp>
        <p:nvSpPr>
          <p:cNvPr id="8" name="Текст: замеры и техническая подготовка объекта"/>
          <p:cNvSpPr txBox="1"/>
          <p:nvPr/>
        </p:nvSpPr>
        <p:spPr>
          <a:xfrm>
            <a:off x="7493000" y="2620010"/>
            <a:ext cx="2783817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замеры и техническая подготовка объекта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7112000" y="30203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Юрист по коммерческой аренде"/>
          <p:cNvSpPr txBox="1"/>
          <p:nvPr/>
        </p:nvSpPr>
        <p:spPr>
          <a:xfrm>
            <a:off x="7493000" y="2989072"/>
            <a:ext cx="255916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Юрист по коммерческой аренде</a:t>
            </a:r>
          </a:p>
        </p:txBody>
      </p:sp>
      <p:sp>
        <p:nvSpPr>
          <p:cNvPr id="11" name="Текст: 03"/>
          <p:cNvSpPr txBox="1"/>
          <p:nvPr/>
        </p:nvSpPr>
        <p:spPr>
          <a:xfrm>
            <a:off x="7112000" y="34140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2" name="Текст: Бухгалтерия и финансы"/>
          <p:cNvSpPr txBox="1"/>
          <p:nvPr/>
        </p:nvSpPr>
        <p:spPr>
          <a:xfrm>
            <a:off x="7493000" y="3382772"/>
            <a:ext cx="1889124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Бухгалтерия и финансы</a:t>
            </a:r>
          </a:p>
        </p:txBody>
      </p:sp>
      <p:sp>
        <p:nvSpPr>
          <p:cNvPr id="13" name="Текст: 04"/>
          <p:cNvSpPr txBox="1"/>
          <p:nvPr/>
        </p:nvSpPr>
        <p:spPr>
          <a:xfrm>
            <a:off x="7112000" y="3807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4" name="Текст: Менеджеры по коммерческой недвижимости"/>
          <p:cNvSpPr txBox="1"/>
          <p:nvPr/>
        </p:nvSpPr>
        <p:spPr>
          <a:xfrm>
            <a:off x="7493000" y="3776472"/>
            <a:ext cx="354916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Менеджеры по коммерческой недвижимости</a:t>
            </a:r>
          </a:p>
        </p:txBody>
      </p:sp>
      <p:sp>
        <p:nvSpPr>
          <p:cNvPr id="15" name="Текст: горячие контакты сетевых арендаторов и х"/>
          <p:cNvSpPr txBox="1"/>
          <p:nvPr/>
        </p:nvSpPr>
        <p:spPr>
          <a:xfrm>
            <a:off x="7493000" y="4004310"/>
            <a:ext cx="3718416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горячие контакты сетевых арендаторов и холодные лиды</a:t>
            </a:r>
          </a:p>
        </p:txBody>
      </p:sp>
      <p:sp>
        <p:nvSpPr>
          <p:cNvPr id="16" name="Текст: 05"/>
          <p:cNvSpPr txBox="1"/>
          <p:nvPr/>
        </p:nvSpPr>
        <p:spPr>
          <a:xfrm>
            <a:off x="7112000" y="4404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17" name="Текст: Два авитолога"/>
          <p:cNvSpPr txBox="1"/>
          <p:nvPr/>
        </p:nvSpPr>
        <p:spPr>
          <a:xfrm>
            <a:off x="7493000" y="4373372"/>
            <a:ext cx="1181043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Два авитолога</a:t>
            </a:r>
          </a:p>
        </p:txBody>
      </p:sp>
      <p:sp>
        <p:nvSpPr>
          <p:cNvPr id="18" name="Текст: онлайн-продвижение, быстрый выход на заг"/>
          <p:cNvSpPr txBox="1"/>
          <p:nvPr/>
        </p:nvSpPr>
        <p:spPr>
          <a:xfrm>
            <a:off x="7493000" y="4594860"/>
            <a:ext cx="325904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онлайн-продвижение, быстрый выход на загрузку</a:t>
            </a:r>
          </a:p>
        </p:txBody>
      </p:sp>
      <p:sp>
        <p:nvSpPr>
          <p:cNvPr id="19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НЦИПЫ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ПРИНЦИПЫ</a:t>
            </a:r>
          </a:p>
        </p:txBody>
      </p:sp>
      <p:sp>
        <p:nvSpPr>
          <p:cNvPr id="4" name="Текст: Главные правила субаренды"/>
          <p:cNvSpPr txBox="1"/>
          <p:nvPr/>
        </p:nvSpPr>
        <p:spPr>
          <a:xfrm>
            <a:off x="889000" y="1196340"/>
            <a:ext cx="707556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Главные правила субаренды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6" name="Текст: Долгосрочный"/>
          <p:cNvSpPr txBox="1"/>
          <p:nvPr/>
        </p:nvSpPr>
        <p:spPr>
          <a:xfrm>
            <a:off x="889000" y="2889377"/>
            <a:ext cx="166288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Долгосрочный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89000" y="3156077"/>
            <a:ext cx="98603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</a:t>
            </a:r>
          </a:p>
        </p:txBody>
      </p:sp>
      <p:sp>
        <p:nvSpPr>
          <p:cNvPr id="8" name="Текст: от 7 лет"/>
          <p:cNvSpPr txBox="1"/>
          <p:nvPr/>
        </p:nvSpPr>
        <p:spPr>
          <a:xfrm>
            <a:off x="889000" y="4044442"/>
            <a:ext cx="122626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3123208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Арендные"/>
          <p:cNvSpPr txBox="1"/>
          <p:nvPr/>
        </p:nvSpPr>
        <p:spPr>
          <a:xfrm>
            <a:off x="3123208" y="2889377"/>
            <a:ext cx="118127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Арендные</a:t>
            </a:r>
          </a:p>
        </p:txBody>
      </p:sp>
      <p:sp>
        <p:nvSpPr>
          <p:cNvPr id="11" name="Текст: каникулы"/>
          <p:cNvSpPr txBox="1"/>
          <p:nvPr/>
        </p:nvSpPr>
        <p:spPr>
          <a:xfrm>
            <a:off x="3123208" y="3156077"/>
            <a:ext cx="111874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каникулы</a:t>
            </a:r>
          </a:p>
        </p:txBody>
      </p:sp>
      <p:sp>
        <p:nvSpPr>
          <p:cNvPr id="12" name="Текст: от 3 мес"/>
          <p:cNvSpPr txBox="1"/>
          <p:nvPr/>
        </p:nvSpPr>
        <p:spPr>
          <a:xfrm>
            <a:off x="3123208" y="4044442"/>
            <a:ext cx="129614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0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от 3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13" name="Текст: 03"/>
          <p:cNvSpPr txBox="1"/>
          <p:nvPr/>
        </p:nvSpPr>
        <p:spPr>
          <a:xfrm>
            <a:off x="5147965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4" name="Текст: Индексация"/>
          <p:cNvSpPr txBox="1"/>
          <p:nvPr/>
        </p:nvSpPr>
        <p:spPr>
          <a:xfrm>
            <a:off x="5147965" y="2889377"/>
            <a:ext cx="139544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Индексация</a:t>
            </a:r>
          </a:p>
        </p:txBody>
      </p:sp>
      <p:sp>
        <p:nvSpPr>
          <p:cNvPr id="15" name="Текст: ≤ 7 % в год"/>
          <p:cNvSpPr txBox="1"/>
          <p:nvPr/>
        </p:nvSpPr>
        <p:spPr>
          <a:xfrm>
            <a:off x="5147965" y="4064762"/>
            <a:ext cx="1313388" cy="4754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>
                <a:solidFill>
                  <a:srgbClr val="8A2A3A"/>
                </a:solidFill>
                <a:latin typeface="Arial"/>
                <a:cs typeface="Arial"/>
                <a:ea typeface="Arial"/>
              </a:rPr>
              <a:t>≤</a:t>
            </a:r>
            <a:r>
              <a:rPr sz="3200" b="0" spc="-161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 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% в год</a:t>
            </a:r>
          </a:p>
        </p:txBody>
      </p:sp>
      <p:sp>
        <p:nvSpPr>
          <p:cNvPr id="16" name="Текст: 04"/>
          <p:cNvSpPr txBox="1"/>
          <p:nvPr/>
        </p:nvSpPr>
        <p:spPr>
          <a:xfrm>
            <a:off x="7172623" y="2620264"/>
            <a:ext cx="20930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17" name="Текст: Регистрация"/>
          <p:cNvSpPr txBox="1"/>
          <p:nvPr/>
        </p:nvSpPr>
        <p:spPr>
          <a:xfrm>
            <a:off x="7172623" y="2889377"/>
            <a:ext cx="146492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Регистрация</a:t>
            </a:r>
          </a:p>
        </p:txBody>
      </p:sp>
      <p:sp>
        <p:nvSpPr>
          <p:cNvPr id="18" name="Текст: договора"/>
          <p:cNvSpPr txBox="1"/>
          <p:nvPr/>
        </p:nvSpPr>
        <p:spPr>
          <a:xfrm>
            <a:off x="7172623" y="3156077"/>
            <a:ext cx="1108625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договора</a:t>
            </a:r>
          </a:p>
        </p:txBody>
      </p:sp>
      <p:sp>
        <p:nvSpPr>
          <p:cNvPr id="19" name="Текст: Росреестр"/>
          <p:cNvSpPr txBox="1"/>
          <p:nvPr/>
        </p:nvSpPr>
        <p:spPr>
          <a:xfrm>
            <a:off x="7172623" y="4044442"/>
            <a:ext cx="2202361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4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Росреестр</a:t>
            </a:r>
          </a:p>
        </p:txBody>
      </p:sp>
      <p:sp>
        <p:nvSpPr>
          <p:cNvPr id="20" name="Текст: 05"/>
          <p:cNvSpPr txBox="1"/>
          <p:nvPr/>
        </p:nvSpPr>
        <p:spPr>
          <a:xfrm>
            <a:off x="9487793" y="2620264"/>
            <a:ext cx="20930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1" name="Текст: Бухгалтерия"/>
          <p:cNvSpPr txBox="1"/>
          <p:nvPr/>
        </p:nvSpPr>
        <p:spPr>
          <a:xfrm>
            <a:off x="9487793" y="2889377"/>
            <a:ext cx="144702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Бухгалтерия</a:t>
            </a:r>
          </a:p>
        </p:txBody>
      </p:sp>
      <p:sp>
        <p:nvSpPr>
          <p:cNvPr id="22" name="Текст: «белая»"/>
          <p:cNvSpPr txBox="1"/>
          <p:nvPr/>
        </p:nvSpPr>
        <p:spPr>
          <a:xfrm>
            <a:off x="9487793" y="4044442"/>
            <a:ext cx="164952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63">
                <a:solidFill>
                  <a:srgbClr val="8A2A3A"/>
                </a:solidFill>
                <a:latin typeface="Onest Light"/>
                <a:cs typeface="Onest Light"/>
                <a:ea typeface="Onest Light"/>
              </a:rPr>
              <a:t>«белая»</a:t>
            </a:r>
          </a:p>
        </p:txBody>
      </p:sp>
      <p:sp>
        <p:nvSpPr>
          <p:cNvPr id="23" name="Текст: 04 — КОМАНДА И ПРИНЦИПЫ"/>
          <p:cNvSpPr txBox="1"/>
          <p:nvPr/>
        </p:nvSpPr>
        <p:spPr>
          <a:xfrm>
            <a:off x="889000" y="309118"/>
            <a:ext cx="183440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 — КОМАНДА И ПРИНЦИПЫ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5"/>
          <p:cNvSpPr txBox="1"/>
          <p:nvPr/>
        </p:nvSpPr>
        <p:spPr>
          <a:xfrm>
            <a:off x="812800" y="374650"/>
            <a:ext cx="3350545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05</a:t>
            </a:r>
          </a:p>
        </p:txBody>
      </p:sp>
      <p:sp>
        <p:nvSpPr>
          <p:cNvPr id="4" name="Текст: Кейсы"/>
          <p:cNvSpPr txBox="1"/>
          <p:nvPr/>
        </p:nvSpPr>
        <p:spPr>
          <a:xfrm>
            <a:off x="889000" y="4252722"/>
            <a:ext cx="2699220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302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Кейсы</a:t>
            </a:r>
          </a:p>
        </p:txBody>
      </p:sp>
      <p:sp>
        <p:nvSpPr>
          <p:cNvPr id="5" name="Текст: Девять объектов: Москва, Подмосковье"/>
          <p:cNvSpPr txBox="1"/>
          <p:nvPr/>
        </p:nvSpPr>
        <p:spPr>
          <a:xfrm>
            <a:off x="889000" y="5340096"/>
            <a:ext cx="408736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Девять объектов: Москва, Подмосковье</a:t>
            </a:r>
          </a:p>
        </p:txBody>
      </p:sp>
      <p:sp>
        <p:nvSpPr>
          <p:cNvPr id="6" name="Текст: и Санкт‑Петербург"/>
          <p:cNvSpPr txBox="1"/>
          <p:nvPr/>
        </p:nvSpPr>
        <p:spPr>
          <a:xfrm>
            <a:off x="889000" y="5625846"/>
            <a:ext cx="202457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и Санкт‑Петербург</a:t>
            </a:r>
          </a:p>
        </p:txBody>
      </p:sp>
      <p:sp>
        <p:nvSpPr>
          <p:cNvPr id="7" name="Текст: 5 блоков"/>
          <p:cNvSpPr txBox="1"/>
          <p:nvPr/>
        </p:nvSpPr>
        <p:spPr>
          <a:xfrm>
            <a:off x="9589013" y="5721012"/>
            <a:ext cx="557360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5 блоков</a:t>
            </a:r>
          </a:p>
        </p:txBody>
      </p:sp>
      <p:sp>
        <p:nvSpPr>
          <p:cNvPr id="8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СВОДКА"/>
          <p:cNvSpPr txBox="1"/>
          <p:nvPr/>
        </p:nvSpPr>
        <p:spPr>
          <a:xfrm>
            <a:off x="889000" y="949960"/>
            <a:ext cx="61823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СВОДКА</a:t>
            </a:r>
          </a:p>
        </p:txBody>
      </p:sp>
      <p:sp>
        <p:nvSpPr>
          <p:cNvPr id="4" name="Текст: Девять объектов в одной таблице"/>
          <p:cNvSpPr txBox="1"/>
          <p:nvPr/>
        </p:nvSpPr>
        <p:spPr>
          <a:xfrm>
            <a:off x="889000" y="1196340"/>
            <a:ext cx="829640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Девять объектов в одной таблице</a:t>
            </a:r>
          </a:p>
        </p:txBody>
      </p:sp>
      <p:sp>
        <p:nvSpPr>
          <p:cNvPr id="5" name="Текст: №"/>
          <p:cNvSpPr txBox="1"/>
          <p:nvPr/>
        </p:nvSpPr>
        <p:spPr>
          <a:xfrm>
            <a:off x="889000" y="1972691"/>
            <a:ext cx="12133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№</a:t>
            </a:r>
          </a:p>
        </p:txBody>
      </p:sp>
      <p:sp>
        <p:nvSpPr>
          <p:cNvPr id="6" name="Текст: ОБЪЕКТ"/>
          <p:cNvSpPr txBox="1"/>
          <p:nvPr/>
        </p:nvSpPr>
        <p:spPr>
          <a:xfrm>
            <a:off x="1333500" y="1972691"/>
            <a:ext cx="491820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ОБЪЕКТ</a:t>
            </a:r>
          </a:p>
        </p:txBody>
      </p:sp>
      <p:sp>
        <p:nvSpPr>
          <p:cNvPr id="7" name="Текст: ПЛОЩАДЬ, М²"/>
          <p:cNvSpPr txBox="1"/>
          <p:nvPr/>
        </p:nvSpPr>
        <p:spPr>
          <a:xfrm>
            <a:off x="4837410" y="1972691"/>
            <a:ext cx="862304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ПЛОЩАДЬ, М²</a:t>
            </a:r>
          </a:p>
        </p:txBody>
      </p:sp>
      <p:sp>
        <p:nvSpPr>
          <p:cNvPr id="8" name="Текст: ДОГОВОР"/>
          <p:cNvSpPr txBox="1"/>
          <p:nvPr/>
        </p:nvSpPr>
        <p:spPr>
          <a:xfrm>
            <a:off x="6069608" y="1972691"/>
            <a:ext cx="56591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9" name="Текст: СОБСТВЕННИКУ, ₽/МЕС"/>
          <p:cNvSpPr txBox="1"/>
          <p:nvPr/>
        </p:nvSpPr>
        <p:spPr>
          <a:xfrm>
            <a:off x="7311827" y="1972691"/>
            <a:ext cx="1443289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СОБСТВЕННИКУ, </a:t>
            </a:r>
            <a:r>
              <a:rPr sz="85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/МЕС</a:t>
            </a:r>
          </a:p>
        </p:txBody>
      </p:sp>
      <p:sp>
        <p:nvSpPr>
          <p:cNvPr id="10" name="Текст: ДОХОД, ₽/МЕС"/>
          <p:cNvSpPr txBox="1"/>
          <p:nvPr/>
        </p:nvSpPr>
        <p:spPr>
          <a:xfrm>
            <a:off x="9223276" y="1972691"/>
            <a:ext cx="924612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ДОХОД, </a:t>
            </a:r>
            <a:r>
              <a:rPr sz="85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/МЕС</a:t>
            </a:r>
          </a:p>
        </p:txBody>
      </p:sp>
      <p:sp>
        <p:nvSpPr>
          <p:cNvPr id="11" name="Текст: АРЕНДАТОРЫ"/>
          <p:cNvSpPr txBox="1"/>
          <p:nvPr/>
        </p:nvSpPr>
        <p:spPr>
          <a:xfrm>
            <a:off x="10590510" y="1972691"/>
            <a:ext cx="788207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2" name="Текст: 01"/>
          <p:cNvSpPr txBox="1"/>
          <p:nvPr/>
        </p:nvSpPr>
        <p:spPr>
          <a:xfrm>
            <a:off x="889000" y="23092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3" name="Текст: Санкт-Петербург, ул. Садовая"/>
          <p:cNvSpPr txBox="1"/>
          <p:nvPr/>
        </p:nvSpPr>
        <p:spPr>
          <a:xfrm>
            <a:off x="1333500" y="2290191"/>
            <a:ext cx="22031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Санкт-Петербург, ул. Садовая</a:t>
            </a:r>
          </a:p>
        </p:txBody>
      </p:sp>
      <p:sp>
        <p:nvSpPr>
          <p:cNvPr id="14" name="Текст: 109,0"/>
          <p:cNvSpPr txBox="1"/>
          <p:nvPr/>
        </p:nvSpPr>
        <p:spPr>
          <a:xfrm>
            <a:off x="5207893" y="22901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04">
                <a:solidFill>
                  <a:srgbClr val="171615"/>
                </a:solidFill>
                <a:latin typeface="Onest"/>
                <a:cs typeface="Onest"/>
                <a:ea typeface="Onest"/>
              </a:rPr>
              <a:t>109,0</a:t>
            </a:r>
          </a:p>
        </p:txBody>
      </p:sp>
      <p:sp>
        <p:nvSpPr>
          <p:cNvPr id="15" name="Текст: 10 лет"/>
          <p:cNvSpPr txBox="1"/>
          <p:nvPr/>
        </p:nvSpPr>
        <p:spPr>
          <a:xfrm>
            <a:off x="6119614" y="22901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16" name="Текст: 180 000"/>
          <p:cNvSpPr txBox="1"/>
          <p:nvPr/>
        </p:nvSpPr>
        <p:spPr>
          <a:xfrm>
            <a:off x="8053189" y="2290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17" name="Текст: 130 000"/>
          <p:cNvSpPr txBox="1"/>
          <p:nvPr/>
        </p:nvSpPr>
        <p:spPr>
          <a:xfrm>
            <a:off x="9465866" y="2290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130 000</a:t>
            </a:r>
          </a:p>
        </p:txBody>
      </p:sp>
      <p:sp>
        <p:nvSpPr>
          <p:cNvPr id="18" name="Текст: 2"/>
          <p:cNvSpPr txBox="1"/>
          <p:nvPr/>
        </p:nvSpPr>
        <p:spPr>
          <a:xfrm>
            <a:off x="11209040" y="22901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</a:t>
            </a:r>
          </a:p>
        </p:txBody>
      </p:sp>
      <p:sp>
        <p:nvSpPr>
          <p:cNvPr id="19" name="Текст: 02"/>
          <p:cNvSpPr txBox="1"/>
          <p:nvPr/>
        </p:nvSpPr>
        <p:spPr>
          <a:xfrm>
            <a:off x="889000" y="26394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20" name="Текст: Санкт-Петербург, ул. Восстания"/>
          <p:cNvSpPr txBox="1"/>
          <p:nvPr/>
        </p:nvSpPr>
        <p:spPr>
          <a:xfrm>
            <a:off x="1333500" y="2620391"/>
            <a:ext cx="234767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Санкт-Петербург, ул. Восстания</a:t>
            </a:r>
          </a:p>
        </p:txBody>
      </p:sp>
      <p:sp>
        <p:nvSpPr>
          <p:cNvPr id="21" name="Текст: 158,4"/>
          <p:cNvSpPr txBox="1"/>
          <p:nvPr/>
        </p:nvSpPr>
        <p:spPr>
          <a:xfrm>
            <a:off x="5207893" y="26203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17">
                <a:solidFill>
                  <a:srgbClr val="171615"/>
                </a:solidFill>
                <a:latin typeface="Onest"/>
                <a:cs typeface="Onest"/>
                <a:ea typeface="Onest"/>
              </a:rPr>
              <a:t>158,4</a:t>
            </a:r>
          </a:p>
        </p:txBody>
      </p:sp>
      <p:sp>
        <p:nvSpPr>
          <p:cNvPr id="22" name="Текст: 10 лет"/>
          <p:cNvSpPr txBox="1"/>
          <p:nvPr/>
        </p:nvSpPr>
        <p:spPr>
          <a:xfrm>
            <a:off x="6119614" y="26203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23" name="Текст: 370 000"/>
          <p:cNvSpPr txBox="1"/>
          <p:nvPr/>
        </p:nvSpPr>
        <p:spPr>
          <a:xfrm>
            <a:off x="8053189" y="2620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8">
                <a:solidFill>
                  <a:srgbClr val="171615"/>
                </a:solidFill>
                <a:latin typeface="Onest"/>
                <a:cs typeface="Onest"/>
                <a:ea typeface="Onest"/>
              </a:rPr>
              <a:t>370 000</a:t>
            </a:r>
          </a:p>
        </p:txBody>
      </p:sp>
      <p:sp>
        <p:nvSpPr>
          <p:cNvPr id="24" name="Текст: 133 000"/>
          <p:cNvSpPr txBox="1"/>
          <p:nvPr/>
        </p:nvSpPr>
        <p:spPr>
          <a:xfrm>
            <a:off x="9465866" y="2620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6">
                <a:solidFill>
                  <a:srgbClr val="171615"/>
                </a:solidFill>
                <a:latin typeface="Onest"/>
                <a:cs typeface="Onest"/>
                <a:ea typeface="Onest"/>
              </a:rPr>
              <a:t>133 000</a:t>
            </a:r>
          </a:p>
        </p:txBody>
      </p:sp>
      <p:sp>
        <p:nvSpPr>
          <p:cNvPr id="25" name="Текст: 3"/>
          <p:cNvSpPr txBox="1"/>
          <p:nvPr/>
        </p:nvSpPr>
        <p:spPr>
          <a:xfrm>
            <a:off x="11209040" y="26203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</a:t>
            </a:r>
          </a:p>
        </p:txBody>
      </p:sp>
      <p:sp>
        <p:nvSpPr>
          <p:cNvPr id="26" name="Текст: 03"/>
          <p:cNvSpPr txBox="1"/>
          <p:nvPr/>
        </p:nvSpPr>
        <p:spPr>
          <a:xfrm>
            <a:off x="889000" y="29696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27" name="Текст: Москва, ул. Буданова"/>
          <p:cNvSpPr txBox="1"/>
          <p:nvPr/>
        </p:nvSpPr>
        <p:spPr>
          <a:xfrm>
            <a:off x="1333500" y="2950591"/>
            <a:ext cx="15857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ул. Буданова</a:t>
            </a:r>
          </a:p>
        </p:txBody>
      </p:sp>
      <p:sp>
        <p:nvSpPr>
          <p:cNvPr id="28" name="Текст: 124,3"/>
          <p:cNvSpPr txBox="1"/>
          <p:nvPr/>
        </p:nvSpPr>
        <p:spPr>
          <a:xfrm>
            <a:off x="5207893" y="29505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7">
                <a:solidFill>
                  <a:srgbClr val="171615"/>
                </a:solidFill>
                <a:latin typeface="Onest"/>
                <a:cs typeface="Onest"/>
                <a:ea typeface="Onest"/>
              </a:rPr>
              <a:t>124,3</a:t>
            </a:r>
          </a:p>
        </p:txBody>
      </p:sp>
      <p:sp>
        <p:nvSpPr>
          <p:cNvPr id="29" name="Текст: 7 лет"/>
          <p:cNvSpPr txBox="1"/>
          <p:nvPr/>
        </p:nvSpPr>
        <p:spPr>
          <a:xfrm>
            <a:off x="6213475" y="29505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30" name="Текст: 286 000"/>
          <p:cNvSpPr txBox="1"/>
          <p:nvPr/>
        </p:nvSpPr>
        <p:spPr>
          <a:xfrm>
            <a:off x="8053189" y="2950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0">
                <a:solidFill>
                  <a:srgbClr val="171615"/>
                </a:solidFill>
                <a:latin typeface="Onest"/>
                <a:cs typeface="Onest"/>
                <a:ea typeface="Onest"/>
              </a:rPr>
              <a:t>286 000</a:t>
            </a:r>
          </a:p>
        </p:txBody>
      </p:sp>
      <p:sp>
        <p:nvSpPr>
          <p:cNvPr id="31" name="Текст: 120 000"/>
          <p:cNvSpPr txBox="1"/>
          <p:nvPr/>
        </p:nvSpPr>
        <p:spPr>
          <a:xfrm>
            <a:off x="9465866" y="2950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120 000</a:t>
            </a:r>
          </a:p>
        </p:txBody>
      </p:sp>
      <p:sp>
        <p:nvSpPr>
          <p:cNvPr id="32" name="Текст: 4"/>
          <p:cNvSpPr txBox="1"/>
          <p:nvPr/>
        </p:nvSpPr>
        <p:spPr>
          <a:xfrm>
            <a:off x="11209040" y="29505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4</a:t>
            </a:r>
          </a:p>
        </p:txBody>
      </p:sp>
      <p:sp>
        <p:nvSpPr>
          <p:cNvPr id="33" name="Текст: 04"/>
          <p:cNvSpPr txBox="1"/>
          <p:nvPr/>
        </p:nvSpPr>
        <p:spPr>
          <a:xfrm>
            <a:off x="889000" y="32998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34" name="Текст: Москва, Ленинский пр-т"/>
          <p:cNvSpPr txBox="1"/>
          <p:nvPr/>
        </p:nvSpPr>
        <p:spPr>
          <a:xfrm>
            <a:off x="1333500" y="3280791"/>
            <a:ext cx="178352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Ленинский пр-т</a:t>
            </a:r>
          </a:p>
        </p:txBody>
      </p:sp>
      <p:sp>
        <p:nvSpPr>
          <p:cNvPr id="35" name="Текст: 99,2"/>
          <p:cNvSpPr txBox="1"/>
          <p:nvPr/>
        </p:nvSpPr>
        <p:spPr>
          <a:xfrm>
            <a:off x="5301754" y="3280791"/>
            <a:ext cx="4019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99,2</a:t>
            </a:r>
          </a:p>
        </p:txBody>
      </p:sp>
      <p:sp>
        <p:nvSpPr>
          <p:cNvPr id="36" name="Текст: 10 лет"/>
          <p:cNvSpPr txBox="1"/>
          <p:nvPr/>
        </p:nvSpPr>
        <p:spPr>
          <a:xfrm>
            <a:off x="6119614" y="32807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37" name="Текст: 265 000"/>
          <p:cNvSpPr txBox="1"/>
          <p:nvPr/>
        </p:nvSpPr>
        <p:spPr>
          <a:xfrm>
            <a:off x="8053189" y="3280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265 000</a:t>
            </a:r>
          </a:p>
        </p:txBody>
      </p:sp>
      <p:sp>
        <p:nvSpPr>
          <p:cNvPr id="38" name="Текст: 114 000"/>
          <p:cNvSpPr txBox="1"/>
          <p:nvPr/>
        </p:nvSpPr>
        <p:spPr>
          <a:xfrm>
            <a:off x="9465866" y="3280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3">
                <a:solidFill>
                  <a:srgbClr val="171615"/>
                </a:solidFill>
                <a:latin typeface="Onest"/>
                <a:cs typeface="Onest"/>
                <a:ea typeface="Onest"/>
              </a:rPr>
              <a:t>114 000</a:t>
            </a:r>
          </a:p>
        </p:txBody>
      </p:sp>
      <p:sp>
        <p:nvSpPr>
          <p:cNvPr id="39" name="Текст: 5"/>
          <p:cNvSpPr txBox="1"/>
          <p:nvPr/>
        </p:nvSpPr>
        <p:spPr>
          <a:xfrm>
            <a:off x="11209040" y="32807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5</a:t>
            </a:r>
          </a:p>
        </p:txBody>
      </p:sp>
      <p:sp>
        <p:nvSpPr>
          <p:cNvPr id="40" name="Текст: 05"/>
          <p:cNvSpPr txBox="1"/>
          <p:nvPr/>
        </p:nvSpPr>
        <p:spPr>
          <a:xfrm>
            <a:off x="889000" y="36300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41" name="Текст: Москва, ул. Юлиана Семёнова"/>
          <p:cNvSpPr txBox="1"/>
          <p:nvPr/>
        </p:nvSpPr>
        <p:spPr>
          <a:xfrm>
            <a:off x="1333500" y="3610991"/>
            <a:ext cx="22103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Москва, ул. Юлиана Семёнова</a:t>
            </a:r>
          </a:p>
        </p:txBody>
      </p:sp>
      <p:sp>
        <p:nvSpPr>
          <p:cNvPr id="42" name="Текст: 126,4"/>
          <p:cNvSpPr txBox="1"/>
          <p:nvPr/>
        </p:nvSpPr>
        <p:spPr>
          <a:xfrm>
            <a:off x="5207893" y="36109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30">
                <a:solidFill>
                  <a:srgbClr val="171615"/>
                </a:solidFill>
                <a:latin typeface="Onest"/>
                <a:cs typeface="Onest"/>
                <a:ea typeface="Onest"/>
              </a:rPr>
              <a:t>126,4</a:t>
            </a:r>
          </a:p>
        </p:txBody>
      </p:sp>
      <p:sp>
        <p:nvSpPr>
          <p:cNvPr id="43" name="Текст: 10 лет"/>
          <p:cNvSpPr txBox="1"/>
          <p:nvPr/>
        </p:nvSpPr>
        <p:spPr>
          <a:xfrm>
            <a:off x="6119614" y="36109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44" name="Текст: 250 000"/>
          <p:cNvSpPr txBox="1"/>
          <p:nvPr/>
        </p:nvSpPr>
        <p:spPr>
          <a:xfrm>
            <a:off x="8053189" y="36109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34">
                <a:solidFill>
                  <a:srgbClr val="171615"/>
                </a:solidFill>
                <a:latin typeface="Onest"/>
                <a:cs typeface="Onest"/>
                <a:ea typeface="Onest"/>
              </a:rPr>
              <a:t>250 000</a:t>
            </a:r>
          </a:p>
        </p:txBody>
      </p:sp>
      <p:sp>
        <p:nvSpPr>
          <p:cNvPr id="45" name="Текст: 114 000"/>
          <p:cNvSpPr txBox="1"/>
          <p:nvPr/>
        </p:nvSpPr>
        <p:spPr>
          <a:xfrm>
            <a:off x="9465866" y="36109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3">
                <a:solidFill>
                  <a:srgbClr val="171615"/>
                </a:solidFill>
                <a:latin typeface="Onest"/>
                <a:cs typeface="Onest"/>
                <a:ea typeface="Onest"/>
              </a:rPr>
              <a:t>114 000</a:t>
            </a:r>
          </a:p>
        </p:txBody>
      </p:sp>
      <p:sp>
        <p:nvSpPr>
          <p:cNvPr id="46" name="Текст: 4"/>
          <p:cNvSpPr txBox="1"/>
          <p:nvPr/>
        </p:nvSpPr>
        <p:spPr>
          <a:xfrm>
            <a:off x="11209040" y="36109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4</a:t>
            </a:r>
          </a:p>
        </p:txBody>
      </p:sp>
      <p:sp>
        <p:nvSpPr>
          <p:cNvPr id="47" name="Текст: 06"/>
          <p:cNvSpPr txBox="1"/>
          <p:nvPr/>
        </p:nvSpPr>
        <p:spPr>
          <a:xfrm>
            <a:off x="889000" y="39602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</a:t>
            </a:r>
          </a:p>
        </p:txBody>
      </p:sp>
      <p:sp>
        <p:nvSpPr>
          <p:cNvPr id="48" name="Текст: Москва · Винлаб и Самокат"/>
          <p:cNvSpPr txBox="1"/>
          <p:nvPr/>
        </p:nvSpPr>
        <p:spPr>
          <a:xfrm>
            <a:off x="1333500" y="3941191"/>
            <a:ext cx="19806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 · Винлаб и Самокат</a:t>
            </a:r>
          </a:p>
        </p:txBody>
      </p:sp>
      <p:sp>
        <p:nvSpPr>
          <p:cNvPr id="49" name="Текст: 425,0"/>
          <p:cNvSpPr txBox="1"/>
          <p:nvPr/>
        </p:nvSpPr>
        <p:spPr>
          <a:xfrm>
            <a:off x="5207893" y="39411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8">
                <a:solidFill>
                  <a:srgbClr val="171615"/>
                </a:solidFill>
                <a:latin typeface="Onest"/>
                <a:cs typeface="Onest"/>
                <a:ea typeface="Onest"/>
              </a:rPr>
              <a:t>425,0</a:t>
            </a:r>
          </a:p>
        </p:txBody>
      </p:sp>
      <p:sp>
        <p:nvSpPr>
          <p:cNvPr id="50" name="Текст: 7 лет"/>
          <p:cNvSpPr txBox="1"/>
          <p:nvPr/>
        </p:nvSpPr>
        <p:spPr>
          <a:xfrm>
            <a:off x="6213475" y="39411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51" name="Текст: 750 000"/>
          <p:cNvSpPr txBox="1"/>
          <p:nvPr/>
        </p:nvSpPr>
        <p:spPr>
          <a:xfrm>
            <a:off x="8053189" y="3941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5">
                <a:solidFill>
                  <a:srgbClr val="171615"/>
                </a:solidFill>
                <a:latin typeface="Onest"/>
                <a:cs typeface="Onest"/>
                <a:ea typeface="Onest"/>
              </a:rPr>
              <a:t>750 000</a:t>
            </a:r>
          </a:p>
        </p:txBody>
      </p:sp>
      <p:sp>
        <p:nvSpPr>
          <p:cNvPr id="52" name="Текст: 190 000"/>
          <p:cNvSpPr txBox="1"/>
          <p:nvPr/>
        </p:nvSpPr>
        <p:spPr>
          <a:xfrm>
            <a:off x="9465866" y="39411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190 000</a:t>
            </a:r>
          </a:p>
        </p:txBody>
      </p:sp>
      <p:sp>
        <p:nvSpPr>
          <p:cNvPr id="53" name="Текст: 5"/>
          <p:cNvSpPr txBox="1"/>
          <p:nvPr/>
        </p:nvSpPr>
        <p:spPr>
          <a:xfrm>
            <a:off x="11209040" y="39411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5</a:t>
            </a:r>
          </a:p>
        </p:txBody>
      </p:sp>
      <p:sp>
        <p:nvSpPr>
          <p:cNvPr id="54" name="Текст: 07"/>
          <p:cNvSpPr txBox="1"/>
          <p:nvPr/>
        </p:nvSpPr>
        <p:spPr>
          <a:xfrm>
            <a:off x="889000" y="42904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</a:t>
            </a:r>
          </a:p>
        </p:txBody>
      </p:sp>
      <p:sp>
        <p:nvSpPr>
          <p:cNvPr id="55" name="Текст: Москва · Мята Lounge"/>
          <p:cNvSpPr txBox="1"/>
          <p:nvPr/>
        </p:nvSpPr>
        <p:spPr>
          <a:xfrm>
            <a:off x="1333500" y="4271391"/>
            <a:ext cx="16135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Москва · Мята Lounge</a:t>
            </a:r>
          </a:p>
        </p:txBody>
      </p:sp>
      <p:sp>
        <p:nvSpPr>
          <p:cNvPr id="56" name="Текст: 161,0"/>
          <p:cNvSpPr txBox="1"/>
          <p:nvPr/>
        </p:nvSpPr>
        <p:spPr>
          <a:xfrm>
            <a:off x="5207893" y="42713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86">
                <a:solidFill>
                  <a:srgbClr val="171615"/>
                </a:solidFill>
                <a:latin typeface="Onest"/>
                <a:cs typeface="Onest"/>
                <a:ea typeface="Onest"/>
              </a:rPr>
              <a:t>161,0</a:t>
            </a:r>
          </a:p>
        </p:txBody>
      </p:sp>
      <p:sp>
        <p:nvSpPr>
          <p:cNvPr id="57" name="Текст: 8 лет"/>
          <p:cNvSpPr txBox="1"/>
          <p:nvPr/>
        </p:nvSpPr>
        <p:spPr>
          <a:xfrm>
            <a:off x="6213475" y="42713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8 лет</a:t>
            </a:r>
          </a:p>
        </p:txBody>
      </p:sp>
      <p:sp>
        <p:nvSpPr>
          <p:cNvPr id="58" name="Текст: 243 000"/>
          <p:cNvSpPr txBox="1"/>
          <p:nvPr/>
        </p:nvSpPr>
        <p:spPr>
          <a:xfrm>
            <a:off x="8053189" y="4271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3">
                <a:solidFill>
                  <a:srgbClr val="171615"/>
                </a:solidFill>
                <a:latin typeface="Onest"/>
                <a:cs typeface="Onest"/>
                <a:ea typeface="Onest"/>
              </a:rPr>
              <a:t>243 000</a:t>
            </a:r>
          </a:p>
        </p:txBody>
      </p:sp>
      <p:sp>
        <p:nvSpPr>
          <p:cNvPr id="59" name="Текст: 130 000"/>
          <p:cNvSpPr txBox="1"/>
          <p:nvPr/>
        </p:nvSpPr>
        <p:spPr>
          <a:xfrm>
            <a:off x="9465866" y="42713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130 000</a:t>
            </a:r>
          </a:p>
        </p:txBody>
      </p:sp>
      <p:sp>
        <p:nvSpPr>
          <p:cNvPr id="60" name="Текст: 1"/>
          <p:cNvSpPr txBox="1"/>
          <p:nvPr/>
        </p:nvSpPr>
        <p:spPr>
          <a:xfrm>
            <a:off x="11209040" y="42713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</a:t>
            </a:r>
          </a:p>
        </p:txBody>
      </p:sp>
      <p:sp>
        <p:nvSpPr>
          <p:cNvPr id="61" name="Текст: 08"/>
          <p:cNvSpPr txBox="1"/>
          <p:nvPr/>
        </p:nvSpPr>
        <p:spPr>
          <a:xfrm>
            <a:off x="889000" y="46206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08</a:t>
            </a:r>
          </a:p>
        </p:txBody>
      </p:sp>
      <p:sp>
        <p:nvSpPr>
          <p:cNvPr id="62" name="Текст: Одинцово"/>
          <p:cNvSpPr txBox="1"/>
          <p:nvPr/>
        </p:nvSpPr>
        <p:spPr>
          <a:xfrm>
            <a:off x="1333500" y="4601591"/>
            <a:ext cx="7728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Одинцово</a:t>
            </a:r>
          </a:p>
        </p:txBody>
      </p:sp>
      <p:sp>
        <p:nvSpPr>
          <p:cNvPr id="63" name="Текст: 98,0"/>
          <p:cNvSpPr txBox="1"/>
          <p:nvPr/>
        </p:nvSpPr>
        <p:spPr>
          <a:xfrm>
            <a:off x="5301754" y="4601591"/>
            <a:ext cx="4019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1">
                <a:solidFill>
                  <a:srgbClr val="171615"/>
                </a:solidFill>
                <a:latin typeface="Onest"/>
                <a:cs typeface="Onest"/>
                <a:ea typeface="Onest"/>
              </a:rPr>
              <a:t>98,0</a:t>
            </a:r>
          </a:p>
        </p:txBody>
      </p:sp>
      <p:sp>
        <p:nvSpPr>
          <p:cNvPr id="64" name="Текст: 7 лет"/>
          <p:cNvSpPr txBox="1"/>
          <p:nvPr/>
        </p:nvSpPr>
        <p:spPr>
          <a:xfrm>
            <a:off x="6213475" y="4601591"/>
            <a:ext cx="43888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6">
                <a:solidFill>
                  <a:srgbClr val="171615"/>
                </a:solidFill>
                <a:latin typeface="Onest"/>
                <a:cs typeface="Onest"/>
                <a:ea typeface="Onest"/>
              </a:rPr>
              <a:t>7 лет</a:t>
            </a:r>
          </a:p>
        </p:txBody>
      </p:sp>
      <p:sp>
        <p:nvSpPr>
          <p:cNvPr id="65" name="Текст: 190 000"/>
          <p:cNvSpPr txBox="1"/>
          <p:nvPr/>
        </p:nvSpPr>
        <p:spPr>
          <a:xfrm>
            <a:off x="8053189" y="4601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190 000</a:t>
            </a:r>
          </a:p>
        </p:txBody>
      </p:sp>
      <p:sp>
        <p:nvSpPr>
          <p:cNvPr id="66" name="Текст: 100 000"/>
          <p:cNvSpPr txBox="1"/>
          <p:nvPr/>
        </p:nvSpPr>
        <p:spPr>
          <a:xfrm>
            <a:off x="9465866" y="46015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62">
                <a:solidFill>
                  <a:srgbClr val="171615"/>
                </a:solidFill>
                <a:latin typeface="Onest"/>
                <a:cs typeface="Onest"/>
                <a:ea typeface="Onest"/>
              </a:rPr>
              <a:t>100 000</a:t>
            </a:r>
          </a:p>
        </p:txBody>
      </p:sp>
      <p:sp>
        <p:nvSpPr>
          <p:cNvPr id="67" name="Текст: 3"/>
          <p:cNvSpPr txBox="1"/>
          <p:nvPr/>
        </p:nvSpPr>
        <p:spPr>
          <a:xfrm>
            <a:off x="11209040" y="46015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3</a:t>
            </a:r>
          </a:p>
        </p:txBody>
      </p:sp>
      <p:sp>
        <p:nvSpPr>
          <p:cNvPr id="68" name="Текст: 09"/>
          <p:cNvSpPr txBox="1"/>
          <p:nvPr/>
        </p:nvSpPr>
        <p:spPr>
          <a:xfrm>
            <a:off x="889000" y="4950841"/>
            <a:ext cx="197678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6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09</a:t>
            </a:r>
          </a:p>
        </p:txBody>
      </p:sp>
      <p:sp>
        <p:nvSpPr>
          <p:cNvPr id="69" name="Текст: Люберцы, ул. Инициативная"/>
          <p:cNvSpPr txBox="1"/>
          <p:nvPr/>
        </p:nvSpPr>
        <p:spPr>
          <a:xfrm>
            <a:off x="1333500" y="4931791"/>
            <a:ext cx="204358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Люберцы, ул. Инициативная</a:t>
            </a:r>
          </a:p>
        </p:txBody>
      </p:sp>
      <p:sp>
        <p:nvSpPr>
          <p:cNvPr id="70" name="Текст: 176,0"/>
          <p:cNvSpPr txBox="1"/>
          <p:nvPr/>
        </p:nvSpPr>
        <p:spPr>
          <a:xfrm>
            <a:off x="5207893" y="4931791"/>
            <a:ext cx="49961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47">
                <a:solidFill>
                  <a:srgbClr val="171615"/>
                </a:solidFill>
                <a:latin typeface="Onest"/>
                <a:cs typeface="Onest"/>
                <a:ea typeface="Onest"/>
              </a:rPr>
              <a:t>176,0</a:t>
            </a:r>
          </a:p>
        </p:txBody>
      </p:sp>
      <p:sp>
        <p:nvSpPr>
          <p:cNvPr id="71" name="Текст: 10 лет"/>
          <p:cNvSpPr txBox="1"/>
          <p:nvPr/>
        </p:nvSpPr>
        <p:spPr>
          <a:xfrm>
            <a:off x="6119614" y="4931791"/>
            <a:ext cx="5365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72" name="Текст: 214 000"/>
          <p:cNvSpPr txBox="1"/>
          <p:nvPr/>
        </p:nvSpPr>
        <p:spPr>
          <a:xfrm>
            <a:off x="8053189" y="4931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6">
                <a:solidFill>
                  <a:srgbClr val="171615"/>
                </a:solidFill>
                <a:latin typeface="Onest"/>
                <a:cs typeface="Onest"/>
                <a:ea typeface="Onest"/>
              </a:rPr>
              <a:t>214 000</a:t>
            </a:r>
          </a:p>
        </p:txBody>
      </p:sp>
      <p:sp>
        <p:nvSpPr>
          <p:cNvPr id="73" name="Текст: 120 000"/>
          <p:cNvSpPr txBox="1"/>
          <p:nvPr/>
        </p:nvSpPr>
        <p:spPr>
          <a:xfrm>
            <a:off x="9465866" y="4931791"/>
            <a:ext cx="6948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0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120 000</a:t>
            </a:r>
          </a:p>
        </p:txBody>
      </p:sp>
      <p:sp>
        <p:nvSpPr>
          <p:cNvPr id="74" name="Текст: 2"/>
          <p:cNvSpPr txBox="1"/>
          <p:nvPr/>
        </p:nvSpPr>
        <p:spPr>
          <a:xfrm>
            <a:off x="11209040" y="4931791"/>
            <a:ext cx="1674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</a:t>
            </a:r>
          </a:p>
        </p:txBody>
      </p:sp>
      <p:sp>
        <p:nvSpPr>
          <p:cNvPr id="75" name="Текст: Итого"/>
          <p:cNvSpPr txBox="1"/>
          <p:nvPr/>
        </p:nvSpPr>
        <p:spPr>
          <a:xfrm>
            <a:off x="1333500" y="5281041"/>
            <a:ext cx="482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Итого</a:t>
            </a:r>
          </a:p>
        </p:txBody>
      </p:sp>
      <p:sp>
        <p:nvSpPr>
          <p:cNvPr id="76" name="Текст: 1 477,3"/>
          <p:cNvSpPr txBox="1"/>
          <p:nvPr/>
        </p:nvSpPr>
        <p:spPr>
          <a:xfrm>
            <a:off x="5074345" y="5281041"/>
            <a:ext cx="6384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29">
                <a:solidFill>
                  <a:srgbClr val="171615"/>
                </a:solidFill>
                <a:latin typeface="Onest"/>
                <a:cs typeface="Onest"/>
                <a:ea typeface="Onest"/>
              </a:rPr>
              <a:t>1 477,3</a:t>
            </a:r>
          </a:p>
        </p:txBody>
      </p:sp>
      <p:sp>
        <p:nvSpPr>
          <p:cNvPr id="77" name="Текст: 7–10 лет"/>
          <p:cNvSpPr txBox="1"/>
          <p:nvPr/>
        </p:nvSpPr>
        <p:spPr>
          <a:xfrm>
            <a:off x="5942707" y="5281041"/>
            <a:ext cx="7203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8">
                <a:solidFill>
                  <a:srgbClr val="171615"/>
                </a:solidFill>
                <a:latin typeface="Onest"/>
                <a:cs typeface="Onest"/>
                <a:ea typeface="Onest"/>
              </a:rPr>
              <a:t>7–10 лет</a:t>
            </a:r>
          </a:p>
        </p:txBody>
      </p:sp>
      <p:sp>
        <p:nvSpPr>
          <p:cNvPr id="78" name="Текст: 2 748 000"/>
          <p:cNvSpPr txBox="1"/>
          <p:nvPr/>
        </p:nvSpPr>
        <p:spPr>
          <a:xfrm>
            <a:off x="7920831" y="5281041"/>
            <a:ext cx="8324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2">
                <a:solidFill>
                  <a:srgbClr val="171615"/>
                </a:solidFill>
                <a:latin typeface="Onest"/>
                <a:cs typeface="Onest"/>
                <a:ea typeface="Onest"/>
              </a:rPr>
              <a:t>2 748 000</a:t>
            </a:r>
          </a:p>
        </p:txBody>
      </p:sp>
      <p:sp>
        <p:nvSpPr>
          <p:cNvPr id="79" name="Текст: 1 151 000"/>
          <p:cNvSpPr txBox="1"/>
          <p:nvPr/>
        </p:nvSpPr>
        <p:spPr>
          <a:xfrm>
            <a:off x="9333508" y="5281041"/>
            <a:ext cx="83249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38">
                <a:solidFill>
                  <a:srgbClr val="171615"/>
                </a:solidFill>
                <a:latin typeface="Onest"/>
                <a:cs typeface="Onest"/>
                <a:ea typeface="Onest"/>
              </a:rPr>
              <a:t>1 151 000</a:t>
            </a:r>
          </a:p>
        </p:txBody>
      </p:sp>
      <p:sp>
        <p:nvSpPr>
          <p:cNvPr id="80" name="Текст: 29"/>
          <p:cNvSpPr txBox="1"/>
          <p:nvPr/>
        </p:nvSpPr>
        <p:spPr>
          <a:xfrm>
            <a:off x="11115179" y="5281041"/>
            <a:ext cx="26514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117">
                <a:solidFill>
                  <a:srgbClr val="171615"/>
                </a:solidFill>
                <a:latin typeface="Onest"/>
                <a:cs typeface="Onest"/>
                <a:ea typeface="Onest"/>
              </a:rPr>
              <a:t>29</a:t>
            </a:r>
          </a:p>
        </p:txBody>
      </p:sp>
      <p:sp>
        <p:nvSpPr>
          <p:cNvPr id="81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8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1 · САНКТ‑ПЕТЕРБУРГ"/>
          <p:cNvSpPr txBox="1"/>
          <p:nvPr/>
        </p:nvSpPr>
        <p:spPr>
          <a:xfrm>
            <a:off x="889000" y="949960"/>
            <a:ext cx="242508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01 · САНКТ‑ПЕТЕРБУРГ</a:t>
            </a:r>
          </a:p>
        </p:txBody>
      </p:sp>
      <p:sp>
        <p:nvSpPr>
          <p:cNvPr id="4" name="Текст: ул. Садовая"/>
          <p:cNvSpPr txBox="1"/>
          <p:nvPr/>
        </p:nvSpPr>
        <p:spPr>
          <a:xfrm>
            <a:off x="889000" y="1196340"/>
            <a:ext cx="306973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Садовая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09 м²"/>
          <p:cNvSpPr txBox="1"/>
          <p:nvPr/>
        </p:nvSpPr>
        <p:spPr>
          <a:xfrm>
            <a:off x="889000" y="2352294"/>
            <a:ext cx="88754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109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180 000 ₽"/>
          <p:cNvSpPr txBox="1"/>
          <p:nvPr/>
        </p:nvSpPr>
        <p:spPr>
          <a:xfrm>
            <a:off x="889000" y="3146044"/>
            <a:ext cx="151742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180 000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0 000 ₽"/>
          <p:cNvSpPr txBox="1"/>
          <p:nvPr/>
        </p:nvSpPr>
        <p:spPr>
          <a:xfrm>
            <a:off x="3702050" y="3146044"/>
            <a:ext cx="151030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180 000 ₽"/>
          <p:cNvSpPr txBox="1"/>
          <p:nvPr/>
        </p:nvSpPr>
        <p:spPr>
          <a:xfrm>
            <a:off x="1003300" y="4017391"/>
            <a:ext cx="18282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180 000 ₽</a:t>
            </a:r>
          </a:p>
        </p:txBody>
      </p:sp>
      <p:sp>
        <p:nvSpPr>
          <p:cNvPr id="14" name="Текст: Наш доход 130 000 ₽"/>
          <p:cNvSpPr txBox="1"/>
          <p:nvPr/>
        </p:nvSpPr>
        <p:spPr>
          <a:xfrm>
            <a:off x="4115594" y="4017391"/>
            <a:ext cx="15871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Цветы"/>
          <p:cNvSpPr txBox="1"/>
          <p:nvPr/>
        </p:nvSpPr>
        <p:spPr>
          <a:xfrm>
            <a:off x="2000250" y="4449382"/>
            <a:ext cx="52687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7" name="Текст: Аптека"/>
          <p:cNvSpPr txBox="1"/>
          <p:nvPr/>
        </p:nvSpPr>
        <p:spPr>
          <a:xfrm>
            <a:off x="2741513" y="4449382"/>
            <a:ext cx="58080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</a:t>
            </a:r>
          </a:p>
        </p:txBody>
      </p:sp>
      <p:sp>
        <p:nvSpPr>
          <p:cNvPr id="18" name="Текст: УСЛОВИЯ"/>
          <p:cNvSpPr txBox="1"/>
          <p:nvPr/>
        </p:nvSpPr>
        <p:spPr>
          <a:xfrm>
            <a:off x="889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19" name="Текст: Поток у входа — 700 человек в час"/>
          <p:cNvSpPr txBox="1"/>
          <p:nvPr/>
        </p:nvSpPr>
        <p:spPr>
          <a:xfrm>
            <a:off x="1879600" y="4849241"/>
            <a:ext cx="250778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Поток у входа — 700 человек в час</a:t>
            </a:r>
          </a:p>
        </p:txBody>
      </p:sp>
      <p:sp>
        <p:nvSpPr>
          <p:cNvPr id="20" name="Текст: СЕЙЧАС · АПТЕКА «НЕВИС» · УЛ. САДОВАЯ, 6"/>
          <p:cNvSpPr txBox="1"/>
          <p:nvPr/>
        </p:nvSpPr>
        <p:spPr>
          <a:xfrm>
            <a:off x="6769100" y="3547618"/>
            <a:ext cx="29037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СЕЙЧАС · АПТЕКА «НЕВИС» · УЛ. САДОВАЯ, 65</a:t>
            </a:r>
          </a:p>
        </p:txBody>
      </p:sp>
      <p:sp>
        <p:nvSpPr>
          <p:cNvPr id="21" name="Текст: ПОМЕЩЕНИЕ ДО РЕМОНТА"/>
          <p:cNvSpPr txBox="1"/>
          <p:nvPr/>
        </p:nvSpPr>
        <p:spPr>
          <a:xfrm>
            <a:off x="6769100" y="5706618"/>
            <a:ext cx="143922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ПОМЕЩЕНИЕ ДО РЕМОНТА</a:t>
            </a:r>
          </a:p>
        </p:txBody>
      </p:sp>
      <p:sp>
        <p:nvSpPr>
          <p:cNvPr id="2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РАЗБОР КЕЙСА 01 · КАК СЧИТАЕМ ДО ПОДПИСА"/>
          <p:cNvSpPr txBox="1"/>
          <p:nvPr/>
        </p:nvSpPr>
        <p:spPr>
          <a:xfrm>
            <a:off x="889000" y="949960"/>
            <a:ext cx="413684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КЕЙСА 01 · КАК СЧИТАЕМ ДО ПОДПИСАНИЯ</a:t>
            </a:r>
          </a:p>
        </p:txBody>
      </p:sp>
      <p:sp>
        <p:nvSpPr>
          <p:cNvPr id="4" name="Текст: Садовая: деление и три сценария"/>
          <p:cNvSpPr txBox="1"/>
          <p:nvPr/>
        </p:nvSpPr>
        <p:spPr>
          <a:xfrm>
            <a:off x="889000" y="1196340"/>
            <a:ext cx="8290170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Садовая: деление и три сценария</a:t>
            </a:r>
          </a:p>
        </p:txBody>
      </p:sp>
      <p:sp>
        <p:nvSpPr>
          <p:cNvPr id="5" name="Текст: 75 м²"/>
          <p:cNvSpPr txBox="1"/>
          <p:nvPr/>
        </p:nvSpPr>
        <p:spPr>
          <a:xfrm>
            <a:off x="1553788" y="3687441"/>
            <a:ext cx="444281" cy="1902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-24">
                <a:solidFill>
                  <a:srgbClr val="171615"/>
                </a:solidFill>
                <a:latin typeface="Onest"/>
                <a:cs typeface="Onest"/>
                <a:ea typeface="Onest"/>
              </a:rPr>
              <a:t>75 м²</a:t>
            </a:r>
          </a:p>
        </p:txBody>
      </p:sp>
      <p:sp>
        <p:nvSpPr>
          <p:cNvPr id="6" name="Текст: 32 м²"/>
          <p:cNvSpPr txBox="1"/>
          <p:nvPr/>
        </p:nvSpPr>
        <p:spPr>
          <a:xfrm>
            <a:off x="2996628" y="3617492"/>
            <a:ext cx="451109" cy="1902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-24">
                <a:solidFill>
                  <a:srgbClr val="171615"/>
                </a:solidFill>
                <a:latin typeface="Onest"/>
                <a:cs typeface="Onest"/>
                <a:ea typeface="Onest"/>
              </a:rPr>
              <a:t>32 м²</a:t>
            </a:r>
          </a:p>
        </p:txBody>
      </p:sp>
      <p:sp>
        <p:nvSpPr>
          <p:cNvPr id="7" name="Текст: СХЕМА · 109 М² · УГЛОВОЕ ПОМЕЩЕНИЕ"/>
          <p:cNvSpPr txBox="1"/>
          <p:nvPr/>
        </p:nvSpPr>
        <p:spPr>
          <a:xfrm>
            <a:off x="1030410" y="2039501"/>
            <a:ext cx="1825206" cy="984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00" b="0" spc="47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СХЕМА · 109 М² · УГЛОВОЕ ПОМЕЩЕНИЕ</a:t>
            </a:r>
          </a:p>
        </p:txBody>
      </p:sp>
      <p:sp>
        <p:nvSpPr>
          <p:cNvPr id="8" name="Текст: АРЕНДА"/>
          <p:cNvSpPr txBox="1"/>
          <p:nvPr/>
        </p:nvSpPr>
        <p:spPr>
          <a:xfrm>
            <a:off x="889000" y="46776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</a:t>
            </a:r>
          </a:p>
        </p:txBody>
      </p:sp>
      <p:sp>
        <p:nvSpPr>
          <p:cNvPr id="9" name="Текст: 180 000 ₽ · 1 651 ₽/м²"/>
          <p:cNvSpPr txBox="1"/>
          <p:nvPr/>
        </p:nvSpPr>
        <p:spPr>
          <a:xfrm>
            <a:off x="889000" y="4874641"/>
            <a:ext cx="158447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 ₽ · 1 651 ₽/м²</a:t>
            </a:r>
          </a:p>
        </p:txBody>
      </p:sp>
      <p:sp>
        <p:nvSpPr>
          <p:cNvPr id="10" name="Текст: МОЩНОСТЬ"/>
          <p:cNvSpPr txBox="1"/>
          <p:nvPr/>
        </p:nvSpPr>
        <p:spPr>
          <a:xfrm>
            <a:off x="2768600" y="46776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МОЩНОСТЬ</a:t>
            </a:r>
          </a:p>
        </p:txBody>
      </p:sp>
      <p:sp>
        <p:nvSpPr>
          <p:cNvPr id="11" name="Текст: 20 кВт"/>
          <p:cNvSpPr txBox="1"/>
          <p:nvPr/>
        </p:nvSpPr>
        <p:spPr>
          <a:xfrm>
            <a:off x="2768600" y="4874641"/>
            <a:ext cx="5260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20 кВт</a:t>
            </a:r>
          </a:p>
        </p:txBody>
      </p:sp>
      <p:sp>
        <p:nvSpPr>
          <p:cNvPr id="12" name="Текст: КАНИКУЛЫ"/>
          <p:cNvSpPr txBox="1"/>
          <p:nvPr/>
        </p:nvSpPr>
        <p:spPr>
          <a:xfrm>
            <a:off x="889000" y="522376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КАНИКУЛЫ</a:t>
            </a:r>
          </a:p>
        </p:txBody>
      </p:sp>
      <p:sp>
        <p:nvSpPr>
          <p:cNvPr id="13" name="Текст: 2 месяца на ремонт"/>
          <p:cNvSpPr txBox="1"/>
          <p:nvPr/>
        </p:nvSpPr>
        <p:spPr>
          <a:xfrm>
            <a:off x="889000" y="5420741"/>
            <a:ext cx="144964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 месяца на ремонт</a:t>
            </a:r>
          </a:p>
        </p:txBody>
      </p:sp>
      <p:sp>
        <p:nvSpPr>
          <p:cNvPr id="14" name="Текст: ДОГОВОР"/>
          <p:cNvSpPr txBox="1"/>
          <p:nvPr/>
        </p:nvSpPr>
        <p:spPr>
          <a:xfrm>
            <a:off x="2768600" y="5223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15" name="Текст: 10 лет"/>
          <p:cNvSpPr txBox="1"/>
          <p:nvPr/>
        </p:nvSpPr>
        <p:spPr>
          <a:xfrm>
            <a:off x="2768600" y="5420741"/>
            <a:ext cx="49060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10 лет</a:t>
            </a:r>
          </a:p>
        </p:txBody>
      </p:sp>
      <p:sp>
        <p:nvSpPr>
          <p:cNvPr id="16" name="Текст: ПОЗИТИВНЫЙ"/>
          <p:cNvSpPr txBox="1"/>
          <p:nvPr/>
        </p:nvSpPr>
        <p:spPr>
          <a:xfrm>
            <a:off x="8278912" y="2010791"/>
            <a:ext cx="788207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ПОЗИТИВНЫЙ</a:t>
            </a:r>
          </a:p>
        </p:txBody>
      </p:sp>
      <p:sp>
        <p:nvSpPr>
          <p:cNvPr id="17" name="Текст: СРЕДНИЙ"/>
          <p:cNvSpPr txBox="1"/>
          <p:nvPr/>
        </p:nvSpPr>
        <p:spPr>
          <a:xfrm>
            <a:off x="9687620" y="2010791"/>
            <a:ext cx="565916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СРЕДНИЙ</a:t>
            </a:r>
          </a:p>
        </p:txBody>
      </p:sp>
      <p:sp>
        <p:nvSpPr>
          <p:cNvPr id="18" name="Текст: ХУДШИЙ"/>
          <p:cNvSpPr txBox="1"/>
          <p:nvPr/>
        </p:nvSpPr>
        <p:spPr>
          <a:xfrm>
            <a:off x="10875466" y="2010791"/>
            <a:ext cx="491820" cy="142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50" b="0" spc="51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ХУДШИЙ</a:t>
            </a:r>
          </a:p>
        </p:txBody>
      </p:sp>
      <p:sp>
        <p:nvSpPr>
          <p:cNvPr id="19" name="Текст: Ставка блока 75 м², ₽/м²"/>
          <p:cNvSpPr txBox="1"/>
          <p:nvPr/>
        </p:nvSpPr>
        <p:spPr>
          <a:xfrm>
            <a:off x="5016500" y="2385822"/>
            <a:ext cx="200240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Ставка блока 75 м², ₽/м²</a:t>
            </a:r>
          </a:p>
        </p:txBody>
      </p:sp>
      <p:sp>
        <p:nvSpPr>
          <p:cNvPr id="20" name="Текст: 2 500"/>
          <p:cNvSpPr txBox="1"/>
          <p:nvPr/>
        </p:nvSpPr>
        <p:spPr>
          <a:xfrm>
            <a:off x="8540552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1">
                <a:solidFill>
                  <a:srgbClr val="171615"/>
                </a:solidFill>
                <a:latin typeface="Onest"/>
                <a:cs typeface="Onest"/>
                <a:ea typeface="Onest"/>
              </a:rPr>
              <a:t>2 500</a:t>
            </a:r>
          </a:p>
        </p:txBody>
      </p:sp>
      <p:sp>
        <p:nvSpPr>
          <p:cNvPr id="21" name="Текст: 2 300"/>
          <p:cNvSpPr txBox="1"/>
          <p:nvPr/>
        </p:nvSpPr>
        <p:spPr>
          <a:xfrm>
            <a:off x="9735542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6">
                <a:solidFill>
                  <a:srgbClr val="171615"/>
                </a:solidFill>
                <a:latin typeface="Onest"/>
                <a:cs typeface="Onest"/>
                <a:ea typeface="Onest"/>
              </a:rPr>
              <a:t>2 300</a:t>
            </a:r>
          </a:p>
        </p:txBody>
      </p:sp>
      <p:sp>
        <p:nvSpPr>
          <p:cNvPr id="22" name="Текст: 2 100"/>
          <p:cNvSpPr txBox="1"/>
          <p:nvPr/>
        </p:nvSpPr>
        <p:spPr>
          <a:xfrm>
            <a:off x="10852150" y="23858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127">
                <a:solidFill>
                  <a:srgbClr val="171615"/>
                </a:solidFill>
                <a:latin typeface="Onest"/>
                <a:cs typeface="Onest"/>
                <a:ea typeface="Onest"/>
              </a:rPr>
              <a:t>2 100</a:t>
            </a:r>
          </a:p>
        </p:txBody>
      </p:sp>
      <p:sp>
        <p:nvSpPr>
          <p:cNvPr id="23" name="Текст: Ставка блока 32 м², ₽/м²"/>
          <p:cNvSpPr txBox="1"/>
          <p:nvPr/>
        </p:nvSpPr>
        <p:spPr>
          <a:xfrm>
            <a:off x="5016500" y="2843022"/>
            <a:ext cx="200240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Ставка блока 32 м², ₽/м²</a:t>
            </a:r>
          </a:p>
        </p:txBody>
      </p:sp>
      <p:sp>
        <p:nvSpPr>
          <p:cNvPr id="24" name="Текст: 3 400"/>
          <p:cNvSpPr txBox="1"/>
          <p:nvPr/>
        </p:nvSpPr>
        <p:spPr>
          <a:xfrm>
            <a:off x="8540552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36">
                <a:solidFill>
                  <a:srgbClr val="171615"/>
                </a:solidFill>
                <a:latin typeface="Onest"/>
                <a:cs typeface="Onest"/>
                <a:ea typeface="Onest"/>
              </a:rPr>
              <a:t>3 400</a:t>
            </a:r>
          </a:p>
        </p:txBody>
      </p:sp>
      <p:sp>
        <p:nvSpPr>
          <p:cNvPr id="25" name="Текст: 3 200"/>
          <p:cNvSpPr txBox="1"/>
          <p:nvPr/>
        </p:nvSpPr>
        <p:spPr>
          <a:xfrm>
            <a:off x="9735542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6">
                <a:solidFill>
                  <a:srgbClr val="171615"/>
                </a:solidFill>
                <a:latin typeface="Onest"/>
                <a:cs typeface="Onest"/>
                <a:ea typeface="Onest"/>
              </a:rPr>
              <a:t>3 200</a:t>
            </a:r>
          </a:p>
        </p:txBody>
      </p:sp>
      <p:sp>
        <p:nvSpPr>
          <p:cNvPr id="26" name="Текст: 3 000"/>
          <p:cNvSpPr txBox="1"/>
          <p:nvPr/>
        </p:nvSpPr>
        <p:spPr>
          <a:xfrm>
            <a:off x="10852150" y="2843022"/>
            <a:ext cx="54502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26">
                <a:solidFill>
                  <a:srgbClr val="171615"/>
                </a:solidFill>
                <a:latin typeface="Onest"/>
                <a:cs typeface="Onest"/>
                <a:ea typeface="Onest"/>
              </a:rPr>
              <a:t>3 000</a:t>
            </a:r>
          </a:p>
        </p:txBody>
      </p:sp>
      <p:sp>
        <p:nvSpPr>
          <p:cNvPr id="27" name="Текст: Аренда от блоков, ₽/мес"/>
          <p:cNvSpPr txBox="1"/>
          <p:nvPr/>
        </p:nvSpPr>
        <p:spPr>
          <a:xfrm>
            <a:off x="5016500" y="3300222"/>
            <a:ext cx="199035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 от блоков, ₽/мес</a:t>
            </a:r>
          </a:p>
        </p:txBody>
      </p:sp>
      <p:sp>
        <p:nvSpPr>
          <p:cNvPr id="28" name="Текст: 296 300"/>
          <p:cNvSpPr txBox="1"/>
          <p:nvPr/>
        </p:nvSpPr>
        <p:spPr>
          <a:xfrm>
            <a:off x="8335764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57">
                <a:solidFill>
                  <a:srgbClr val="171615"/>
                </a:solidFill>
                <a:latin typeface="Onest"/>
                <a:cs typeface="Onest"/>
                <a:ea typeface="Onest"/>
              </a:rPr>
              <a:t>296 300</a:t>
            </a:r>
          </a:p>
        </p:txBody>
      </p:sp>
      <p:sp>
        <p:nvSpPr>
          <p:cNvPr id="29" name="Текст: 274 900"/>
          <p:cNvSpPr txBox="1"/>
          <p:nvPr/>
        </p:nvSpPr>
        <p:spPr>
          <a:xfrm>
            <a:off x="9530755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4">
                <a:solidFill>
                  <a:srgbClr val="171615"/>
                </a:solidFill>
                <a:latin typeface="Onest"/>
                <a:cs typeface="Onest"/>
                <a:ea typeface="Onest"/>
              </a:rPr>
              <a:t>274 900</a:t>
            </a:r>
          </a:p>
        </p:txBody>
      </p:sp>
      <p:sp>
        <p:nvSpPr>
          <p:cNvPr id="30" name="Текст: 253 500"/>
          <p:cNvSpPr txBox="1"/>
          <p:nvPr/>
        </p:nvSpPr>
        <p:spPr>
          <a:xfrm>
            <a:off x="10647362" y="33002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60">
                <a:solidFill>
                  <a:srgbClr val="171615"/>
                </a:solidFill>
                <a:latin typeface="Onest"/>
                <a:cs typeface="Onest"/>
                <a:ea typeface="Onest"/>
              </a:rPr>
              <a:t>253 500</a:t>
            </a:r>
          </a:p>
        </p:txBody>
      </p:sp>
      <p:sp>
        <p:nvSpPr>
          <p:cNvPr id="31" name="Текст: Доход, ₽/мес"/>
          <p:cNvSpPr txBox="1"/>
          <p:nvPr/>
        </p:nvSpPr>
        <p:spPr>
          <a:xfrm>
            <a:off x="5016500" y="3757422"/>
            <a:ext cx="110896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Доход, ₽/мес</a:t>
            </a:r>
          </a:p>
        </p:txBody>
      </p:sp>
      <p:sp>
        <p:nvSpPr>
          <p:cNvPr id="32" name="Текст: 116 300"/>
          <p:cNvSpPr txBox="1"/>
          <p:nvPr/>
        </p:nvSpPr>
        <p:spPr>
          <a:xfrm>
            <a:off x="8335764" y="3757422"/>
            <a:ext cx="758047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149">
                <a:solidFill>
                  <a:srgbClr val="171615"/>
                </a:solidFill>
                <a:latin typeface="Onest"/>
                <a:cs typeface="Onest"/>
                <a:ea typeface="Onest"/>
              </a:rPr>
              <a:t>116 300</a:t>
            </a:r>
          </a:p>
        </p:txBody>
      </p:sp>
      <p:sp>
        <p:nvSpPr>
          <p:cNvPr id="33" name="Текст: 94 900"/>
          <p:cNvSpPr txBox="1"/>
          <p:nvPr/>
        </p:nvSpPr>
        <p:spPr>
          <a:xfrm>
            <a:off x="9633148" y="3757422"/>
            <a:ext cx="651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36">
                <a:solidFill>
                  <a:srgbClr val="171615"/>
                </a:solidFill>
                <a:latin typeface="Onest"/>
                <a:cs typeface="Onest"/>
                <a:ea typeface="Onest"/>
              </a:rPr>
              <a:t>94 900</a:t>
            </a:r>
          </a:p>
        </p:txBody>
      </p:sp>
      <p:sp>
        <p:nvSpPr>
          <p:cNvPr id="34" name="Текст: 73 500"/>
          <p:cNvSpPr txBox="1"/>
          <p:nvPr/>
        </p:nvSpPr>
        <p:spPr>
          <a:xfrm>
            <a:off x="10749756" y="3757422"/>
            <a:ext cx="651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3">
                <a:solidFill>
                  <a:srgbClr val="171615"/>
                </a:solidFill>
                <a:latin typeface="Onest"/>
                <a:cs typeface="Onest"/>
                <a:ea typeface="Onest"/>
              </a:rPr>
              <a:t>73 500</a:t>
            </a:r>
          </a:p>
        </p:txBody>
      </p:sp>
      <p:sp>
        <p:nvSpPr>
          <p:cNvPr id="35" name="Текст: Маржинальность"/>
          <p:cNvSpPr txBox="1"/>
          <p:nvPr/>
        </p:nvSpPr>
        <p:spPr>
          <a:xfrm>
            <a:off x="5016500" y="4214622"/>
            <a:ext cx="138600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Маржинальность</a:t>
            </a:r>
          </a:p>
        </p:txBody>
      </p:sp>
      <p:sp>
        <p:nvSpPr>
          <p:cNvPr id="36" name="Текст: 39%"/>
          <p:cNvSpPr txBox="1"/>
          <p:nvPr/>
        </p:nvSpPr>
        <p:spPr>
          <a:xfrm>
            <a:off x="8663980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5">
                <a:solidFill>
                  <a:srgbClr val="171615"/>
                </a:solidFill>
                <a:latin typeface="Onest"/>
                <a:cs typeface="Onest"/>
                <a:ea typeface="Onest"/>
              </a:rPr>
              <a:t>39%</a:t>
            </a:r>
          </a:p>
        </p:txBody>
      </p:sp>
      <p:sp>
        <p:nvSpPr>
          <p:cNvPr id="37" name="Текст: 35%"/>
          <p:cNvSpPr txBox="1"/>
          <p:nvPr/>
        </p:nvSpPr>
        <p:spPr>
          <a:xfrm>
            <a:off x="9858970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77">
                <a:solidFill>
                  <a:srgbClr val="171615"/>
                </a:solidFill>
                <a:latin typeface="Onest"/>
                <a:cs typeface="Onest"/>
                <a:ea typeface="Onest"/>
              </a:rPr>
              <a:t>35%</a:t>
            </a:r>
          </a:p>
        </p:txBody>
      </p:sp>
      <p:sp>
        <p:nvSpPr>
          <p:cNvPr id="38" name="Текст: 29%"/>
          <p:cNvSpPr txBox="1"/>
          <p:nvPr/>
        </p:nvSpPr>
        <p:spPr>
          <a:xfrm>
            <a:off x="10975578" y="4214622"/>
            <a:ext cx="41664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 spc="95">
                <a:solidFill>
                  <a:srgbClr val="171615"/>
                </a:solidFill>
                <a:latin typeface="Onest"/>
                <a:cs typeface="Onest"/>
                <a:ea typeface="Onest"/>
              </a:rPr>
              <a:t>29%</a:t>
            </a:r>
          </a:p>
        </p:txBody>
      </p:sp>
      <p:sp>
        <p:nvSpPr>
          <p:cNvPr id="39" name="Текст: Факт, ₽/мес"/>
          <p:cNvSpPr txBox="1"/>
          <p:nvPr/>
        </p:nvSpPr>
        <p:spPr>
          <a:xfrm>
            <a:off x="5016500" y="4697222"/>
            <a:ext cx="1021372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Факт, ₽/мес</a:t>
            </a:r>
          </a:p>
        </p:txBody>
      </p:sp>
      <p:sp>
        <p:nvSpPr>
          <p:cNvPr id="40" name="Текст: 130 000 — выше позитивного сценария"/>
          <p:cNvSpPr txBox="1"/>
          <p:nvPr/>
        </p:nvSpPr>
        <p:spPr>
          <a:xfrm>
            <a:off x="8336161" y="4697222"/>
            <a:ext cx="316162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130 000 — выше позитивного сценария</a:t>
            </a:r>
          </a:p>
        </p:txBody>
      </p:sp>
      <p:sp>
        <p:nvSpPr>
          <p:cNvPr id="41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42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РАЗБОР КЕЙСА 01 · ВХОД В ОБЪЕКТ"/>
          <p:cNvSpPr txBox="1"/>
          <p:nvPr/>
        </p:nvSpPr>
        <p:spPr>
          <a:xfrm>
            <a:off x="889000" y="949960"/>
            <a:ext cx="2995675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КЕЙСА 01 · ВХОД В ОБЪЕКТ</a:t>
            </a:r>
          </a:p>
        </p:txBody>
      </p:sp>
      <p:sp>
        <p:nvSpPr>
          <p:cNvPr id="4" name="Текст: Сколько своих денег нужно"/>
          <p:cNvSpPr txBox="1"/>
          <p:nvPr/>
        </p:nvSpPr>
        <p:spPr>
          <a:xfrm>
            <a:off x="889000" y="1196340"/>
            <a:ext cx="688980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Сколько своих денег нужно</a:t>
            </a:r>
          </a:p>
        </p:txBody>
      </p:sp>
      <p:sp>
        <p:nvSpPr>
          <p:cNvPr id="5" name="Текст: СТАРТОВЫЕ РАСХОДЫ"/>
          <p:cNvSpPr txBox="1"/>
          <p:nvPr/>
        </p:nvSpPr>
        <p:spPr>
          <a:xfrm>
            <a:off x="889000" y="20932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СТАРТОВЫЕ РАСХОДЫ</a:t>
            </a:r>
          </a:p>
        </p:txBody>
      </p:sp>
      <p:sp>
        <p:nvSpPr>
          <p:cNvPr id="6" name="Текст: Аренда, первый месяц"/>
          <p:cNvSpPr txBox="1"/>
          <p:nvPr/>
        </p:nvSpPr>
        <p:spPr>
          <a:xfrm>
            <a:off x="889000" y="2461641"/>
            <a:ext cx="164462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Аренда, первый месяц</a:t>
            </a:r>
          </a:p>
        </p:txBody>
      </p:sp>
      <p:sp>
        <p:nvSpPr>
          <p:cNvPr id="7" name="Текст: 180 000"/>
          <p:cNvSpPr txBox="1"/>
          <p:nvPr/>
        </p:nvSpPr>
        <p:spPr>
          <a:xfrm>
            <a:off x="6256933" y="24616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8" name="Текст: Залог собственнику"/>
          <p:cNvSpPr txBox="1"/>
          <p:nvPr/>
        </p:nvSpPr>
        <p:spPr>
          <a:xfrm>
            <a:off x="889000" y="2829941"/>
            <a:ext cx="1485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Залог собственнику</a:t>
            </a:r>
          </a:p>
        </p:txBody>
      </p:sp>
      <p:sp>
        <p:nvSpPr>
          <p:cNvPr id="9" name="Текст: 180 000"/>
          <p:cNvSpPr txBox="1"/>
          <p:nvPr/>
        </p:nvSpPr>
        <p:spPr>
          <a:xfrm>
            <a:off x="6256933" y="28299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70">
                <a:solidFill>
                  <a:srgbClr val="171615"/>
                </a:solidFill>
                <a:latin typeface="Onest"/>
                <a:cs typeface="Onest"/>
                <a:ea typeface="Onest"/>
              </a:rPr>
              <a:t>180 000</a:t>
            </a:r>
          </a:p>
        </p:txBody>
      </p:sp>
      <p:sp>
        <p:nvSpPr>
          <p:cNvPr id="10" name="Текст: Ремонт: электрика, сантехника,"/>
          <p:cNvSpPr txBox="1"/>
          <p:nvPr/>
        </p:nvSpPr>
        <p:spPr>
          <a:xfrm>
            <a:off x="889000" y="3198241"/>
            <a:ext cx="22734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Ремонт: электрика, сантехника,</a:t>
            </a:r>
          </a:p>
        </p:txBody>
      </p:sp>
      <p:sp>
        <p:nvSpPr>
          <p:cNvPr id="11" name="Текст: стены"/>
          <p:cNvSpPr txBox="1"/>
          <p:nvPr/>
        </p:nvSpPr>
        <p:spPr>
          <a:xfrm>
            <a:off x="889000" y="3376041"/>
            <a:ext cx="48217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стены</a:t>
            </a:r>
          </a:p>
        </p:txBody>
      </p:sp>
      <p:sp>
        <p:nvSpPr>
          <p:cNvPr id="12" name="Текст: 120 800"/>
          <p:cNvSpPr txBox="1"/>
          <p:nvPr/>
        </p:nvSpPr>
        <p:spPr>
          <a:xfrm>
            <a:off x="6256933" y="3287141"/>
            <a:ext cx="6948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88">
                <a:solidFill>
                  <a:srgbClr val="171615"/>
                </a:solidFill>
                <a:latin typeface="Onest"/>
                <a:cs typeface="Onest"/>
                <a:ea typeface="Onest"/>
              </a:rPr>
              <a:t>120 800</a:t>
            </a:r>
          </a:p>
        </p:txBody>
      </p:sp>
      <p:sp>
        <p:nvSpPr>
          <p:cNvPr id="13" name="Текст: Материалы"/>
          <p:cNvSpPr txBox="1"/>
          <p:nvPr/>
        </p:nvSpPr>
        <p:spPr>
          <a:xfrm>
            <a:off x="889000" y="3744341"/>
            <a:ext cx="86065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Материалы</a:t>
            </a:r>
          </a:p>
        </p:txBody>
      </p:sp>
      <p:sp>
        <p:nvSpPr>
          <p:cNvPr id="14" name="Текст: 95 200"/>
          <p:cNvSpPr txBox="1"/>
          <p:nvPr/>
        </p:nvSpPr>
        <p:spPr>
          <a:xfrm>
            <a:off x="6350794" y="37443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49">
                <a:solidFill>
                  <a:srgbClr val="171615"/>
                </a:solidFill>
                <a:latin typeface="Onest"/>
                <a:cs typeface="Onest"/>
                <a:ea typeface="Onest"/>
              </a:rPr>
              <a:t>95 200</a:t>
            </a:r>
          </a:p>
        </p:txBody>
      </p:sp>
      <p:sp>
        <p:nvSpPr>
          <p:cNvPr id="15" name="Текст: Реклама на Авито"/>
          <p:cNvSpPr txBox="1"/>
          <p:nvPr/>
        </p:nvSpPr>
        <p:spPr>
          <a:xfrm>
            <a:off x="889000" y="4112641"/>
            <a:ext cx="13210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Реклама на Авито</a:t>
            </a:r>
          </a:p>
        </p:txBody>
      </p:sp>
      <p:sp>
        <p:nvSpPr>
          <p:cNvPr id="16" name="Текст: 90 000"/>
          <p:cNvSpPr txBox="1"/>
          <p:nvPr/>
        </p:nvSpPr>
        <p:spPr>
          <a:xfrm>
            <a:off x="6350794" y="41126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90 000</a:t>
            </a:r>
          </a:p>
        </p:txBody>
      </p:sp>
      <p:sp>
        <p:nvSpPr>
          <p:cNvPr id="17" name="Текст: Прочие расходы"/>
          <p:cNvSpPr txBox="1"/>
          <p:nvPr/>
        </p:nvSpPr>
        <p:spPr>
          <a:xfrm>
            <a:off x="889000" y="4480941"/>
            <a:ext cx="12250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Прочие расходы</a:t>
            </a:r>
          </a:p>
        </p:txBody>
      </p:sp>
      <p:sp>
        <p:nvSpPr>
          <p:cNvPr id="18" name="Текст: 80 000"/>
          <p:cNvSpPr txBox="1"/>
          <p:nvPr/>
        </p:nvSpPr>
        <p:spPr>
          <a:xfrm>
            <a:off x="6350794" y="4480941"/>
            <a:ext cx="59724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80 000</a:t>
            </a:r>
          </a:p>
        </p:txBody>
      </p:sp>
      <p:sp>
        <p:nvSpPr>
          <p:cNvPr id="19" name="Текст: Итого"/>
          <p:cNvSpPr txBox="1"/>
          <p:nvPr/>
        </p:nvSpPr>
        <p:spPr>
          <a:xfrm>
            <a:off x="889000" y="4855591"/>
            <a:ext cx="482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Итого</a:t>
            </a:r>
          </a:p>
        </p:txBody>
      </p:sp>
      <p:sp>
        <p:nvSpPr>
          <p:cNvPr id="20" name="Текст: 746 000"/>
          <p:cNvSpPr txBox="1"/>
          <p:nvPr/>
        </p:nvSpPr>
        <p:spPr>
          <a:xfrm>
            <a:off x="6256536" y="4855591"/>
            <a:ext cx="69531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 spc="50">
                <a:solidFill>
                  <a:srgbClr val="171615"/>
                </a:solidFill>
                <a:latin typeface="Onest"/>
                <a:cs typeface="Onest"/>
                <a:ea typeface="Onest"/>
              </a:rPr>
              <a:t>746 000</a:t>
            </a:r>
          </a:p>
        </p:txBody>
      </p:sp>
      <p:sp>
        <p:nvSpPr>
          <p:cNvPr id="21" name="Текст: СТАРТОВЫЕ РАСХОДЫ"/>
          <p:cNvSpPr txBox="1"/>
          <p:nvPr/>
        </p:nvSpPr>
        <p:spPr>
          <a:xfrm>
            <a:off x="7493000" y="234086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СТАРТОВЫЕ РАСХОДЫ</a:t>
            </a:r>
          </a:p>
        </p:txBody>
      </p:sp>
      <p:sp>
        <p:nvSpPr>
          <p:cNvPr id="22" name="Текст: 746 000 ₽"/>
          <p:cNvSpPr txBox="1"/>
          <p:nvPr/>
        </p:nvSpPr>
        <p:spPr>
          <a:xfrm>
            <a:off x="9871968" y="2161794"/>
            <a:ext cx="164052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746 000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3" name="Текст: ПЕРВАЯ АРЕНДА И ЗАЛОГИ"/>
          <p:cNvSpPr txBox="1"/>
          <p:nvPr/>
        </p:nvSpPr>
        <p:spPr>
          <a:xfrm>
            <a:off x="7493000" y="2893314"/>
            <a:ext cx="182596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ПЕРВАЯ АРЕНДА И ЗАЛОГИ</a:t>
            </a:r>
          </a:p>
        </p:txBody>
      </p:sp>
      <p:sp>
        <p:nvSpPr>
          <p:cNvPr id="24" name="Текст: АРЕНДАТОРОВ"/>
          <p:cNvSpPr txBox="1"/>
          <p:nvPr/>
        </p:nvSpPr>
        <p:spPr>
          <a:xfrm>
            <a:off x="7493000" y="305841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АРЕНДАТОРОВ</a:t>
            </a:r>
          </a:p>
        </p:txBody>
      </p:sp>
      <p:sp>
        <p:nvSpPr>
          <p:cNvPr id="25" name="Текст: − 592 600 ₽"/>
          <p:cNvSpPr txBox="1"/>
          <p:nvPr/>
        </p:nvSpPr>
        <p:spPr>
          <a:xfrm>
            <a:off x="9640391" y="2714244"/>
            <a:ext cx="188136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− 592 600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6" name="Текст: СОБСТВЕННЫЕ ВЛОЖЕНИЯ153 400 ₽"/>
          <p:cNvSpPr txBox="1"/>
          <p:nvPr/>
        </p:nvSpPr>
        <p:spPr>
          <a:xfrm>
            <a:off x="7493000" y="3374898"/>
            <a:ext cx="4203486" cy="637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СОБСТВЕННЫЕ ВЛОЖЕНИЯ</a:t>
            </a:r>
            <a:r>
              <a:rPr sz="3800" b="0" spc="12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153 400 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27" name="Текст: ОКУПАЕМОСТЬ"/>
          <p:cNvSpPr txBox="1"/>
          <p:nvPr/>
        </p:nvSpPr>
        <p:spPr>
          <a:xfrm>
            <a:off x="7493000" y="4296664"/>
            <a:ext cx="93680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ОКУПАЕМОСТЬ</a:t>
            </a:r>
          </a:p>
        </p:txBody>
      </p:sp>
      <p:sp>
        <p:nvSpPr>
          <p:cNvPr id="28" name="Текст: 1–3 месяца"/>
          <p:cNvSpPr txBox="1"/>
          <p:nvPr/>
        </p:nvSpPr>
        <p:spPr>
          <a:xfrm>
            <a:off x="7493000" y="4514596"/>
            <a:ext cx="120904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1–3 месяца</a:t>
            </a:r>
          </a:p>
        </p:txBody>
      </p:sp>
      <p:sp>
        <p:nvSpPr>
          <p:cNvPr id="29" name="Текст: ВЛОЖЕНИЯ В ХУДШЕМ"/>
          <p:cNvSpPr txBox="1"/>
          <p:nvPr/>
        </p:nvSpPr>
        <p:spPr>
          <a:xfrm>
            <a:off x="9499600" y="429666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ВЛОЖЕНИЯ В ХУДШЕМ</a:t>
            </a:r>
          </a:p>
        </p:txBody>
      </p:sp>
      <p:sp>
        <p:nvSpPr>
          <p:cNvPr id="30" name="Текст: СЦЕНАРИИ"/>
          <p:cNvSpPr txBox="1"/>
          <p:nvPr/>
        </p:nvSpPr>
        <p:spPr>
          <a:xfrm>
            <a:off x="9499600" y="44617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СЦЕНАРИИ</a:t>
            </a:r>
          </a:p>
        </p:txBody>
      </p:sp>
      <p:sp>
        <p:nvSpPr>
          <p:cNvPr id="31" name="Текст: 239 000 ₽"/>
          <p:cNvSpPr txBox="1"/>
          <p:nvPr/>
        </p:nvSpPr>
        <p:spPr>
          <a:xfrm>
            <a:off x="9499600" y="4679696"/>
            <a:ext cx="114256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239 000 ₽</a:t>
            </a:r>
          </a:p>
        </p:txBody>
      </p:sp>
      <p:sp>
        <p:nvSpPr>
          <p:cNvPr id="3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3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2 · САНКТ‑ПЕТЕРБУРГ"/>
          <p:cNvSpPr txBox="1"/>
          <p:nvPr/>
        </p:nvSpPr>
        <p:spPr>
          <a:xfrm>
            <a:off x="6096000" y="949960"/>
            <a:ext cx="242509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02 · САНКТ‑ПЕТЕРБУРГ</a:t>
            </a:r>
          </a:p>
        </p:txBody>
      </p:sp>
      <p:sp>
        <p:nvSpPr>
          <p:cNvPr id="4" name="Текст: ул. Восстания"/>
          <p:cNvSpPr txBox="1"/>
          <p:nvPr/>
        </p:nvSpPr>
        <p:spPr>
          <a:xfrm>
            <a:off x="6096000" y="1196340"/>
            <a:ext cx="355515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Восстания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58,4 м²"/>
          <p:cNvSpPr txBox="1"/>
          <p:nvPr/>
        </p:nvSpPr>
        <p:spPr>
          <a:xfrm>
            <a:off x="6096000" y="2352294"/>
            <a:ext cx="113395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158,4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8909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370 000 ₽"/>
          <p:cNvSpPr txBox="1"/>
          <p:nvPr/>
        </p:nvSpPr>
        <p:spPr>
          <a:xfrm>
            <a:off x="6096000" y="3146044"/>
            <a:ext cx="1556533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370 000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3 000 ₽"/>
          <p:cNvSpPr txBox="1"/>
          <p:nvPr/>
        </p:nvSpPr>
        <p:spPr>
          <a:xfrm>
            <a:off x="8909050" y="3146044"/>
            <a:ext cx="148904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133 000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370 000 ₽"/>
          <p:cNvSpPr txBox="1"/>
          <p:nvPr/>
        </p:nvSpPr>
        <p:spPr>
          <a:xfrm>
            <a:off x="6210300" y="4017391"/>
            <a:ext cx="18447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370 000 ₽</a:t>
            </a:r>
          </a:p>
        </p:txBody>
      </p:sp>
      <p:sp>
        <p:nvSpPr>
          <p:cNvPr id="14" name="Текст: Наш доход 133 000 ₽"/>
          <p:cNvSpPr txBox="1"/>
          <p:nvPr/>
        </p:nvSpPr>
        <p:spPr>
          <a:xfrm>
            <a:off x="9851827" y="4017391"/>
            <a:ext cx="15789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133 000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4681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Сувениры"/>
          <p:cNvSpPr txBox="1"/>
          <p:nvPr/>
        </p:nvSpPr>
        <p:spPr>
          <a:xfrm>
            <a:off x="7207250" y="4449382"/>
            <a:ext cx="80544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Сувениры</a:t>
            </a:r>
          </a:p>
        </p:txBody>
      </p:sp>
      <p:sp>
        <p:nvSpPr>
          <p:cNvPr id="17" name="Текст: Цветы"/>
          <p:cNvSpPr txBox="1"/>
          <p:nvPr/>
        </p:nvSpPr>
        <p:spPr>
          <a:xfrm>
            <a:off x="8216305" y="4449382"/>
            <a:ext cx="52687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8" name="Текст: Аптека"/>
          <p:cNvSpPr txBox="1"/>
          <p:nvPr/>
        </p:nvSpPr>
        <p:spPr>
          <a:xfrm>
            <a:off x="8957568" y="4449382"/>
            <a:ext cx="58079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</a:t>
            </a:r>
          </a:p>
        </p:txBody>
      </p:sp>
      <p:sp>
        <p:nvSpPr>
          <p:cNvPr id="19" name="Текст: УСЛОВИЯ"/>
          <p:cNvSpPr txBox="1"/>
          <p:nvPr/>
        </p:nvSpPr>
        <p:spPr>
          <a:xfrm>
            <a:off x="6096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0" name="Текст: Арендные каникулы — 2 месяца"/>
          <p:cNvSpPr txBox="1"/>
          <p:nvPr/>
        </p:nvSpPr>
        <p:spPr>
          <a:xfrm>
            <a:off x="7086600" y="4849241"/>
            <a:ext cx="22872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Арендные каникулы — 2 месяца</a:t>
            </a:r>
          </a:p>
        </p:txBody>
      </p:sp>
      <p:sp>
        <p:nvSpPr>
          <p:cNvPr id="21" name="Текст: ФАСАД · УЛ. ВОССТАНИЯ, 36"/>
          <p:cNvSpPr txBox="1"/>
          <p:nvPr/>
        </p:nvSpPr>
        <p:spPr>
          <a:xfrm>
            <a:off x="990600" y="3420618"/>
            <a:ext cx="17879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УЛ. ВОССТАНИЯ, 36</a:t>
            </a:r>
          </a:p>
        </p:txBody>
      </p:sp>
      <p:sp>
        <p:nvSpPr>
          <p:cNvPr id="22" name="Текст: ДЕЛЕНИЕ · 63 + 77 + 13 М²"/>
          <p:cNvSpPr txBox="1"/>
          <p:nvPr/>
        </p:nvSpPr>
        <p:spPr>
          <a:xfrm>
            <a:off x="996950" y="5700268"/>
            <a:ext cx="1787913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63 + 77 + 13 М²</a:t>
            </a:r>
          </a:p>
        </p:txBody>
      </p:sp>
      <p:sp>
        <p:nvSpPr>
          <p:cNvPr id="23" name="Текст: ДОГОВОР ПОДПИСАН"/>
          <p:cNvSpPr txBox="1"/>
          <p:nvPr/>
        </p:nvSpPr>
        <p:spPr>
          <a:xfrm>
            <a:off x="3359150" y="5706618"/>
            <a:ext cx="116027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 ПОДПИСАН</a:t>
            </a:r>
          </a:p>
        </p:txBody>
      </p:sp>
      <p:sp>
        <p:nvSpPr>
          <p:cNvPr id="24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3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03 · МОСКВА</a:t>
            </a:r>
          </a:p>
        </p:txBody>
      </p:sp>
      <p:sp>
        <p:nvSpPr>
          <p:cNvPr id="4" name="Текст: ул. Буданова"/>
          <p:cNvSpPr txBox="1"/>
          <p:nvPr/>
        </p:nvSpPr>
        <p:spPr>
          <a:xfrm>
            <a:off x="889000" y="1196340"/>
            <a:ext cx="33310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Буданова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24,3 м²"/>
          <p:cNvSpPr txBox="1"/>
          <p:nvPr/>
        </p:nvSpPr>
        <p:spPr>
          <a:xfrm>
            <a:off x="889000" y="2352294"/>
            <a:ext cx="111125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124,3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3702050" y="2352294"/>
            <a:ext cx="61590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86 000 ₽"/>
          <p:cNvSpPr txBox="1"/>
          <p:nvPr/>
        </p:nvSpPr>
        <p:spPr>
          <a:xfrm>
            <a:off x="889000" y="3146044"/>
            <a:ext cx="156963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286 000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20 000 ₽"/>
          <p:cNvSpPr txBox="1"/>
          <p:nvPr/>
        </p:nvSpPr>
        <p:spPr>
          <a:xfrm>
            <a:off x="3702050" y="3146044"/>
            <a:ext cx="149998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86 000 ₽"/>
          <p:cNvSpPr txBox="1"/>
          <p:nvPr/>
        </p:nvSpPr>
        <p:spPr>
          <a:xfrm>
            <a:off x="1003300" y="4017391"/>
            <a:ext cx="18496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286 000 ₽</a:t>
            </a:r>
          </a:p>
        </p:txBody>
      </p:sp>
      <p:sp>
        <p:nvSpPr>
          <p:cNvPr id="14" name="Текст: Наш доход 120 000 ₽"/>
          <p:cNvSpPr txBox="1"/>
          <p:nvPr/>
        </p:nvSpPr>
        <p:spPr>
          <a:xfrm>
            <a:off x="4642941" y="4017391"/>
            <a:ext cx="15809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120 000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Пиво"/>
          <p:cNvSpPr txBox="1"/>
          <p:nvPr/>
        </p:nvSpPr>
        <p:spPr>
          <a:xfrm>
            <a:off x="2000250" y="4449382"/>
            <a:ext cx="44789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Пиво</a:t>
            </a:r>
          </a:p>
        </p:txBody>
      </p:sp>
      <p:sp>
        <p:nvSpPr>
          <p:cNvPr id="17" name="Текст: Прачечная"/>
          <p:cNvSpPr txBox="1"/>
          <p:nvPr/>
        </p:nvSpPr>
        <p:spPr>
          <a:xfrm>
            <a:off x="2665512" y="4449382"/>
            <a:ext cx="85876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Прачечная</a:t>
            </a:r>
          </a:p>
        </p:txBody>
      </p:sp>
      <p:sp>
        <p:nvSpPr>
          <p:cNvPr id="18" name="Текст: Кофейня"/>
          <p:cNvSpPr txBox="1"/>
          <p:nvPr/>
        </p:nvSpPr>
        <p:spPr>
          <a:xfrm>
            <a:off x="3725862" y="4449382"/>
            <a:ext cx="70990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</a:t>
            </a:r>
          </a:p>
        </p:txBody>
      </p:sp>
      <p:sp>
        <p:nvSpPr>
          <p:cNvPr id="19" name="Текст: Массаж"/>
          <p:cNvSpPr txBox="1"/>
          <p:nvPr/>
        </p:nvSpPr>
        <p:spPr>
          <a:xfrm>
            <a:off x="4643140" y="4449382"/>
            <a:ext cx="65735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Массаж</a:t>
            </a:r>
          </a:p>
        </p:txBody>
      </p:sp>
      <p:sp>
        <p:nvSpPr>
          <p:cNvPr id="20" name="Текст: УСЛОВИЯ"/>
          <p:cNvSpPr txBox="1"/>
          <p:nvPr/>
        </p:nvSpPr>
        <p:spPr>
          <a:xfrm>
            <a:off x="889000" y="4868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1" name="Текст: Ремонт за выездом ВкусВилла · 3 витрины "/>
          <p:cNvSpPr txBox="1"/>
          <p:nvPr/>
        </p:nvSpPr>
        <p:spPr>
          <a:xfrm>
            <a:off x="1879600" y="4849241"/>
            <a:ext cx="445493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 за выездом ВкусВилла · 3 витрины · каникулы 1 месяц ·</a:t>
            </a:r>
          </a:p>
        </p:txBody>
      </p:sp>
      <p:sp>
        <p:nvSpPr>
          <p:cNvPr id="22" name="Текст: индексация 5%"/>
          <p:cNvSpPr txBox="1"/>
          <p:nvPr/>
        </p:nvSpPr>
        <p:spPr>
          <a:xfrm>
            <a:off x="1879600" y="5052441"/>
            <a:ext cx="11436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индексация 5%</a:t>
            </a:r>
          </a:p>
        </p:txBody>
      </p:sp>
      <p:sp>
        <p:nvSpPr>
          <p:cNvPr id="23" name="Текст: ВХОД · УЛ. Е. БУДАНОВОЙ, КУНЦЕВО"/>
          <p:cNvSpPr txBox="1"/>
          <p:nvPr/>
        </p:nvSpPr>
        <p:spPr>
          <a:xfrm>
            <a:off x="6769100" y="3420618"/>
            <a:ext cx="227608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ВХОД · УЛ. Е. БУДАНОВОЙ, КУНЦЕВО</a:t>
            </a:r>
          </a:p>
        </p:txBody>
      </p:sp>
      <p:sp>
        <p:nvSpPr>
          <p:cNvPr id="24" name="Текст: ДЕЛЕНИЕ · ПЯТЬ БЛОКОВ"/>
          <p:cNvSpPr txBox="1"/>
          <p:nvPr/>
        </p:nvSpPr>
        <p:spPr>
          <a:xfrm>
            <a:off x="6775450" y="5700268"/>
            <a:ext cx="150896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ПЯТЬ БЛОКОВ</a:t>
            </a:r>
          </a:p>
        </p:txBody>
      </p:sp>
      <p:sp>
        <p:nvSpPr>
          <p:cNvPr id="25" name="Текст: ВНУТРИ · ПЕРЕГОРОДКИ"/>
          <p:cNvSpPr txBox="1"/>
          <p:nvPr/>
        </p:nvSpPr>
        <p:spPr>
          <a:xfrm>
            <a:off x="9137650" y="5706618"/>
            <a:ext cx="143921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ВНУТРИ · ПЕРЕГОРОДКИ</a:t>
            </a:r>
          </a:p>
        </p:txBody>
      </p:sp>
      <p:sp>
        <p:nvSpPr>
          <p:cNvPr id="26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4 · МОСКВА"/>
          <p:cNvSpPr txBox="1"/>
          <p:nvPr/>
        </p:nvSpPr>
        <p:spPr>
          <a:xfrm>
            <a:off x="6096000" y="949960"/>
            <a:ext cx="156921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04 · МОСКВА</a:t>
            </a:r>
          </a:p>
        </p:txBody>
      </p:sp>
      <p:sp>
        <p:nvSpPr>
          <p:cNvPr id="4" name="Текст: Ленинский проспект"/>
          <p:cNvSpPr txBox="1"/>
          <p:nvPr/>
        </p:nvSpPr>
        <p:spPr>
          <a:xfrm>
            <a:off x="6096000" y="1196340"/>
            <a:ext cx="5204675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Ленинский проспект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99,2 м²"/>
          <p:cNvSpPr txBox="1"/>
          <p:nvPr/>
        </p:nvSpPr>
        <p:spPr>
          <a:xfrm>
            <a:off x="6096000" y="2352294"/>
            <a:ext cx="101746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5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99,2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8909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65 000 ₽"/>
          <p:cNvSpPr txBox="1"/>
          <p:nvPr/>
        </p:nvSpPr>
        <p:spPr>
          <a:xfrm>
            <a:off x="6096000" y="3146044"/>
            <a:ext cx="156788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265 000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14 000 ₽"/>
          <p:cNvSpPr txBox="1"/>
          <p:nvPr/>
        </p:nvSpPr>
        <p:spPr>
          <a:xfrm>
            <a:off x="8909050" y="3146044"/>
            <a:ext cx="142352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114 000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65 000 ₽"/>
          <p:cNvSpPr txBox="1"/>
          <p:nvPr/>
        </p:nvSpPr>
        <p:spPr>
          <a:xfrm>
            <a:off x="6210300" y="4017391"/>
            <a:ext cx="18484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265 000 ₽</a:t>
            </a:r>
          </a:p>
        </p:txBody>
      </p:sp>
      <p:sp>
        <p:nvSpPr>
          <p:cNvPr id="14" name="Текст: Наш доход 114 000 ₽"/>
          <p:cNvSpPr txBox="1"/>
          <p:nvPr/>
        </p:nvSpPr>
        <p:spPr>
          <a:xfrm>
            <a:off x="9879905" y="4017391"/>
            <a:ext cx="15498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114 000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Цветы"/>
          <p:cNvSpPr txBox="1"/>
          <p:nvPr/>
        </p:nvSpPr>
        <p:spPr>
          <a:xfrm>
            <a:off x="7207250" y="4449382"/>
            <a:ext cx="526877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Цветы</a:t>
            </a:r>
          </a:p>
        </p:txBody>
      </p:sp>
      <p:sp>
        <p:nvSpPr>
          <p:cNvPr id="17" name="Текст: Ателье"/>
          <p:cNvSpPr txBox="1"/>
          <p:nvPr/>
        </p:nvSpPr>
        <p:spPr>
          <a:xfrm>
            <a:off x="7948513" y="4449382"/>
            <a:ext cx="57958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Ателье</a:t>
            </a:r>
          </a:p>
        </p:txBody>
      </p:sp>
      <p:sp>
        <p:nvSpPr>
          <p:cNvPr id="18" name="Текст: Ozon"/>
          <p:cNvSpPr txBox="1"/>
          <p:nvPr/>
        </p:nvSpPr>
        <p:spPr>
          <a:xfrm>
            <a:off x="8740477" y="4449382"/>
            <a:ext cx="44743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Ozon</a:t>
            </a:r>
          </a:p>
        </p:txBody>
      </p:sp>
      <p:sp>
        <p:nvSpPr>
          <p:cNvPr id="19" name="Текст: Овощи и фрукты"/>
          <p:cNvSpPr txBox="1"/>
          <p:nvPr/>
        </p:nvSpPr>
        <p:spPr>
          <a:xfrm>
            <a:off x="9405342" y="4449382"/>
            <a:ext cx="128512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Овощи и фрукты</a:t>
            </a:r>
          </a:p>
        </p:txBody>
      </p:sp>
      <p:sp>
        <p:nvSpPr>
          <p:cNvPr id="20" name="Текст: Кофе-стойка"/>
          <p:cNvSpPr txBox="1"/>
          <p:nvPr/>
        </p:nvSpPr>
        <p:spPr>
          <a:xfrm>
            <a:off x="7207250" y="4830382"/>
            <a:ext cx="1018704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Кофе-стойка</a:t>
            </a:r>
          </a:p>
        </p:txBody>
      </p:sp>
      <p:sp>
        <p:nvSpPr>
          <p:cNvPr id="21" name="Текст: УСЛОВИЯ"/>
          <p:cNvSpPr txBox="1"/>
          <p:nvPr/>
        </p:nvSpPr>
        <p:spPr>
          <a:xfrm>
            <a:off x="6096000" y="52491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УСЛОВИЯ</a:t>
            </a:r>
          </a:p>
        </p:txBody>
      </p:sp>
      <p:sp>
        <p:nvSpPr>
          <p:cNvPr id="22" name="Текст: С ремонтом · 25 кВт · каникулы 1,5 месяц"/>
          <p:cNvSpPr txBox="1"/>
          <p:nvPr/>
        </p:nvSpPr>
        <p:spPr>
          <a:xfrm>
            <a:off x="7086600" y="5230241"/>
            <a:ext cx="417931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 ремонтом · 25 кВт · каникулы 1,5 месяца · индексация 7%</a:t>
            </a:r>
          </a:p>
        </p:txBody>
      </p:sp>
      <p:sp>
        <p:nvSpPr>
          <p:cNvPr id="23" name="Текст: ФАСАД · ЛЕНИНСКИЙ ПР-Т, 93"/>
          <p:cNvSpPr txBox="1"/>
          <p:nvPr/>
        </p:nvSpPr>
        <p:spPr>
          <a:xfrm>
            <a:off x="990600" y="3420618"/>
            <a:ext cx="185765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ЛЕНИНСКИЙ ПР-Т, 93</a:t>
            </a:r>
          </a:p>
        </p:txBody>
      </p:sp>
      <p:sp>
        <p:nvSpPr>
          <p:cNvPr id="24" name="Текст: ДЕЛЕНИЕ · 26 + 26 + 24 + 24 М²"/>
          <p:cNvSpPr txBox="1"/>
          <p:nvPr/>
        </p:nvSpPr>
        <p:spPr>
          <a:xfrm>
            <a:off x="996950" y="5700268"/>
            <a:ext cx="213660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26 + 26 + 24 + 24 М²</a:t>
            </a:r>
          </a:p>
        </p:txBody>
      </p:sp>
      <p:sp>
        <p:nvSpPr>
          <p:cNvPr id="25" name="Текст: ВНУТРИ"/>
          <p:cNvSpPr txBox="1"/>
          <p:nvPr/>
        </p:nvSpPr>
        <p:spPr>
          <a:xfrm>
            <a:off x="3359150" y="5706618"/>
            <a:ext cx="46288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ВНУТРИ</a:t>
            </a:r>
          </a:p>
        </p:txBody>
      </p:sp>
      <p:sp>
        <p:nvSpPr>
          <p:cNvPr id="26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7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5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05 · МОСКВА</a:t>
            </a:r>
          </a:p>
        </p:txBody>
      </p:sp>
      <p:sp>
        <p:nvSpPr>
          <p:cNvPr id="4" name="Текст: ул. Юлиана Семёнова"/>
          <p:cNvSpPr txBox="1"/>
          <p:nvPr/>
        </p:nvSpPr>
        <p:spPr>
          <a:xfrm>
            <a:off x="889000" y="1196340"/>
            <a:ext cx="547147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Юлиана Семёнова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26,4 м²"/>
          <p:cNvSpPr txBox="1"/>
          <p:nvPr/>
        </p:nvSpPr>
        <p:spPr>
          <a:xfrm>
            <a:off x="889000" y="2352294"/>
            <a:ext cx="111909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126,4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50 000 ₽"/>
          <p:cNvSpPr txBox="1"/>
          <p:nvPr/>
        </p:nvSpPr>
        <p:spPr>
          <a:xfrm>
            <a:off x="889000" y="3146044"/>
            <a:ext cx="158119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250 000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14 000 ₽"/>
          <p:cNvSpPr txBox="1"/>
          <p:nvPr/>
        </p:nvSpPr>
        <p:spPr>
          <a:xfrm>
            <a:off x="3702050" y="3146044"/>
            <a:ext cx="142352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114 000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50 000 ₽"/>
          <p:cNvSpPr txBox="1"/>
          <p:nvPr/>
        </p:nvSpPr>
        <p:spPr>
          <a:xfrm>
            <a:off x="1003300" y="4017391"/>
            <a:ext cx="18541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250 000 ₽</a:t>
            </a:r>
          </a:p>
        </p:txBody>
      </p:sp>
      <p:sp>
        <p:nvSpPr>
          <p:cNvPr id="14" name="Текст: Наш доход 114 000 ₽"/>
          <p:cNvSpPr txBox="1"/>
          <p:nvPr/>
        </p:nvSpPr>
        <p:spPr>
          <a:xfrm>
            <a:off x="4668341" y="4017391"/>
            <a:ext cx="154980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114 000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6586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Кафе-шаурма"/>
          <p:cNvSpPr txBox="1"/>
          <p:nvPr/>
        </p:nvSpPr>
        <p:spPr>
          <a:xfrm>
            <a:off x="2000250" y="4449382"/>
            <a:ext cx="108584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Кафе-шаурма</a:t>
            </a:r>
          </a:p>
        </p:txBody>
      </p:sp>
      <p:sp>
        <p:nvSpPr>
          <p:cNvPr id="17" name="Текст: Эпиляция"/>
          <p:cNvSpPr txBox="1"/>
          <p:nvPr/>
        </p:nvSpPr>
        <p:spPr>
          <a:xfrm>
            <a:off x="3278981" y="4449382"/>
            <a:ext cx="78433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Эпиляция</a:t>
            </a:r>
          </a:p>
        </p:txBody>
      </p:sp>
      <p:sp>
        <p:nvSpPr>
          <p:cNvPr id="18" name="Текст: Лазерная эпиляция"/>
          <p:cNvSpPr txBox="1"/>
          <p:nvPr/>
        </p:nvSpPr>
        <p:spPr>
          <a:xfrm>
            <a:off x="4267795" y="4449382"/>
            <a:ext cx="1498531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Лазерная эпиляция</a:t>
            </a:r>
          </a:p>
        </p:txBody>
      </p:sp>
      <p:sp>
        <p:nvSpPr>
          <p:cNvPr id="19" name="Текст: Кофейня"/>
          <p:cNvSpPr txBox="1"/>
          <p:nvPr/>
        </p:nvSpPr>
        <p:spPr>
          <a:xfrm>
            <a:off x="2000250" y="4830382"/>
            <a:ext cx="70990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</a:t>
            </a:r>
          </a:p>
        </p:txBody>
      </p:sp>
      <p:sp>
        <p:nvSpPr>
          <p:cNvPr id="20" name="Текст: ДОМ · УЛ. ЮЛИАНА СЕМЁНОВА, 8"/>
          <p:cNvSpPr txBox="1"/>
          <p:nvPr/>
        </p:nvSpPr>
        <p:spPr>
          <a:xfrm>
            <a:off x="6769100" y="3420618"/>
            <a:ext cx="199712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 · УЛ. ЮЛИАНА СЕМЁНОВА, 8</a:t>
            </a:r>
          </a:p>
        </p:txBody>
      </p:sp>
      <p:sp>
        <p:nvSpPr>
          <p:cNvPr id="21" name="Текст: ДЕЛЕНИЕ · 20 + 29 + 21 + 23 М²"/>
          <p:cNvSpPr txBox="1"/>
          <p:nvPr/>
        </p:nvSpPr>
        <p:spPr>
          <a:xfrm>
            <a:off x="6775450" y="5700268"/>
            <a:ext cx="213660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20 + 29 + 21 + 23 М²</a:t>
            </a:r>
          </a:p>
        </p:txBody>
      </p:sp>
      <p:sp>
        <p:nvSpPr>
          <p:cNvPr id="22" name="Текст: ДО РЕМОНТА"/>
          <p:cNvSpPr txBox="1"/>
          <p:nvPr/>
        </p:nvSpPr>
        <p:spPr>
          <a:xfrm>
            <a:off x="9137650" y="5706618"/>
            <a:ext cx="74183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РЕМОНТА</a:t>
            </a:r>
          </a:p>
        </p:txBody>
      </p:sp>
      <p:sp>
        <p:nvSpPr>
          <p:cNvPr id="23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6 · МОСКВА"/>
          <p:cNvSpPr txBox="1"/>
          <p:nvPr/>
        </p:nvSpPr>
        <p:spPr>
          <a:xfrm>
            <a:off x="6096000" y="949960"/>
            <a:ext cx="156921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06 · МОСКВА</a:t>
            </a:r>
          </a:p>
        </p:txBody>
      </p:sp>
      <p:sp>
        <p:nvSpPr>
          <p:cNvPr id="4" name="Текст: Винлаб и Самокат"/>
          <p:cNvSpPr txBox="1"/>
          <p:nvPr/>
        </p:nvSpPr>
        <p:spPr>
          <a:xfrm>
            <a:off x="6096000" y="1196340"/>
            <a:ext cx="458263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Винлаб и Самокат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425 м²"/>
          <p:cNvSpPr txBox="1"/>
          <p:nvPr/>
        </p:nvSpPr>
        <p:spPr>
          <a:xfrm>
            <a:off x="6096000" y="2352294"/>
            <a:ext cx="94058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425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8909050" y="2352294"/>
            <a:ext cx="6159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750 000 ₽"/>
          <p:cNvSpPr txBox="1"/>
          <p:nvPr/>
        </p:nvSpPr>
        <p:spPr>
          <a:xfrm>
            <a:off x="6096000" y="3146044"/>
            <a:ext cx="1561899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750 000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90 000 ₽"/>
          <p:cNvSpPr txBox="1"/>
          <p:nvPr/>
        </p:nvSpPr>
        <p:spPr>
          <a:xfrm>
            <a:off x="8909050" y="3146044"/>
            <a:ext cx="151732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190 000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750 000 ₽"/>
          <p:cNvSpPr txBox="1"/>
          <p:nvPr/>
        </p:nvSpPr>
        <p:spPr>
          <a:xfrm>
            <a:off x="6210300" y="4017391"/>
            <a:ext cx="18461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750 000 ₽</a:t>
            </a:r>
          </a:p>
        </p:txBody>
      </p:sp>
      <p:sp>
        <p:nvSpPr>
          <p:cNvPr id="14" name="Текст: Наш доход 190 000 ₽"/>
          <p:cNvSpPr txBox="1"/>
          <p:nvPr/>
        </p:nvSpPr>
        <p:spPr>
          <a:xfrm>
            <a:off x="9841905" y="4017391"/>
            <a:ext cx="158931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190 000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Винлаб"/>
          <p:cNvSpPr txBox="1"/>
          <p:nvPr/>
        </p:nvSpPr>
        <p:spPr>
          <a:xfrm>
            <a:off x="7207250" y="4449382"/>
            <a:ext cx="60616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</a:t>
            </a:r>
          </a:p>
        </p:txBody>
      </p:sp>
      <p:sp>
        <p:nvSpPr>
          <p:cNvPr id="17" name="Текст: Самокат"/>
          <p:cNvSpPr txBox="1"/>
          <p:nvPr/>
        </p:nvSpPr>
        <p:spPr>
          <a:xfrm>
            <a:off x="8024713" y="4449382"/>
            <a:ext cx="69395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Самокат</a:t>
            </a:r>
          </a:p>
        </p:txBody>
      </p:sp>
      <p:sp>
        <p:nvSpPr>
          <p:cNvPr id="18" name="Текст: ПВЗ Ozon"/>
          <p:cNvSpPr txBox="1"/>
          <p:nvPr/>
        </p:nvSpPr>
        <p:spPr>
          <a:xfrm>
            <a:off x="8926612" y="4449382"/>
            <a:ext cx="793903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Ozon</a:t>
            </a:r>
          </a:p>
        </p:txBody>
      </p:sp>
      <p:sp>
        <p:nvSpPr>
          <p:cNvPr id="19" name="Текст: Ремонт телефонов"/>
          <p:cNvSpPr txBox="1"/>
          <p:nvPr/>
        </p:nvSpPr>
        <p:spPr>
          <a:xfrm>
            <a:off x="7207250" y="4830382"/>
            <a:ext cx="143671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Ремонт телефонов</a:t>
            </a:r>
          </a:p>
        </p:txBody>
      </p:sp>
      <p:sp>
        <p:nvSpPr>
          <p:cNvPr id="20" name="Текст: Склад одежды"/>
          <p:cNvSpPr txBox="1"/>
          <p:nvPr/>
        </p:nvSpPr>
        <p:spPr>
          <a:xfrm>
            <a:off x="8823325" y="4830382"/>
            <a:ext cx="113308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Склад одежды</a:t>
            </a:r>
          </a:p>
        </p:txBody>
      </p:sp>
      <p:sp>
        <p:nvSpPr>
          <p:cNvPr id="21" name="Текст: ФАСАД · СУПЕРМАРКЕТ ВИНЛАБ"/>
          <p:cNvSpPr txBox="1"/>
          <p:nvPr/>
        </p:nvSpPr>
        <p:spPr>
          <a:xfrm>
            <a:off x="990600" y="3547618"/>
            <a:ext cx="185765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СУПЕРМАРКЕТ ВИНЛАБ</a:t>
            </a:r>
          </a:p>
        </p:txBody>
      </p:sp>
      <p:sp>
        <p:nvSpPr>
          <p:cNvPr id="22" name="Текст: ДЕЛЕНИЕ · ВИНЛАБ 131 М² · САМОКАТ 164 М²"/>
          <p:cNvSpPr txBox="1"/>
          <p:nvPr/>
        </p:nvSpPr>
        <p:spPr>
          <a:xfrm>
            <a:off x="996950" y="5700268"/>
            <a:ext cx="388005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ВИНЛАБ 131 М² · САМОКАТ 164 М² · СКЛАД 135 М²</a:t>
            </a:r>
          </a:p>
        </p:txBody>
      </p:sp>
      <p:sp>
        <p:nvSpPr>
          <p:cNvPr id="23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7 · МОСКВА"/>
          <p:cNvSpPr txBox="1"/>
          <p:nvPr/>
        </p:nvSpPr>
        <p:spPr>
          <a:xfrm>
            <a:off x="889000" y="949960"/>
            <a:ext cx="156921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07 · МОСКВА</a:t>
            </a:r>
          </a:p>
        </p:txBody>
      </p:sp>
      <p:sp>
        <p:nvSpPr>
          <p:cNvPr id="4" name="Текст: Мята Lounge"/>
          <p:cNvSpPr txBox="1"/>
          <p:nvPr/>
        </p:nvSpPr>
        <p:spPr>
          <a:xfrm>
            <a:off x="889000" y="1196340"/>
            <a:ext cx="334298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Мята Lounge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61 м²"/>
          <p:cNvSpPr txBox="1"/>
          <p:nvPr/>
        </p:nvSpPr>
        <p:spPr>
          <a:xfrm>
            <a:off x="889000" y="2352294"/>
            <a:ext cx="79137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161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8 лет"/>
          <p:cNvSpPr txBox="1"/>
          <p:nvPr/>
        </p:nvSpPr>
        <p:spPr>
          <a:xfrm>
            <a:off x="3702050" y="2352294"/>
            <a:ext cx="65273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8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43 000 ₽"/>
          <p:cNvSpPr txBox="1"/>
          <p:nvPr/>
        </p:nvSpPr>
        <p:spPr>
          <a:xfrm>
            <a:off x="889000" y="3146044"/>
            <a:ext cx="15587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243 000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30 000 ₽"/>
          <p:cNvSpPr txBox="1"/>
          <p:nvPr/>
        </p:nvSpPr>
        <p:spPr>
          <a:xfrm>
            <a:off x="3702050" y="3146044"/>
            <a:ext cx="151030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ИНДЕКСАЦИЯ 5% В ГОД"/>
          <p:cNvSpPr txBox="1"/>
          <p:nvPr/>
        </p:nvSpPr>
        <p:spPr>
          <a:xfrm>
            <a:off x="3702050" y="3534664"/>
            <a:ext cx="158346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ИНДЕКСАЦИЯ 5% В ГОД</a:t>
            </a:r>
          </a:p>
        </p:txBody>
      </p:sp>
      <p:sp>
        <p:nvSpPr>
          <p:cNvPr id="14" name="Текст: Собственнику 243 000 ₽"/>
          <p:cNvSpPr txBox="1"/>
          <p:nvPr/>
        </p:nvSpPr>
        <p:spPr>
          <a:xfrm>
            <a:off x="1003300" y="4309491"/>
            <a:ext cx="184583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243 000 ₽</a:t>
            </a:r>
          </a:p>
        </p:txBody>
      </p:sp>
      <p:sp>
        <p:nvSpPr>
          <p:cNvPr id="15" name="Текст: Наш доход 130 000 ₽"/>
          <p:cNvSpPr txBox="1"/>
          <p:nvPr/>
        </p:nvSpPr>
        <p:spPr>
          <a:xfrm>
            <a:off x="4484390" y="4309491"/>
            <a:ext cx="15871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130 000 ₽</a:t>
            </a:r>
          </a:p>
        </p:txBody>
      </p:sp>
      <p:sp>
        <p:nvSpPr>
          <p:cNvPr id="16" name="Текст: АРЕНДАТОРЫ"/>
          <p:cNvSpPr txBox="1"/>
          <p:nvPr/>
        </p:nvSpPr>
        <p:spPr>
          <a:xfrm>
            <a:off x="889000" y="47602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7" name="Текст: Мята Lounge"/>
          <p:cNvSpPr txBox="1"/>
          <p:nvPr/>
        </p:nvSpPr>
        <p:spPr>
          <a:xfrm>
            <a:off x="2000250" y="4741482"/>
            <a:ext cx="101581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18" name="Текст: ФАСАД · ВЕЧЕР"/>
          <p:cNvSpPr txBox="1"/>
          <p:nvPr/>
        </p:nvSpPr>
        <p:spPr>
          <a:xfrm>
            <a:off x="6769100" y="3547618"/>
            <a:ext cx="95105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ВЕЧЕР</a:t>
            </a:r>
          </a:p>
        </p:txBody>
      </p:sp>
      <p:sp>
        <p:nvSpPr>
          <p:cNvPr id="19" name="Текст: ПЛАН БТИ · 161 М²"/>
          <p:cNvSpPr txBox="1"/>
          <p:nvPr/>
        </p:nvSpPr>
        <p:spPr>
          <a:xfrm>
            <a:off x="6775450" y="5700268"/>
            <a:ext cx="1230008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ПЛАН БТИ · 161 М²</a:t>
            </a:r>
          </a:p>
        </p:txBody>
      </p:sp>
      <p:sp>
        <p:nvSpPr>
          <p:cNvPr id="20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8 · ОДИНЦОВО"/>
          <p:cNvSpPr txBox="1"/>
          <p:nvPr/>
        </p:nvSpPr>
        <p:spPr>
          <a:xfrm>
            <a:off x="6096000" y="949960"/>
            <a:ext cx="1759408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08 · ОДИНЦОВО</a:t>
            </a:r>
          </a:p>
        </p:txBody>
      </p:sp>
      <p:sp>
        <p:nvSpPr>
          <p:cNvPr id="4" name="Текст: Малти-Кофе и Ozon"/>
          <p:cNvSpPr txBox="1"/>
          <p:nvPr/>
        </p:nvSpPr>
        <p:spPr>
          <a:xfrm>
            <a:off x="6096000" y="1196340"/>
            <a:ext cx="50186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Малти-Кофе и Ozon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6096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98 м²"/>
          <p:cNvSpPr txBox="1"/>
          <p:nvPr/>
        </p:nvSpPr>
        <p:spPr>
          <a:xfrm>
            <a:off x="6096000" y="2352294"/>
            <a:ext cx="76929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98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890905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7 лет"/>
          <p:cNvSpPr txBox="1"/>
          <p:nvPr/>
        </p:nvSpPr>
        <p:spPr>
          <a:xfrm>
            <a:off x="8909050" y="2352294"/>
            <a:ext cx="6159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7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6096000" y="2963164"/>
            <a:ext cx="166429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190 000 ₽"/>
          <p:cNvSpPr txBox="1"/>
          <p:nvPr/>
        </p:nvSpPr>
        <p:spPr>
          <a:xfrm>
            <a:off x="6096000" y="3146044"/>
            <a:ext cx="151732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190 000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8909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00 000 ₽"/>
          <p:cNvSpPr txBox="1"/>
          <p:nvPr/>
        </p:nvSpPr>
        <p:spPr>
          <a:xfrm>
            <a:off x="8909050" y="3146044"/>
            <a:ext cx="1531561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190 000 ₽"/>
          <p:cNvSpPr txBox="1"/>
          <p:nvPr/>
        </p:nvSpPr>
        <p:spPr>
          <a:xfrm>
            <a:off x="6210300" y="4017391"/>
            <a:ext cx="18277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190 000 ₽</a:t>
            </a:r>
          </a:p>
        </p:txBody>
      </p:sp>
      <p:sp>
        <p:nvSpPr>
          <p:cNvPr id="14" name="Текст: Наш доход 100 000 ₽"/>
          <p:cNvSpPr txBox="1"/>
          <p:nvPr/>
        </p:nvSpPr>
        <p:spPr>
          <a:xfrm>
            <a:off x="9710638" y="4017391"/>
            <a:ext cx="15954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100 000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6096000" y="46586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Кофейня Малти-Кофе"/>
          <p:cNvSpPr txBox="1"/>
          <p:nvPr/>
        </p:nvSpPr>
        <p:spPr>
          <a:xfrm>
            <a:off x="7207250" y="4449382"/>
            <a:ext cx="1660599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Кофейня Малти-Кофе</a:t>
            </a:r>
          </a:p>
        </p:txBody>
      </p:sp>
      <p:sp>
        <p:nvSpPr>
          <p:cNvPr id="17" name="Текст: Цветочный магазин"/>
          <p:cNvSpPr txBox="1"/>
          <p:nvPr/>
        </p:nvSpPr>
        <p:spPr>
          <a:xfrm>
            <a:off x="9038630" y="4449382"/>
            <a:ext cx="1511745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Цветочный магазин</a:t>
            </a:r>
          </a:p>
        </p:txBody>
      </p:sp>
      <p:sp>
        <p:nvSpPr>
          <p:cNvPr id="18" name="Текст: ПВЗ Ozon"/>
          <p:cNvSpPr txBox="1"/>
          <p:nvPr/>
        </p:nvSpPr>
        <p:spPr>
          <a:xfrm>
            <a:off x="7207250" y="4830382"/>
            <a:ext cx="793903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Ozon</a:t>
            </a:r>
          </a:p>
        </p:txBody>
      </p:sp>
      <p:sp>
        <p:nvSpPr>
          <p:cNvPr id="19" name="Текст: ФАСАД · ТРИ ВХОДА"/>
          <p:cNvSpPr txBox="1"/>
          <p:nvPr/>
        </p:nvSpPr>
        <p:spPr>
          <a:xfrm>
            <a:off x="990600" y="3420618"/>
            <a:ext cx="123000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ТРИ ВХОДА</a:t>
            </a:r>
          </a:p>
        </p:txBody>
      </p:sp>
      <p:sp>
        <p:nvSpPr>
          <p:cNvPr id="20" name="Текст: ДЕЛЕНИЕ · ТРИ БЛОКА"/>
          <p:cNvSpPr txBox="1"/>
          <p:nvPr/>
        </p:nvSpPr>
        <p:spPr>
          <a:xfrm>
            <a:off x="996950" y="5700268"/>
            <a:ext cx="1369485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ТРИ БЛОКА</a:t>
            </a:r>
          </a:p>
        </p:txBody>
      </p:sp>
      <p:sp>
        <p:nvSpPr>
          <p:cNvPr id="21" name="Текст: КОФЕЙНЯ"/>
          <p:cNvSpPr txBox="1"/>
          <p:nvPr/>
        </p:nvSpPr>
        <p:spPr>
          <a:xfrm>
            <a:off x="3359150" y="5706618"/>
            <a:ext cx="532628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КОФЕЙНЯ</a:t>
            </a:r>
          </a:p>
        </p:txBody>
      </p:sp>
      <p:sp>
        <p:nvSpPr>
          <p:cNvPr id="22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3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ЕЙС 09 · ЛЮБЕРЦЫ"/>
          <p:cNvSpPr txBox="1"/>
          <p:nvPr/>
        </p:nvSpPr>
        <p:spPr>
          <a:xfrm>
            <a:off x="889000" y="949960"/>
            <a:ext cx="166430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КЕЙС 09 · ЛЮБЕРЦЫ</a:t>
            </a:r>
          </a:p>
        </p:txBody>
      </p:sp>
      <p:sp>
        <p:nvSpPr>
          <p:cNvPr id="4" name="Текст: ул. Инициативная"/>
          <p:cNvSpPr txBox="1"/>
          <p:nvPr/>
        </p:nvSpPr>
        <p:spPr>
          <a:xfrm>
            <a:off x="889000" y="1196340"/>
            <a:ext cx="445498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ул. Инициативная</a:t>
            </a:r>
          </a:p>
        </p:txBody>
      </p:sp>
      <p:sp>
        <p:nvSpPr>
          <p:cNvPr id="5" name="Текст: ПЛОЩАДЬ"/>
          <p:cNvSpPr txBox="1"/>
          <p:nvPr/>
        </p:nvSpPr>
        <p:spPr>
          <a:xfrm>
            <a:off x="889000" y="217576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ПЛОЩАДЬ</a:t>
            </a:r>
          </a:p>
        </p:txBody>
      </p:sp>
      <p:sp>
        <p:nvSpPr>
          <p:cNvPr id="6" name="Текст: 176 м²"/>
          <p:cNvSpPr txBox="1"/>
          <p:nvPr/>
        </p:nvSpPr>
        <p:spPr>
          <a:xfrm>
            <a:off x="889000" y="2352294"/>
            <a:ext cx="83750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5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176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7" name="Текст: ДОГОВОР"/>
          <p:cNvSpPr txBox="1"/>
          <p:nvPr/>
        </p:nvSpPr>
        <p:spPr>
          <a:xfrm>
            <a:off x="3702050" y="2175764"/>
            <a:ext cx="61347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</a:t>
            </a:r>
          </a:p>
        </p:txBody>
      </p:sp>
      <p:sp>
        <p:nvSpPr>
          <p:cNvPr id="8" name="Текст: 10 лет"/>
          <p:cNvSpPr txBox="1"/>
          <p:nvPr/>
        </p:nvSpPr>
        <p:spPr>
          <a:xfrm>
            <a:off x="3702050" y="2352294"/>
            <a:ext cx="77088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9" name="Текст: СОБСТВЕННИКУ В МЕСЯЦ"/>
          <p:cNvSpPr txBox="1"/>
          <p:nvPr/>
        </p:nvSpPr>
        <p:spPr>
          <a:xfrm>
            <a:off x="889000" y="2963164"/>
            <a:ext cx="166429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СОБСТВЕННИКУ В МЕСЯЦ</a:t>
            </a:r>
          </a:p>
        </p:txBody>
      </p:sp>
      <p:sp>
        <p:nvSpPr>
          <p:cNvPr id="10" name="Текст: 214 000 ₽"/>
          <p:cNvSpPr txBox="1"/>
          <p:nvPr/>
        </p:nvSpPr>
        <p:spPr>
          <a:xfrm>
            <a:off x="889000" y="3146044"/>
            <a:ext cx="148915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214 000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1" name="Текст: ДОХОД В МЕСЯЦ"/>
          <p:cNvSpPr txBox="1"/>
          <p:nvPr/>
        </p:nvSpPr>
        <p:spPr>
          <a:xfrm>
            <a:off x="3702050" y="2963164"/>
            <a:ext cx="109846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</a:t>
            </a:r>
          </a:p>
        </p:txBody>
      </p:sp>
      <p:sp>
        <p:nvSpPr>
          <p:cNvPr id="12" name="Текст: 120 000 ₽"/>
          <p:cNvSpPr txBox="1"/>
          <p:nvPr/>
        </p:nvSpPr>
        <p:spPr>
          <a:xfrm>
            <a:off x="3702050" y="3146044"/>
            <a:ext cx="149998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120 000 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₽</a:t>
            </a:r>
          </a:p>
        </p:txBody>
      </p:sp>
      <p:sp>
        <p:nvSpPr>
          <p:cNvPr id="13" name="Текст: Собственнику 214 000 ₽"/>
          <p:cNvSpPr txBox="1"/>
          <p:nvPr/>
        </p:nvSpPr>
        <p:spPr>
          <a:xfrm>
            <a:off x="1003300" y="4017391"/>
            <a:ext cx="18154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Собственнику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214 000 ₽</a:t>
            </a:r>
          </a:p>
        </p:txBody>
      </p:sp>
      <p:sp>
        <p:nvSpPr>
          <p:cNvPr id="14" name="Текст: Наш доход 120 000 ₽"/>
          <p:cNvSpPr txBox="1"/>
          <p:nvPr/>
        </p:nvSpPr>
        <p:spPr>
          <a:xfrm>
            <a:off x="4428331" y="4017391"/>
            <a:ext cx="15809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 120 000 ₽</a:t>
            </a:r>
          </a:p>
        </p:txBody>
      </p:sp>
      <p:sp>
        <p:nvSpPr>
          <p:cNvPr id="15" name="Текст: АРЕНДАТОРЫ"/>
          <p:cNvSpPr txBox="1"/>
          <p:nvPr/>
        </p:nvSpPr>
        <p:spPr>
          <a:xfrm>
            <a:off x="889000" y="4468114"/>
            <a:ext cx="85596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АРЕНДАТОРЫ</a:t>
            </a:r>
          </a:p>
        </p:txBody>
      </p:sp>
      <p:sp>
        <p:nvSpPr>
          <p:cNvPr id="16" name="Текст: Аптека Здравсити"/>
          <p:cNvSpPr txBox="1"/>
          <p:nvPr/>
        </p:nvSpPr>
        <p:spPr>
          <a:xfrm>
            <a:off x="2000250" y="4449382"/>
            <a:ext cx="1401168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Аптека Здравсити</a:t>
            </a:r>
          </a:p>
        </p:txBody>
      </p:sp>
      <p:sp>
        <p:nvSpPr>
          <p:cNvPr id="17" name="Текст: ПВЗ Wildberries"/>
          <p:cNvSpPr txBox="1"/>
          <p:nvPr/>
        </p:nvSpPr>
        <p:spPr>
          <a:xfrm>
            <a:off x="3582194" y="4449382"/>
            <a:ext cx="1216770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ПВЗ Wildberries</a:t>
            </a:r>
          </a:p>
        </p:txBody>
      </p:sp>
      <p:sp>
        <p:nvSpPr>
          <p:cNvPr id="18" name="Текст: ФАСАД · ВХОД С УЛИЦЫ"/>
          <p:cNvSpPr txBox="1"/>
          <p:nvPr/>
        </p:nvSpPr>
        <p:spPr>
          <a:xfrm>
            <a:off x="6769100" y="3547618"/>
            <a:ext cx="14392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ФАСАД · ВХОД С УЛИЦЫ</a:t>
            </a:r>
          </a:p>
        </p:txBody>
      </p:sp>
      <p:sp>
        <p:nvSpPr>
          <p:cNvPr id="19" name="Текст: ДЕЛЕНИЕ · 41 + 57 + 52 М²"/>
          <p:cNvSpPr txBox="1"/>
          <p:nvPr/>
        </p:nvSpPr>
        <p:spPr>
          <a:xfrm>
            <a:off x="6775450" y="5700268"/>
            <a:ext cx="1787914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ДЕЛЕНИЕ · 41 + 57 + 52 М²</a:t>
            </a:r>
          </a:p>
        </p:txBody>
      </p:sp>
      <p:sp>
        <p:nvSpPr>
          <p:cNvPr id="20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ИТОГ ПО КЕЙСАМ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ИТОГ ПО КЕЙСАМ</a:t>
            </a:r>
          </a:p>
        </p:txBody>
      </p:sp>
      <p:sp>
        <p:nvSpPr>
          <p:cNvPr id="4" name="Текст: Сколько платим и сколько остаётся"/>
          <p:cNvSpPr txBox="1"/>
          <p:nvPr/>
        </p:nvSpPr>
        <p:spPr>
          <a:xfrm>
            <a:off x="889000" y="1196340"/>
            <a:ext cx="875921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4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Сколько платим и сколько остаётся</a:t>
            </a:r>
          </a:p>
        </p:txBody>
      </p:sp>
      <p:sp>
        <p:nvSpPr>
          <p:cNvPr id="5" name="Текст: Платёж собственнику"/>
          <p:cNvSpPr txBox="1"/>
          <p:nvPr/>
        </p:nvSpPr>
        <p:spPr>
          <a:xfrm>
            <a:off x="1028700" y="2036000"/>
            <a:ext cx="1534783" cy="1700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Платёж собственнику</a:t>
            </a:r>
          </a:p>
        </p:txBody>
      </p:sp>
      <p:sp>
        <p:nvSpPr>
          <p:cNvPr id="6" name="Текст: Наш доход"/>
          <p:cNvSpPr txBox="1"/>
          <p:nvPr/>
        </p:nvSpPr>
        <p:spPr>
          <a:xfrm>
            <a:off x="2757884" y="2036000"/>
            <a:ext cx="787554" cy="1700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Наш доход</a:t>
            </a:r>
          </a:p>
        </p:txBody>
      </p:sp>
      <p:sp>
        <p:nvSpPr>
          <p:cNvPr id="7" name="Текст: ₽ В МЕСЯЦ"/>
          <p:cNvSpPr txBox="1"/>
          <p:nvPr/>
        </p:nvSpPr>
        <p:spPr>
          <a:xfrm>
            <a:off x="7059414" y="2053844"/>
            <a:ext cx="762655" cy="1337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E5850"/>
                </a:solidFill>
                <a:latin typeface="Arial"/>
                <a:cs typeface="Arial"/>
                <a:ea typeface="Arial"/>
              </a:rPr>
              <a:t>₽</a:t>
            </a: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 В МЕСЯЦ</a:t>
            </a:r>
          </a:p>
        </p:txBody>
      </p:sp>
      <p:sp>
        <p:nvSpPr>
          <p:cNvPr id="8" name="Текст: 1 151тыс. ₽"/>
          <p:cNvSpPr txBox="1"/>
          <p:nvPr/>
        </p:nvSpPr>
        <p:spPr>
          <a:xfrm>
            <a:off x="8255000" y="2090928"/>
            <a:ext cx="1761621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1 151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9" name="Текст: ДОХОД В МЕСЯЦ ПО ДЕВЯТИ ОБЪЕКТАМ"/>
          <p:cNvSpPr txBox="1"/>
          <p:nvPr/>
        </p:nvSpPr>
        <p:spPr>
          <a:xfrm>
            <a:off x="8255000" y="2702814"/>
            <a:ext cx="263429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ДОХОД В МЕСЯЦ ПО ДЕВЯТИ ОБЪЕКТАМ</a:t>
            </a:r>
          </a:p>
        </p:txBody>
      </p:sp>
      <p:sp>
        <p:nvSpPr>
          <p:cNvPr id="10" name="Текст: 13,8млн ₽"/>
          <p:cNvSpPr txBox="1"/>
          <p:nvPr/>
        </p:nvSpPr>
        <p:spPr>
          <a:xfrm>
            <a:off x="8255000" y="3106928"/>
            <a:ext cx="1700101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13,8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1" name="Текст: В ГОД ПРИ ТЕКУЩИХ АРЕНДАТОРАХ (РАСЧЁТ)"/>
          <p:cNvSpPr txBox="1"/>
          <p:nvPr/>
        </p:nvSpPr>
        <p:spPr>
          <a:xfrm>
            <a:off x="8255000" y="3712464"/>
            <a:ext cx="311928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 ГОД ПРИ ТЕКУЩИХ АРЕНДАТОРАХ (РАСЧЁТ)</a:t>
            </a:r>
          </a:p>
        </p:txBody>
      </p:sp>
      <p:sp>
        <p:nvSpPr>
          <p:cNvPr id="12" name="Текст: 1 477м²"/>
          <p:cNvSpPr txBox="1"/>
          <p:nvPr/>
        </p:nvSpPr>
        <p:spPr>
          <a:xfrm>
            <a:off x="8255000" y="4116578"/>
            <a:ext cx="1550845" cy="6153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800" b="0" spc="-123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1 477</a:t>
            </a:r>
            <a:r>
              <a:rPr sz="16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м²</a:t>
            </a:r>
          </a:p>
        </p:txBody>
      </p:sp>
      <p:sp>
        <p:nvSpPr>
          <p:cNvPr id="13" name="Текст: ОБЩАЯ ПЛОЩАДЬ ДЕВЯТИ ОБЪЕКТОВ"/>
          <p:cNvSpPr txBox="1"/>
          <p:nvPr/>
        </p:nvSpPr>
        <p:spPr>
          <a:xfrm>
            <a:off x="8255000" y="4728464"/>
            <a:ext cx="2391792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ОБЩАЯ ПЛОЩАДЬ ДЕВЯТИ ОБЪЕКТОВ</a:t>
            </a:r>
          </a:p>
        </p:txBody>
      </p:sp>
      <p:sp>
        <p:nvSpPr>
          <p:cNvPr id="14" name="Текст: 0"/>
          <p:cNvSpPr txBox="1"/>
          <p:nvPr/>
        </p:nvSpPr>
        <p:spPr>
          <a:xfrm>
            <a:off x="2445941" y="5846318"/>
            <a:ext cx="11419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</a:t>
            </a:r>
          </a:p>
        </p:txBody>
      </p:sp>
      <p:sp>
        <p:nvSpPr>
          <p:cNvPr id="15" name="Текст: 200 тыс."/>
          <p:cNvSpPr txBox="1"/>
          <p:nvPr/>
        </p:nvSpPr>
        <p:spPr>
          <a:xfrm>
            <a:off x="30962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200 тыс.</a:t>
            </a:r>
          </a:p>
        </p:txBody>
      </p:sp>
      <p:sp>
        <p:nvSpPr>
          <p:cNvPr id="16" name="Текст: 400 тыс."/>
          <p:cNvSpPr txBox="1"/>
          <p:nvPr/>
        </p:nvSpPr>
        <p:spPr>
          <a:xfrm>
            <a:off x="39598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400 тыс.</a:t>
            </a:r>
          </a:p>
        </p:txBody>
      </p:sp>
      <p:sp>
        <p:nvSpPr>
          <p:cNvPr id="17" name="Текст: 600 тыс."/>
          <p:cNvSpPr txBox="1"/>
          <p:nvPr/>
        </p:nvSpPr>
        <p:spPr>
          <a:xfrm>
            <a:off x="48234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600 тыс.</a:t>
            </a:r>
          </a:p>
        </p:txBody>
      </p:sp>
      <p:sp>
        <p:nvSpPr>
          <p:cNvPr id="18" name="Текст: 800 тыс."/>
          <p:cNvSpPr txBox="1"/>
          <p:nvPr/>
        </p:nvSpPr>
        <p:spPr>
          <a:xfrm>
            <a:off x="5687020" y="5846318"/>
            <a:ext cx="557987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800 тыс.</a:t>
            </a:r>
          </a:p>
        </p:txBody>
      </p:sp>
      <p:sp>
        <p:nvSpPr>
          <p:cNvPr id="19" name="Текст: 1 000 тыс."/>
          <p:cNvSpPr txBox="1"/>
          <p:nvPr/>
        </p:nvSpPr>
        <p:spPr>
          <a:xfrm>
            <a:off x="6489700" y="5846318"/>
            <a:ext cx="684783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1 000 тыс.</a:t>
            </a:r>
          </a:p>
        </p:txBody>
      </p:sp>
      <p:sp>
        <p:nvSpPr>
          <p:cNvPr id="20" name="Текст: Садовая"/>
          <p:cNvSpPr txBox="1"/>
          <p:nvPr/>
        </p:nvSpPr>
        <p:spPr>
          <a:xfrm>
            <a:off x="889000" y="2417572"/>
            <a:ext cx="72753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Садовая</a:t>
            </a:r>
          </a:p>
        </p:txBody>
      </p:sp>
      <p:sp>
        <p:nvSpPr>
          <p:cNvPr id="21" name="Текст: СПБ"/>
          <p:cNvSpPr txBox="1"/>
          <p:nvPr/>
        </p:nvSpPr>
        <p:spPr>
          <a:xfrm>
            <a:off x="889000" y="2614295"/>
            <a:ext cx="237820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СПБ</a:t>
            </a:r>
          </a:p>
        </p:txBody>
      </p:sp>
      <p:sp>
        <p:nvSpPr>
          <p:cNvPr id="22" name="Текст: +130 000"/>
          <p:cNvSpPr txBox="1"/>
          <p:nvPr/>
        </p:nvSpPr>
        <p:spPr>
          <a:xfrm>
            <a:off x="3903960" y="2448941"/>
            <a:ext cx="71882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+130 000</a:t>
            </a:r>
          </a:p>
        </p:txBody>
      </p:sp>
      <p:sp>
        <p:nvSpPr>
          <p:cNvPr id="23" name="Текст: Восстания"/>
          <p:cNvSpPr txBox="1"/>
          <p:nvPr/>
        </p:nvSpPr>
        <p:spPr>
          <a:xfrm>
            <a:off x="889000" y="2798572"/>
            <a:ext cx="8863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Восстания</a:t>
            </a:r>
          </a:p>
        </p:txBody>
      </p:sp>
      <p:sp>
        <p:nvSpPr>
          <p:cNvPr id="24" name="Текст: СПБ"/>
          <p:cNvSpPr txBox="1"/>
          <p:nvPr/>
        </p:nvSpPr>
        <p:spPr>
          <a:xfrm>
            <a:off x="889000" y="2995295"/>
            <a:ext cx="237820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СПБ</a:t>
            </a:r>
          </a:p>
        </p:txBody>
      </p:sp>
      <p:sp>
        <p:nvSpPr>
          <p:cNvPr id="25" name="Текст: +133 000"/>
          <p:cNvSpPr txBox="1"/>
          <p:nvPr/>
        </p:nvSpPr>
        <p:spPr>
          <a:xfrm>
            <a:off x="4737298" y="2829941"/>
            <a:ext cx="71013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+133 000</a:t>
            </a:r>
          </a:p>
        </p:txBody>
      </p:sp>
      <p:sp>
        <p:nvSpPr>
          <p:cNvPr id="26" name="Текст: Буданова"/>
          <p:cNvSpPr txBox="1"/>
          <p:nvPr/>
        </p:nvSpPr>
        <p:spPr>
          <a:xfrm>
            <a:off x="889000" y="3179572"/>
            <a:ext cx="81154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Буданова</a:t>
            </a:r>
          </a:p>
        </p:txBody>
      </p:sp>
      <p:sp>
        <p:nvSpPr>
          <p:cNvPr id="27" name="Текст: МОСКВА"/>
          <p:cNvSpPr txBox="1"/>
          <p:nvPr/>
        </p:nvSpPr>
        <p:spPr>
          <a:xfrm>
            <a:off x="889000" y="3376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28" name="Текст: +120 000"/>
          <p:cNvSpPr txBox="1"/>
          <p:nvPr/>
        </p:nvSpPr>
        <p:spPr>
          <a:xfrm>
            <a:off x="4318496" y="3210941"/>
            <a:ext cx="7130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+120 000</a:t>
            </a:r>
          </a:p>
        </p:txBody>
      </p:sp>
      <p:sp>
        <p:nvSpPr>
          <p:cNvPr id="29" name="Текст: Ленинский пр-т"/>
          <p:cNvSpPr txBox="1"/>
          <p:nvPr/>
        </p:nvSpPr>
        <p:spPr>
          <a:xfrm>
            <a:off x="889000" y="3560572"/>
            <a:ext cx="129135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Ленинский пр-т</a:t>
            </a:r>
          </a:p>
        </p:txBody>
      </p:sp>
      <p:sp>
        <p:nvSpPr>
          <p:cNvPr id="30" name="Текст: МОСКВА"/>
          <p:cNvSpPr txBox="1"/>
          <p:nvPr/>
        </p:nvSpPr>
        <p:spPr>
          <a:xfrm>
            <a:off x="889000" y="3757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1" name="Текст: +114 000"/>
          <p:cNvSpPr txBox="1"/>
          <p:nvPr/>
        </p:nvSpPr>
        <p:spPr>
          <a:xfrm>
            <a:off x="4201914" y="3591941"/>
            <a:ext cx="6809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+114 000</a:t>
            </a:r>
          </a:p>
        </p:txBody>
      </p:sp>
      <p:sp>
        <p:nvSpPr>
          <p:cNvPr id="32" name="Текст: Юлиана Семёнова"/>
          <p:cNvSpPr txBox="1"/>
          <p:nvPr/>
        </p:nvSpPr>
        <p:spPr>
          <a:xfrm>
            <a:off x="889000" y="3941572"/>
            <a:ext cx="1494721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Юлиана Семёнова</a:t>
            </a:r>
          </a:p>
        </p:txBody>
      </p:sp>
      <p:sp>
        <p:nvSpPr>
          <p:cNvPr id="33" name="Текст: МОСКВА"/>
          <p:cNvSpPr txBox="1"/>
          <p:nvPr/>
        </p:nvSpPr>
        <p:spPr>
          <a:xfrm>
            <a:off x="889000" y="4138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4" name="Текст: +114 000"/>
          <p:cNvSpPr txBox="1"/>
          <p:nvPr/>
        </p:nvSpPr>
        <p:spPr>
          <a:xfrm>
            <a:off x="4137124" y="3972941"/>
            <a:ext cx="68093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+114 000</a:t>
            </a:r>
          </a:p>
        </p:txBody>
      </p:sp>
      <p:sp>
        <p:nvSpPr>
          <p:cNvPr id="35" name="Текст: Винлаб и Самокат"/>
          <p:cNvSpPr txBox="1"/>
          <p:nvPr/>
        </p:nvSpPr>
        <p:spPr>
          <a:xfrm>
            <a:off x="889000" y="4322572"/>
            <a:ext cx="146856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Винлаб и Самокат</a:t>
            </a:r>
          </a:p>
        </p:txBody>
      </p:sp>
      <p:sp>
        <p:nvSpPr>
          <p:cNvPr id="36" name="Текст: МОСКВА"/>
          <p:cNvSpPr txBox="1"/>
          <p:nvPr/>
        </p:nvSpPr>
        <p:spPr>
          <a:xfrm>
            <a:off x="889000" y="4519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37" name="Текст: +190 000"/>
          <p:cNvSpPr txBox="1"/>
          <p:nvPr/>
        </p:nvSpPr>
        <p:spPr>
          <a:xfrm>
            <a:off x="6624241" y="4353941"/>
            <a:ext cx="72126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+190 000</a:t>
            </a:r>
          </a:p>
        </p:txBody>
      </p:sp>
      <p:sp>
        <p:nvSpPr>
          <p:cNvPr id="38" name="Текст: Мята Lounge"/>
          <p:cNvSpPr txBox="1"/>
          <p:nvPr/>
        </p:nvSpPr>
        <p:spPr>
          <a:xfrm>
            <a:off x="889000" y="4703572"/>
            <a:ext cx="106541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Мята Lounge</a:t>
            </a:r>
          </a:p>
        </p:txBody>
      </p:sp>
      <p:sp>
        <p:nvSpPr>
          <p:cNvPr id="39" name="Текст: МОСКВА"/>
          <p:cNvSpPr txBox="1"/>
          <p:nvPr/>
        </p:nvSpPr>
        <p:spPr>
          <a:xfrm>
            <a:off x="889000" y="4900295"/>
            <a:ext cx="433959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МОСКВА</a:t>
            </a:r>
          </a:p>
        </p:txBody>
      </p:sp>
      <p:sp>
        <p:nvSpPr>
          <p:cNvPr id="40" name="Текст: +130 000"/>
          <p:cNvSpPr txBox="1"/>
          <p:nvPr/>
        </p:nvSpPr>
        <p:spPr>
          <a:xfrm>
            <a:off x="4175919" y="4734941"/>
            <a:ext cx="71882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+130 000</a:t>
            </a:r>
          </a:p>
        </p:txBody>
      </p:sp>
      <p:sp>
        <p:nvSpPr>
          <p:cNvPr id="41" name="Текст: Малти-Кофе и Ozon"/>
          <p:cNvSpPr txBox="1"/>
          <p:nvPr/>
        </p:nvSpPr>
        <p:spPr>
          <a:xfrm>
            <a:off x="889000" y="5084572"/>
            <a:ext cx="1603830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Малти-Кофе и Ozon</a:t>
            </a:r>
          </a:p>
        </p:txBody>
      </p:sp>
      <p:sp>
        <p:nvSpPr>
          <p:cNvPr id="42" name="Текст: ОДИНЦОВО"/>
          <p:cNvSpPr txBox="1"/>
          <p:nvPr/>
        </p:nvSpPr>
        <p:spPr>
          <a:xfrm>
            <a:off x="889000" y="5281295"/>
            <a:ext cx="564718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ОДИНЦОВО</a:t>
            </a:r>
          </a:p>
        </p:txBody>
      </p:sp>
      <p:sp>
        <p:nvSpPr>
          <p:cNvPr id="43" name="Текст: +100 000"/>
          <p:cNvSpPr txBox="1"/>
          <p:nvPr/>
        </p:nvSpPr>
        <p:spPr>
          <a:xfrm>
            <a:off x="3817541" y="5115941"/>
            <a:ext cx="72751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+100 000</a:t>
            </a:r>
          </a:p>
        </p:txBody>
      </p:sp>
      <p:sp>
        <p:nvSpPr>
          <p:cNvPr id="44" name="Текст: ул. Инициативная"/>
          <p:cNvSpPr txBox="1"/>
          <p:nvPr/>
        </p:nvSpPr>
        <p:spPr>
          <a:xfrm>
            <a:off x="889000" y="5465572"/>
            <a:ext cx="1431576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ул. Инициативная</a:t>
            </a:r>
          </a:p>
        </p:txBody>
      </p:sp>
      <p:sp>
        <p:nvSpPr>
          <p:cNvPr id="45" name="Текст: ЛЮБЕРЦЫ"/>
          <p:cNvSpPr txBox="1"/>
          <p:nvPr/>
        </p:nvSpPr>
        <p:spPr>
          <a:xfrm>
            <a:off x="889000" y="5662295"/>
            <a:ext cx="499338" cy="125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" b="0" spc="45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ЛЮБЕРЦЫ</a:t>
            </a:r>
          </a:p>
        </p:txBody>
      </p:sp>
      <p:sp>
        <p:nvSpPr>
          <p:cNvPr id="46" name="Текст: +120 000"/>
          <p:cNvSpPr txBox="1"/>
          <p:nvPr/>
        </p:nvSpPr>
        <p:spPr>
          <a:xfrm>
            <a:off x="4007545" y="5496941"/>
            <a:ext cx="71309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+120 000</a:t>
            </a:r>
          </a:p>
        </p:txBody>
      </p:sp>
      <p:sp>
        <p:nvSpPr>
          <p:cNvPr id="47" name="Текст: 05 — КЕЙСЫ"/>
          <p:cNvSpPr txBox="1"/>
          <p:nvPr/>
        </p:nvSpPr>
        <p:spPr>
          <a:xfrm>
            <a:off x="889000" y="309118"/>
            <a:ext cx="817920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 — КЕЙСЫ</a:t>
            </a:r>
          </a:p>
        </p:txBody>
      </p:sp>
      <p:sp>
        <p:nvSpPr>
          <p:cNvPr id="4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06"/>
          <p:cNvSpPr txBox="1"/>
          <p:nvPr/>
        </p:nvSpPr>
        <p:spPr>
          <a:xfrm>
            <a:off x="812800" y="374650"/>
            <a:ext cx="3376300" cy="2428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0" b="0" spc="-909">
                <a:solidFill>
                  <a:srgbClr val="8A847B"/>
                </a:solidFill>
                <a:latin typeface="Onest ExtraLight"/>
                <a:cs typeface="Onest ExtraLight"/>
                <a:ea typeface="Onest ExtraLight"/>
              </a:rPr>
              <a:t>06</a:t>
            </a:r>
          </a:p>
        </p:txBody>
      </p:sp>
      <p:sp>
        <p:nvSpPr>
          <p:cNvPr id="4" name="Текст: Как мы открываем"/>
          <p:cNvSpPr txBox="1"/>
          <p:nvPr/>
        </p:nvSpPr>
        <p:spPr>
          <a:xfrm>
            <a:off x="889000" y="3478022"/>
            <a:ext cx="7062789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Как мы открываем</a:t>
            </a:r>
          </a:p>
        </p:txBody>
      </p:sp>
      <p:sp>
        <p:nvSpPr>
          <p:cNvPr id="5" name="Текст: объект"/>
          <p:cNvSpPr txBox="1"/>
          <p:nvPr/>
        </p:nvSpPr>
        <p:spPr>
          <a:xfrm>
            <a:off x="889000" y="4252722"/>
            <a:ext cx="2932933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68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объект</a:t>
            </a:r>
          </a:p>
        </p:txBody>
      </p:sp>
      <p:sp>
        <p:nvSpPr>
          <p:cNvPr id="6" name="Текст: От поиска помещения до первого платежа"/>
          <p:cNvSpPr txBox="1"/>
          <p:nvPr/>
        </p:nvSpPr>
        <p:spPr>
          <a:xfrm>
            <a:off x="889000" y="5340096"/>
            <a:ext cx="438106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От поиска помещения до первого платежа</a:t>
            </a:r>
          </a:p>
        </p:txBody>
      </p:sp>
      <p:sp>
        <p:nvSpPr>
          <p:cNvPr id="7" name="Текст: арендаторов"/>
          <p:cNvSpPr txBox="1"/>
          <p:nvPr/>
        </p:nvSpPr>
        <p:spPr>
          <a:xfrm>
            <a:off x="889000" y="5625846"/>
            <a:ext cx="140138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A39D94"/>
                </a:solidFill>
                <a:latin typeface="Onest Light"/>
                <a:cs typeface="Onest Light"/>
                <a:ea typeface="Onest Light"/>
              </a:rPr>
              <a:t>арендаторов</a:t>
            </a:r>
          </a:p>
        </p:txBody>
      </p:sp>
      <p:sp>
        <p:nvSpPr>
          <p:cNvPr id="8" name="Текст: 6 блоков"/>
          <p:cNvSpPr txBox="1"/>
          <p:nvPr/>
        </p:nvSpPr>
        <p:spPr>
          <a:xfrm>
            <a:off x="9589013" y="5721012"/>
            <a:ext cx="557360" cy="1129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50" b="0" spc="94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6 блоков</a:t>
            </a:r>
          </a:p>
        </p:txBody>
      </p:sp>
      <p:sp>
        <p:nvSpPr>
          <p:cNvPr id="9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1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ОЦЕСС"/>
          <p:cNvSpPr txBox="1"/>
          <p:nvPr/>
        </p:nvSpPr>
        <p:spPr>
          <a:xfrm>
            <a:off x="889000" y="949960"/>
            <a:ext cx="713333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ПРОЦЕСС</a:t>
            </a:r>
          </a:p>
        </p:txBody>
      </p:sp>
      <p:sp>
        <p:nvSpPr>
          <p:cNvPr id="4" name="Текст: Алгоритм запуска"/>
          <p:cNvSpPr txBox="1"/>
          <p:nvPr/>
        </p:nvSpPr>
        <p:spPr>
          <a:xfrm>
            <a:off x="889000" y="1196340"/>
            <a:ext cx="457269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Алгоритм запуска</a:t>
            </a:r>
          </a:p>
        </p:txBody>
      </p:sp>
      <p:sp>
        <p:nvSpPr>
          <p:cNvPr id="5" name="Текст: 1"/>
          <p:cNvSpPr txBox="1"/>
          <p:nvPr/>
        </p:nvSpPr>
        <p:spPr>
          <a:xfrm>
            <a:off x="3945830" y="2784475"/>
            <a:ext cx="808101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1</a:t>
            </a:r>
          </a:p>
        </p:txBody>
      </p:sp>
      <p:sp>
        <p:nvSpPr>
          <p:cNvPr id="6" name="Текст: ШАГ 01"/>
          <p:cNvSpPr txBox="1"/>
          <p:nvPr/>
        </p:nvSpPr>
        <p:spPr>
          <a:xfrm>
            <a:off x="889000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01</a:t>
            </a:r>
          </a:p>
        </p:txBody>
      </p:sp>
      <p:sp>
        <p:nvSpPr>
          <p:cNvPr id="7" name="Текст: Поиск и оценка помещения"/>
          <p:cNvSpPr txBox="1"/>
          <p:nvPr/>
        </p:nvSpPr>
        <p:spPr>
          <a:xfrm>
            <a:off x="889000" y="2469896"/>
            <a:ext cx="287268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Поиск и оценка помещения</a:t>
            </a:r>
          </a:p>
        </p:txBody>
      </p:sp>
      <p:sp>
        <p:nvSpPr>
          <p:cNvPr id="8" name="Текст: трафик и окружение"/>
          <p:cNvSpPr txBox="1"/>
          <p:nvPr/>
        </p:nvSpPr>
        <p:spPr>
          <a:xfrm>
            <a:off x="1054100" y="2829941"/>
            <a:ext cx="15106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трафик и окружение</a:t>
            </a:r>
          </a:p>
        </p:txBody>
      </p:sp>
      <p:sp>
        <p:nvSpPr>
          <p:cNvPr id="9" name="Текст: —"/>
          <p:cNvSpPr txBox="1"/>
          <p:nvPr/>
        </p:nvSpPr>
        <p:spPr>
          <a:xfrm>
            <a:off x="889000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0" name="Текст: технические параметры"/>
          <p:cNvSpPr txBox="1"/>
          <p:nvPr/>
        </p:nvSpPr>
        <p:spPr>
          <a:xfrm>
            <a:off x="1054100" y="3058541"/>
            <a:ext cx="175766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технические параметры</a:t>
            </a:r>
          </a:p>
        </p:txBody>
      </p:sp>
      <p:sp>
        <p:nvSpPr>
          <p:cNvPr id="11" name="Текст: —"/>
          <p:cNvSpPr txBox="1"/>
          <p:nvPr/>
        </p:nvSpPr>
        <p:spPr>
          <a:xfrm>
            <a:off x="889000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2" name="Текст: потенциал деления на малые лоты"/>
          <p:cNvSpPr txBox="1"/>
          <p:nvPr/>
        </p:nvSpPr>
        <p:spPr>
          <a:xfrm>
            <a:off x="1054100" y="3287141"/>
            <a:ext cx="248555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потенциал деления на малые лоты</a:t>
            </a:r>
          </a:p>
        </p:txBody>
      </p:sp>
      <p:sp>
        <p:nvSpPr>
          <p:cNvPr id="13" name="Текст: —"/>
          <p:cNvSpPr txBox="1"/>
          <p:nvPr/>
        </p:nvSpPr>
        <p:spPr>
          <a:xfrm>
            <a:off x="889000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4" name="Текст: проверка ликвидности"/>
          <p:cNvSpPr txBox="1"/>
          <p:nvPr/>
        </p:nvSpPr>
        <p:spPr>
          <a:xfrm>
            <a:off x="1054100" y="3515741"/>
            <a:ext cx="166918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проверка ликвидности</a:t>
            </a:r>
          </a:p>
        </p:txBody>
      </p:sp>
      <p:sp>
        <p:nvSpPr>
          <p:cNvPr id="15" name="Текст: —"/>
          <p:cNvSpPr txBox="1"/>
          <p:nvPr/>
        </p:nvSpPr>
        <p:spPr>
          <a:xfrm>
            <a:off x="889000" y="3515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6" name="Текст: 2"/>
          <p:cNvSpPr txBox="1"/>
          <p:nvPr/>
        </p:nvSpPr>
        <p:spPr>
          <a:xfrm>
            <a:off x="7201793" y="2784475"/>
            <a:ext cx="1031976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2</a:t>
            </a:r>
          </a:p>
        </p:txBody>
      </p:sp>
      <p:sp>
        <p:nvSpPr>
          <p:cNvPr id="17" name="Текст: ШАГ 02"/>
          <p:cNvSpPr txBox="1"/>
          <p:nvPr/>
        </p:nvSpPr>
        <p:spPr>
          <a:xfrm>
            <a:off x="4569817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02</a:t>
            </a:r>
          </a:p>
        </p:txBody>
      </p:sp>
      <p:sp>
        <p:nvSpPr>
          <p:cNvPr id="18" name="Текст: Анализ спроса"/>
          <p:cNvSpPr txBox="1"/>
          <p:nvPr/>
        </p:nvSpPr>
        <p:spPr>
          <a:xfrm>
            <a:off x="4569817" y="2469896"/>
            <a:ext cx="159289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Анализ спроса</a:t>
            </a:r>
          </a:p>
        </p:txBody>
      </p:sp>
      <p:sp>
        <p:nvSpPr>
          <p:cNvPr id="19" name="Текст: определяем формат арендаторов"/>
          <p:cNvSpPr txBox="1"/>
          <p:nvPr/>
        </p:nvSpPr>
        <p:spPr>
          <a:xfrm>
            <a:off x="4734917" y="2829941"/>
            <a:ext cx="243455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определяем формат арендаторов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4569817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изучаем конкурентов и ставки"/>
          <p:cNvSpPr txBox="1"/>
          <p:nvPr/>
        </p:nvSpPr>
        <p:spPr>
          <a:xfrm>
            <a:off x="4734917" y="3058541"/>
            <a:ext cx="221197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изучаем конкурентов и ставки</a:t>
            </a:r>
          </a:p>
        </p:txBody>
      </p:sp>
      <p:sp>
        <p:nvSpPr>
          <p:cNvPr id="22" name="Текст: —"/>
          <p:cNvSpPr txBox="1"/>
          <p:nvPr/>
        </p:nvSpPr>
        <p:spPr>
          <a:xfrm>
            <a:off x="4569817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3" name="Текст: проверяем реальную загрузку"/>
          <p:cNvSpPr txBox="1"/>
          <p:nvPr/>
        </p:nvSpPr>
        <p:spPr>
          <a:xfrm>
            <a:off x="4734917" y="3287141"/>
            <a:ext cx="221938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проверяем реальную загрузку</a:t>
            </a:r>
          </a:p>
        </p:txBody>
      </p:sp>
      <p:sp>
        <p:nvSpPr>
          <p:cNvPr id="24" name="Текст: похожих объектов"/>
          <p:cNvSpPr txBox="1"/>
          <p:nvPr/>
        </p:nvSpPr>
        <p:spPr>
          <a:xfrm>
            <a:off x="4734917" y="3490341"/>
            <a:ext cx="135681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похожих объектов</a:t>
            </a:r>
          </a:p>
        </p:txBody>
      </p:sp>
      <p:sp>
        <p:nvSpPr>
          <p:cNvPr id="25" name="Текст: —"/>
          <p:cNvSpPr txBox="1"/>
          <p:nvPr/>
        </p:nvSpPr>
        <p:spPr>
          <a:xfrm>
            <a:off x="4569817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6" name="Текст: 3"/>
          <p:cNvSpPr txBox="1"/>
          <p:nvPr/>
        </p:nvSpPr>
        <p:spPr>
          <a:xfrm>
            <a:off x="10644783" y="2784475"/>
            <a:ext cx="1061695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3</a:t>
            </a:r>
          </a:p>
        </p:txBody>
      </p:sp>
      <p:sp>
        <p:nvSpPr>
          <p:cNvPr id="27" name="Текст: ШАГ 03"/>
          <p:cNvSpPr txBox="1"/>
          <p:nvPr/>
        </p:nvSpPr>
        <p:spPr>
          <a:xfrm>
            <a:off x="8041184" y="22392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03</a:t>
            </a:r>
          </a:p>
        </p:txBody>
      </p:sp>
      <p:sp>
        <p:nvSpPr>
          <p:cNvPr id="28" name="Текст: Расчёт экономики"/>
          <p:cNvSpPr txBox="1"/>
          <p:nvPr/>
        </p:nvSpPr>
        <p:spPr>
          <a:xfrm>
            <a:off x="8041184" y="2469896"/>
            <a:ext cx="193334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Расчёт экономики</a:t>
            </a:r>
          </a:p>
        </p:txBody>
      </p:sp>
      <p:sp>
        <p:nvSpPr>
          <p:cNvPr id="29" name="Текст: прогноз ставок и загрузки"/>
          <p:cNvSpPr txBox="1"/>
          <p:nvPr/>
        </p:nvSpPr>
        <p:spPr>
          <a:xfrm>
            <a:off x="8206284" y="2829941"/>
            <a:ext cx="193505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прогноз ставок и загрузки</a:t>
            </a:r>
          </a:p>
        </p:txBody>
      </p:sp>
      <p:sp>
        <p:nvSpPr>
          <p:cNvPr id="30" name="Текст: —"/>
          <p:cNvSpPr txBox="1"/>
          <p:nvPr/>
        </p:nvSpPr>
        <p:spPr>
          <a:xfrm>
            <a:off x="8041184" y="2829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1" name="Текст: точка безубыточности"/>
          <p:cNvSpPr txBox="1"/>
          <p:nvPr/>
        </p:nvSpPr>
        <p:spPr>
          <a:xfrm>
            <a:off x="8206284" y="3058541"/>
            <a:ext cx="163256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точка безубыточности</a:t>
            </a:r>
          </a:p>
        </p:txBody>
      </p:sp>
      <p:sp>
        <p:nvSpPr>
          <p:cNvPr id="32" name="Текст: —"/>
          <p:cNvSpPr txBox="1"/>
          <p:nvPr/>
        </p:nvSpPr>
        <p:spPr>
          <a:xfrm>
            <a:off x="8041184" y="3058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3" name="Текст: проверка маржинальности ≥ 25%"/>
          <p:cNvSpPr txBox="1"/>
          <p:nvPr/>
        </p:nvSpPr>
        <p:spPr>
          <a:xfrm>
            <a:off x="8206284" y="3287141"/>
            <a:ext cx="241276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проверка маржинальности </a:t>
            </a:r>
            <a:r>
              <a:rPr sz="1100" b="0">
                <a:solidFill>
                  <a:srgbClr val="46423D"/>
                </a:solidFill>
                <a:latin typeface="Arial"/>
                <a:cs typeface="Arial"/>
                <a:ea typeface="Arial"/>
              </a:rPr>
              <a:t>≥</a:t>
            </a: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 25%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8041184" y="32871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4"/>
          <p:cNvSpPr txBox="1"/>
          <p:nvPr/>
        </p:nvSpPr>
        <p:spPr>
          <a:xfrm>
            <a:off x="3677245" y="4613275"/>
            <a:ext cx="1087450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4</a:t>
            </a:r>
          </a:p>
        </p:txBody>
      </p:sp>
      <p:sp>
        <p:nvSpPr>
          <p:cNvPr id="36" name="Текст: ШАГ 04"/>
          <p:cNvSpPr txBox="1"/>
          <p:nvPr/>
        </p:nvSpPr>
        <p:spPr>
          <a:xfrm>
            <a:off x="889000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04</a:t>
            </a:r>
          </a:p>
        </p:txBody>
      </p:sp>
      <p:sp>
        <p:nvSpPr>
          <p:cNvPr id="37" name="Текст: Переговоры и договор"/>
          <p:cNvSpPr txBox="1"/>
          <p:nvPr/>
        </p:nvSpPr>
        <p:spPr>
          <a:xfrm>
            <a:off x="889000" y="4298696"/>
            <a:ext cx="239706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Переговоры и договор</a:t>
            </a:r>
          </a:p>
        </p:txBody>
      </p:sp>
      <p:sp>
        <p:nvSpPr>
          <p:cNvPr id="38" name="Текст: фиксируем право субаренды"/>
          <p:cNvSpPr txBox="1"/>
          <p:nvPr/>
        </p:nvSpPr>
        <p:spPr>
          <a:xfrm>
            <a:off x="1054100" y="4658741"/>
            <a:ext cx="21112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фиксируем право субаренды</a:t>
            </a:r>
          </a:p>
        </p:txBody>
      </p:sp>
      <p:sp>
        <p:nvSpPr>
          <p:cNvPr id="39" name="Текст: —"/>
          <p:cNvSpPr txBox="1"/>
          <p:nvPr/>
        </p:nvSpPr>
        <p:spPr>
          <a:xfrm>
            <a:off x="889000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0" name="Текст: арендные каникулы"/>
          <p:cNvSpPr txBox="1"/>
          <p:nvPr/>
        </p:nvSpPr>
        <p:spPr>
          <a:xfrm>
            <a:off x="1054100" y="4887341"/>
            <a:ext cx="145211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арендные каникулы</a:t>
            </a:r>
          </a:p>
        </p:txBody>
      </p:sp>
      <p:sp>
        <p:nvSpPr>
          <p:cNvPr id="41" name="Текст: —"/>
          <p:cNvSpPr txBox="1"/>
          <p:nvPr/>
        </p:nvSpPr>
        <p:spPr>
          <a:xfrm>
            <a:off x="889000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2" name="Текст: срок не менее 7 лет"/>
          <p:cNvSpPr txBox="1"/>
          <p:nvPr/>
        </p:nvSpPr>
        <p:spPr>
          <a:xfrm>
            <a:off x="1054100" y="5115941"/>
            <a:ext cx="14612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срок не менее 7 лет</a:t>
            </a:r>
          </a:p>
        </p:txBody>
      </p:sp>
      <p:sp>
        <p:nvSpPr>
          <p:cNvPr id="43" name="Текст: —"/>
          <p:cNvSpPr txBox="1"/>
          <p:nvPr/>
        </p:nvSpPr>
        <p:spPr>
          <a:xfrm>
            <a:off x="889000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4" name="Текст: предсказуемая индексация"/>
          <p:cNvSpPr txBox="1"/>
          <p:nvPr/>
        </p:nvSpPr>
        <p:spPr>
          <a:xfrm>
            <a:off x="1054100" y="5344541"/>
            <a:ext cx="200174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предсказуемая индексация</a:t>
            </a:r>
          </a:p>
        </p:txBody>
      </p:sp>
      <p:sp>
        <p:nvSpPr>
          <p:cNvPr id="45" name="Текст: —"/>
          <p:cNvSpPr txBox="1"/>
          <p:nvPr/>
        </p:nvSpPr>
        <p:spPr>
          <a:xfrm>
            <a:off x="889000" y="53445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6" name="Текст: 5"/>
          <p:cNvSpPr txBox="1"/>
          <p:nvPr/>
        </p:nvSpPr>
        <p:spPr>
          <a:xfrm>
            <a:off x="7157938" y="4613275"/>
            <a:ext cx="1077544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5</a:t>
            </a:r>
          </a:p>
        </p:txBody>
      </p:sp>
      <p:sp>
        <p:nvSpPr>
          <p:cNvPr id="47" name="Текст: ШАГ 05"/>
          <p:cNvSpPr txBox="1"/>
          <p:nvPr/>
        </p:nvSpPr>
        <p:spPr>
          <a:xfrm>
            <a:off x="4569817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05</a:t>
            </a:r>
          </a:p>
        </p:txBody>
      </p:sp>
      <p:sp>
        <p:nvSpPr>
          <p:cNvPr id="48" name="Текст: Поиск арендаторов"/>
          <p:cNvSpPr txBox="1"/>
          <p:nvPr/>
        </p:nvSpPr>
        <p:spPr>
          <a:xfrm>
            <a:off x="4569817" y="4298696"/>
            <a:ext cx="208218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Поиск арендаторов</a:t>
            </a:r>
          </a:p>
        </p:txBody>
      </p:sp>
      <p:sp>
        <p:nvSpPr>
          <p:cNvPr id="49" name="Текст: объявления на площадках"/>
          <p:cNvSpPr txBox="1"/>
          <p:nvPr/>
        </p:nvSpPr>
        <p:spPr>
          <a:xfrm>
            <a:off x="4734917" y="4658741"/>
            <a:ext cx="19019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объявления на площадках</a:t>
            </a:r>
          </a:p>
        </p:txBody>
      </p:sp>
      <p:sp>
        <p:nvSpPr>
          <p:cNvPr id="50" name="Текст: —"/>
          <p:cNvSpPr txBox="1"/>
          <p:nvPr/>
        </p:nvSpPr>
        <p:spPr>
          <a:xfrm>
            <a:off x="4569817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1" name="Текст: работа с базой арендаторов"/>
          <p:cNvSpPr txBox="1"/>
          <p:nvPr/>
        </p:nvSpPr>
        <p:spPr>
          <a:xfrm>
            <a:off x="4734917" y="4887341"/>
            <a:ext cx="207351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работа с базой арендаторов</a:t>
            </a:r>
          </a:p>
        </p:txBody>
      </p:sp>
      <p:sp>
        <p:nvSpPr>
          <p:cNvPr id="52" name="Текст: —"/>
          <p:cNvSpPr txBox="1"/>
          <p:nvPr/>
        </p:nvSpPr>
        <p:spPr>
          <a:xfrm>
            <a:off x="4569817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3" name="Текст: работа с агентами"/>
          <p:cNvSpPr txBox="1"/>
          <p:nvPr/>
        </p:nvSpPr>
        <p:spPr>
          <a:xfrm>
            <a:off x="4734917" y="5115941"/>
            <a:ext cx="136204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работа с агентами</a:t>
            </a:r>
          </a:p>
        </p:txBody>
      </p:sp>
      <p:sp>
        <p:nvSpPr>
          <p:cNvPr id="54" name="Текст: —"/>
          <p:cNvSpPr txBox="1"/>
          <p:nvPr/>
        </p:nvSpPr>
        <p:spPr>
          <a:xfrm>
            <a:off x="4569817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55" name="Текст: 6"/>
          <p:cNvSpPr txBox="1"/>
          <p:nvPr/>
        </p:nvSpPr>
        <p:spPr>
          <a:xfrm>
            <a:off x="10616605" y="4613275"/>
            <a:ext cx="1090422" cy="12144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500" b="0">
                <a:solidFill>
                  <a:srgbClr val="DDD6CA"/>
                </a:solidFill>
                <a:latin typeface="Onest ExtraLight"/>
                <a:cs typeface="Onest ExtraLight"/>
                <a:ea typeface="Onest ExtraLight"/>
              </a:rPr>
              <a:t>6</a:t>
            </a:r>
          </a:p>
        </p:txBody>
      </p:sp>
      <p:sp>
        <p:nvSpPr>
          <p:cNvPr id="56" name="Текст: ШАГ 06"/>
          <p:cNvSpPr txBox="1"/>
          <p:nvPr/>
        </p:nvSpPr>
        <p:spPr>
          <a:xfrm>
            <a:off x="8041184" y="40680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ШАГ 06</a:t>
            </a:r>
          </a:p>
        </p:txBody>
      </p:sp>
      <p:sp>
        <p:nvSpPr>
          <p:cNvPr id="57" name="Текст: Подготовка помещения"/>
          <p:cNvSpPr txBox="1"/>
          <p:nvPr/>
        </p:nvSpPr>
        <p:spPr>
          <a:xfrm>
            <a:off x="8041184" y="4298696"/>
            <a:ext cx="24784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Подготовка помещения</a:t>
            </a:r>
          </a:p>
        </p:txBody>
      </p:sp>
      <p:sp>
        <p:nvSpPr>
          <p:cNvPr id="58" name="Текст: зонирование и перегородки"/>
          <p:cNvSpPr txBox="1"/>
          <p:nvPr/>
        </p:nvSpPr>
        <p:spPr>
          <a:xfrm>
            <a:off x="8206284" y="4658741"/>
            <a:ext cx="205884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зонирование и перегородки</a:t>
            </a:r>
          </a:p>
        </p:txBody>
      </p:sp>
      <p:sp>
        <p:nvSpPr>
          <p:cNvPr id="59" name="Текст: —"/>
          <p:cNvSpPr txBox="1"/>
          <p:nvPr/>
        </p:nvSpPr>
        <p:spPr>
          <a:xfrm>
            <a:off x="8041184" y="46587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0" name="Текст: электрика и мокрые точки"/>
          <p:cNvSpPr txBox="1"/>
          <p:nvPr/>
        </p:nvSpPr>
        <p:spPr>
          <a:xfrm>
            <a:off x="8206284" y="4887341"/>
            <a:ext cx="191427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электрика и мокрые точки</a:t>
            </a:r>
          </a:p>
        </p:txBody>
      </p:sp>
      <p:sp>
        <p:nvSpPr>
          <p:cNvPr id="61" name="Текст: —"/>
          <p:cNvSpPr txBox="1"/>
          <p:nvPr/>
        </p:nvSpPr>
        <p:spPr>
          <a:xfrm>
            <a:off x="8041184" y="48873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2" name="Текст: минимально достаточный ремонт"/>
          <p:cNvSpPr txBox="1"/>
          <p:nvPr/>
        </p:nvSpPr>
        <p:spPr>
          <a:xfrm>
            <a:off x="8206284" y="5115941"/>
            <a:ext cx="2421772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минимально достаточный ремонт</a:t>
            </a:r>
          </a:p>
        </p:txBody>
      </p:sp>
      <p:sp>
        <p:nvSpPr>
          <p:cNvPr id="63" name="Текст: —"/>
          <p:cNvSpPr txBox="1"/>
          <p:nvPr/>
        </p:nvSpPr>
        <p:spPr>
          <a:xfrm>
            <a:off x="8041184" y="51159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64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65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ФОРМАТ ОБЪЕКТА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ФОРМАТ ОБЪЕКТА</a:t>
            </a:r>
          </a:p>
        </p:txBody>
      </p:sp>
      <p:sp>
        <p:nvSpPr>
          <p:cNvPr id="4" name="Текст: Помещения могут быть"/>
          <p:cNvSpPr txBox="1"/>
          <p:nvPr/>
        </p:nvSpPr>
        <p:spPr>
          <a:xfrm>
            <a:off x="889000" y="1196340"/>
            <a:ext cx="5832109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Помещения могут быть</a:t>
            </a:r>
          </a:p>
        </p:txBody>
      </p:sp>
      <p:sp>
        <p:nvSpPr>
          <p:cNvPr id="5" name="Текст: Подходят и новые, и исторические дома —"/>
          <p:cNvSpPr txBox="1"/>
          <p:nvPr/>
        </p:nvSpPr>
        <p:spPr>
          <a:xfrm>
            <a:off x="7747000" y="1344422"/>
            <a:ext cx="3331705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Подходят и новые, и исторические дома —</a:t>
            </a:r>
          </a:p>
        </p:txBody>
      </p:sp>
      <p:sp>
        <p:nvSpPr>
          <p:cNvPr id="6" name="Текст: в бетоне или с готовым ремонтом"/>
          <p:cNvSpPr txBox="1"/>
          <p:nvPr/>
        </p:nvSpPr>
        <p:spPr>
          <a:xfrm>
            <a:off x="7747000" y="1573022"/>
            <a:ext cx="2670779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в бетоне или с готовым ремонтом</a:t>
            </a:r>
          </a:p>
        </p:txBody>
      </p:sp>
      <p:sp>
        <p:nvSpPr>
          <p:cNvPr id="7" name="Текст: ДОМ"/>
          <p:cNvSpPr txBox="1"/>
          <p:nvPr/>
        </p:nvSpPr>
        <p:spPr>
          <a:xfrm>
            <a:off x="889000" y="465861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</a:t>
            </a:r>
          </a:p>
        </p:txBody>
      </p:sp>
      <p:sp>
        <p:nvSpPr>
          <p:cNvPr id="8" name="Текст: В новостройке"/>
          <p:cNvSpPr txBox="1"/>
          <p:nvPr/>
        </p:nvSpPr>
        <p:spPr>
          <a:xfrm>
            <a:off x="889000" y="4863846"/>
            <a:ext cx="158511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новостройке</a:t>
            </a:r>
          </a:p>
        </p:txBody>
      </p:sp>
      <p:sp>
        <p:nvSpPr>
          <p:cNvPr id="9" name="Текст: ДОМ"/>
          <p:cNvSpPr txBox="1"/>
          <p:nvPr/>
        </p:nvSpPr>
        <p:spPr>
          <a:xfrm>
            <a:off x="3568700" y="4658614"/>
            <a:ext cx="29013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ДОМ</a:t>
            </a:r>
          </a:p>
        </p:txBody>
      </p:sp>
      <p:sp>
        <p:nvSpPr>
          <p:cNvPr id="10" name="Текст: В старом фонде"/>
          <p:cNvSpPr txBox="1"/>
          <p:nvPr/>
        </p:nvSpPr>
        <p:spPr>
          <a:xfrm>
            <a:off x="3568700" y="4863846"/>
            <a:ext cx="1709637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старом фонде</a:t>
            </a:r>
          </a:p>
        </p:txBody>
      </p:sp>
      <p:sp>
        <p:nvSpPr>
          <p:cNvPr id="11" name="Текст: ОТДЕЛКА"/>
          <p:cNvSpPr txBox="1"/>
          <p:nvPr/>
        </p:nvSpPr>
        <p:spPr>
          <a:xfrm>
            <a:off x="6248400" y="46586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ОТДЕЛКА</a:t>
            </a:r>
          </a:p>
        </p:txBody>
      </p:sp>
      <p:sp>
        <p:nvSpPr>
          <p:cNvPr id="12" name="Текст: В бетоне"/>
          <p:cNvSpPr txBox="1"/>
          <p:nvPr/>
        </p:nvSpPr>
        <p:spPr>
          <a:xfrm>
            <a:off x="6248400" y="4863846"/>
            <a:ext cx="99257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 бетоне</a:t>
            </a:r>
          </a:p>
        </p:txBody>
      </p:sp>
      <p:sp>
        <p:nvSpPr>
          <p:cNvPr id="13" name="Текст: ОТДЕЛКА"/>
          <p:cNvSpPr txBox="1"/>
          <p:nvPr/>
        </p:nvSpPr>
        <p:spPr>
          <a:xfrm>
            <a:off x="8928100" y="4658614"/>
            <a:ext cx="61347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ОТДЕЛКА</a:t>
            </a:r>
          </a:p>
        </p:txBody>
      </p:sp>
      <p:sp>
        <p:nvSpPr>
          <p:cNvPr id="14" name="Текст: С готовым ремонтом"/>
          <p:cNvSpPr txBox="1"/>
          <p:nvPr/>
        </p:nvSpPr>
        <p:spPr>
          <a:xfrm>
            <a:off x="8928100" y="4863846"/>
            <a:ext cx="2199850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 готовым ремонтом</a:t>
            </a:r>
          </a:p>
        </p:txBody>
      </p:sp>
      <p:sp>
        <p:nvSpPr>
          <p:cNvPr id="15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16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КРИТЕРИИ"/>
          <p:cNvSpPr txBox="1"/>
          <p:nvPr/>
        </p:nvSpPr>
        <p:spPr>
          <a:xfrm>
            <a:off x="889000" y="949960"/>
            <a:ext cx="808431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КРИТЕРИИ</a:t>
            </a:r>
          </a:p>
        </p:txBody>
      </p:sp>
      <p:sp>
        <p:nvSpPr>
          <p:cNvPr id="4" name="Текст: Как мы выбираем объект"/>
          <p:cNvSpPr txBox="1"/>
          <p:nvPr/>
        </p:nvSpPr>
        <p:spPr>
          <a:xfrm>
            <a:off x="889000" y="1196340"/>
            <a:ext cx="621112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мы выбираем объект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279142"/>
            <a:ext cx="611204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6" name="Текст: Локация и поток"/>
          <p:cNvSpPr txBox="1"/>
          <p:nvPr/>
        </p:nvSpPr>
        <p:spPr>
          <a:xfrm>
            <a:off x="889000" y="2978277"/>
            <a:ext cx="1868313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Локация и поток</a:t>
            </a:r>
          </a:p>
        </p:txBody>
      </p:sp>
      <p:sp>
        <p:nvSpPr>
          <p:cNvPr id="7" name="Текст: 02"/>
          <p:cNvSpPr txBox="1"/>
          <p:nvPr/>
        </p:nvSpPr>
        <p:spPr>
          <a:xfrm>
            <a:off x="3568700" y="2279142"/>
            <a:ext cx="694890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207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8" name="Текст: Окружение и спрос"/>
          <p:cNvSpPr txBox="1"/>
          <p:nvPr/>
        </p:nvSpPr>
        <p:spPr>
          <a:xfrm>
            <a:off x="3568700" y="2978277"/>
            <a:ext cx="2210289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Окружение и спрос</a:t>
            </a:r>
          </a:p>
        </p:txBody>
      </p:sp>
      <p:sp>
        <p:nvSpPr>
          <p:cNvPr id="9" name="Текст: 03"/>
          <p:cNvSpPr txBox="1"/>
          <p:nvPr/>
        </p:nvSpPr>
        <p:spPr>
          <a:xfrm>
            <a:off x="6248400" y="2279142"/>
            <a:ext cx="714332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10" name="Текст: Технические"/>
          <p:cNvSpPr txBox="1"/>
          <p:nvPr/>
        </p:nvSpPr>
        <p:spPr>
          <a:xfrm>
            <a:off x="6248400" y="2978277"/>
            <a:ext cx="146076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Технические</a:t>
            </a:r>
          </a:p>
        </p:txBody>
      </p:sp>
      <p:sp>
        <p:nvSpPr>
          <p:cNvPr id="11" name="Текст: параметры"/>
          <p:cNvSpPr txBox="1"/>
          <p:nvPr/>
        </p:nvSpPr>
        <p:spPr>
          <a:xfrm>
            <a:off x="6248400" y="3238627"/>
            <a:ext cx="1285362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параметры</a:t>
            </a:r>
          </a:p>
        </p:txBody>
      </p:sp>
      <p:sp>
        <p:nvSpPr>
          <p:cNvPr id="12" name="Текст: 04"/>
          <p:cNvSpPr txBox="1"/>
          <p:nvPr/>
        </p:nvSpPr>
        <p:spPr>
          <a:xfrm>
            <a:off x="8928100" y="2279142"/>
            <a:ext cx="727434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59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04</a:t>
            </a:r>
          </a:p>
        </p:txBody>
      </p:sp>
      <p:sp>
        <p:nvSpPr>
          <p:cNvPr id="13" name="Текст: Экономика объекта"/>
          <p:cNvSpPr txBox="1"/>
          <p:nvPr/>
        </p:nvSpPr>
        <p:spPr>
          <a:xfrm>
            <a:off x="8928100" y="2978277"/>
            <a:ext cx="221057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Экономика объекта</a:t>
            </a:r>
          </a:p>
        </p:txBody>
      </p:sp>
      <p:sp>
        <p:nvSpPr>
          <p:cNvPr id="14" name="Текст: устойчивый пешеходный трафик"/>
          <p:cNvSpPr txBox="1"/>
          <p:nvPr/>
        </p:nvSpPr>
        <p:spPr>
          <a:xfrm>
            <a:off x="1054100" y="3655441"/>
            <a:ext cx="235377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устойчивый пешеходный трафик</a:t>
            </a:r>
          </a:p>
        </p:txBody>
      </p:sp>
      <p:sp>
        <p:nvSpPr>
          <p:cNvPr id="15" name="Текст: —"/>
          <p:cNvSpPr txBox="1"/>
          <p:nvPr/>
        </p:nvSpPr>
        <p:spPr>
          <a:xfrm>
            <a:off x="8890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6" name="Текст: точки притяжения рядом: ТЦ,"/>
          <p:cNvSpPr txBox="1"/>
          <p:nvPr/>
        </p:nvSpPr>
        <p:spPr>
          <a:xfrm>
            <a:off x="1054100" y="3909441"/>
            <a:ext cx="212276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точки притяжения рядом: ТЦ,</a:t>
            </a:r>
          </a:p>
        </p:txBody>
      </p:sp>
      <p:sp>
        <p:nvSpPr>
          <p:cNvPr id="17" name="Текст: метро, супермаркеты, офисы"/>
          <p:cNvSpPr txBox="1"/>
          <p:nvPr/>
        </p:nvSpPr>
        <p:spPr>
          <a:xfrm>
            <a:off x="1054100" y="4112641"/>
            <a:ext cx="21046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метро, супермаркеты, офисы</a:t>
            </a:r>
          </a:p>
        </p:txBody>
      </p:sp>
      <p:sp>
        <p:nvSpPr>
          <p:cNvPr id="18" name="Текст: —"/>
          <p:cNvSpPr txBox="1"/>
          <p:nvPr/>
        </p:nvSpPr>
        <p:spPr>
          <a:xfrm>
            <a:off x="889000" y="3909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9" name="Текст: удобный доступ и видимый вход"/>
          <p:cNvSpPr txBox="1"/>
          <p:nvPr/>
        </p:nvSpPr>
        <p:spPr>
          <a:xfrm>
            <a:off x="1054100" y="4360291"/>
            <a:ext cx="23518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удобный доступ и видимый вход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889000" y="43602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нет перенасыщения похожими"/>
          <p:cNvSpPr txBox="1"/>
          <p:nvPr/>
        </p:nvSpPr>
        <p:spPr>
          <a:xfrm>
            <a:off x="3733800" y="3655441"/>
            <a:ext cx="221982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нет перенасыщения похожими</a:t>
            </a:r>
          </a:p>
        </p:txBody>
      </p:sp>
      <p:sp>
        <p:nvSpPr>
          <p:cNvPr id="22" name="Текст: форматами"/>
          <p:cNvSpPr txBox="1"/>
          <p:nvPr/>
        </p:nvSpPr>
        <p:spPr>
          <a:xfrm>
            <a:off x="3733800" y="3858641"/>
            <a:ext cx="866899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форматами</a:t>
            </a:r>
          </a:p>
        </p:txBody>
      </p:sp>
      <p:sp>
        <p:nvSpPr>
          <p:cNvPr id="23" name="Текст: —"/>
          <p:cNvSpPr txBox="1"/>
          <p:nvPr/>
        </p:nvSpPr>
        <p:spPr>
          <a:xfrm>
            <a:off x="35687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4" name="Текст: понятная целевая аудитория"/>
          <p:cNvSpPr txBox="1"/>
          <p:nvPr/>
        </p:nvSpPr>
        <p:spPr>
          <a:xfrm>
            <a:off x="3733800" y="4112641"/>
            <a:ext cx="209429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понятная целевая аудитория</a:t>
            </a:r>
          </a:p>
        </p:txBody>
      </p:sp>
      <p:sp>
        <p:nvSpPr>
          <p:cNvPr id="25" name="Текст: района"/>
          <p:cNvSpPr txBox="1"/>
          <p:nvPr/>
        </p:nvSpPr>
        <p:spPr>
          <a:xfrm>
            <a:off x="3733800" y="4309491"/>
            <a:ext cx="57385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района</a:t>
            </a:r>
          </a:p>
        </p:txBody>
      </p:sp>
      <p:sp>
        <p:nvSpPr>
          <p:cNvPr id="26" name="Текст: —"/>
          <p:cNvSpPr txBox="1"/>
          <p:nvPr/>
        </p:nvSpPr>
        <p:spPr>
          <a:xfrm>
            <a:off x="3568700" y="41126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7" name="Текст: площадь, которую можно"/>
          <p:cNvSpPr txBox="1"/>
          <p:nvPr/>
        </p:nvSpPr>
        <p:spPr>
          <a:xfrm>
            <a:off x="6413500" y="3655441"/>
            <a:ext cx="185413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площадь, которую можно</a:t>
            </a:r>
          </a:p>
        </p:txBody>
      </p:sp>
      <p:sp>
        <p:nvSpPr>
          <p:cNvPr id="28" name="Текст: разделить"/>
          <p:cNvSpPr txBox="1"/>
          <p:nvPr/>
        </p:nvSpPr>
        <p:spPr>
          <a:xfrm>
            <a:off x="6413500" y="3858641"/>
            <a:ext cx="79018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разделить</a:t>
            </a:r>
          </a:p>
        </p:txBody>
      </p:sp>
      <p:sp>
        <p:nvSpPr>
          <p:cNvPr id="29" name="Текст: —"/>
          <p:cNvSpPr txBox="1"/>
          <p:nvPr/>
        </p:nvSpPr>
        <p:spPr>
          <a:xfrm>
            <a:off x="62484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0" name="Текст: достаточная электрическая"/>
          <p:cNvSpPr txBox="1"/>
          <p:nvPr/>
        </p:nvSpPr>
        <p:spPr>
          <a:xfrm>
            <a:off x="6413500" y="4112641"/>
            <a:ext cx="201467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достаточная электрическая</a:t>
            </a:r>
          </a:p>
        </p:txBody>
      </p:sp>
      <p:sp>
        <p:nvSpPr>
          <p:cNvPr id="31" name="Текст: мощность"/>
          <p:cNvSpPr txBox="1"/>
          <p:nvPr/>
        </p:nvSpPr>
        <p:spPr>
          <a:xfrm>
            <a:off x="6413500" y="4309491"/>
            <a:ext cx="76795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мощность</a:t>
            </a:r>
          </a:p>
        </p:txBody>
      </p:sp>
      <p:sp>
        <p:nvSpPr>
          <p:cNvPr id="32" name="Текст: —"/>
          <p:cNvSpPr txBox="1"/>
          <p:nvPr/>
        </p:nvSpPr>
        <p:spPr>
          <a:xfrm>
            <a:off x="6248400" y="41126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3" name="Текст: вентиляция и мокрые точки"/>
          <p:cNvSpPr txBox="1"/>
          <p:nvPr/>
        </p:nvSpPr>
        <p:spPr>
          <a:xfrm>
            <a:off x="6413500" y="4563491"/>
            <a:ext cx="200682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вентиляция и мокрые точки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6248400" y="45634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первый этаж и витринные окна"/>
          <p:cNvSpPr txBox="1"/>
          <p:nvPr/>
        </p:nvSpPr>
        <p:spPr>
          <a:xfrm>
            <a:off x="6413500" y="4817491"/>
            <a:ext cx="224916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первый этаж и витринные окна</a:t>
            </a:r>
          </a:p>
        </p:txBody>
      </p:sp>
      <p:sp>
        <p:nvSpPr>
          <p:cNvPr id="36" name="Текст: —"/>
          <p:cNvSpPr txBox="1"/>
          <p:nvPr/>
        </p:nvSpPr>
        <p:spPr>
          <a:xfrm>
            <a:off x="6248400" y="481749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7" name="Текст: маржинальность ≥ 25%"/>
          <p:cNvSpPr txBox="1"/>
          <p:nvPr/>
        </p:nvSpPr>
        <p:spPr>
          <a:xfrm>
            <a:off x="9093200" y="3655441"/>
            <a:ext cx="170128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маржинальность </a:t>
            </a:r>
            <a:r>
              <a:rPr sz="1100" b="0">
                <a:solidFill>
                  <a:srgbClr val="46423D"/>
                </a:solidFill>
                <a:latin typeface="Arial"/>
                <a:cs typeface="Arial"/>
                <a:ea typeface="Arial"/>
              </a:rPr>
              <a:t>≥</a:t>
            </a: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 25%</a:t>
            </a:r>
          </a:p>
        </p:txBody>
      </p:sp>
      <p:sp>
        <p:nvSpPr>
          <p:cNvPr id="38" name="Текст: —"/>
          <p:cNvSpPr txBox="1"/>
          <p:nvPr/>
        </p:nvSpPr>
        <p:spPr>
          <a:xfrm>
            <a:off x="8928100" y="3655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9" name="Текст: договор от 7 лет"/>
          <p:cNvSpPr txBox="1"/>
          <p:nvPr/>
        </p:nvSpPr>
        <p:spPr>
          <a:xfrm>
            <a:off x="9093200" y="3909441"/>
            <a:ext cx="1223726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договор от 7 лет</a:t>
            </a:r>
          </a:p>
        </p:txBody>
      </p:sp>
      <p:sp>
        <p:nvSpPr>
          <p:cNvPr id="40" name="Текст: —"/>
          <p:cNvSpPr txBox="1"/>
          <p:nvPr/>
        </p:nvSpPr>
        <p:spPr>
          <a:xfrm>
            <a:off x="8928100" y="3909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1" name="Текст: адекватная индексация"/>
          <p:cNvSpPr txBox="1"/>
          <p:nvPr/>
        </p:nvSpPr>
        <p:spPr>
          <a:xfrm>
            <a:off x="9093200" y="4163441"/>
            <a:ext cx="1725407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адекватная индексация</a:t>
            </a:r>
          </a:p>
        </p:txBody>
      </p:sp>
      <p:sp>
        <p:nvSpPr>
          <p:cNvPr id="42" name="Текст: —"/>
          <p:cNvSpPr txBox="1"/>
          <p:nvPr/>
        </p:nvSpPr>
        <p:spPr>
          <a:xfrm>
            <a:off x="8928100" y="4163441"/>
            <a:ext cx="1801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43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4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ЧАСТЫЕ ВОПРОСЫ"/>
          <p:cNvSpPr txBox="1"/>
          <p:nvPr/>
        </p:nvSpPr>
        <p:spPr>
          <a:xfrm>
            <a:off x="889000" y="949960"/>
            <a:ext cx="137901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ЧАСТЫЕ ВОПРОСЫ</a:t>
            </a:r>
          </a:p>
        </p:txBody>
      </p:sp>
      <p:sp>
        <p:nvSpPr>
          <p:cNvPr id="4" name="Текст: Что спрашивают чаще всего"/>
          <p:cNvSpPr txBox="1"/>
          <p:nvPr/>
        </p:nvSpPr>
        <p:spPr>
          <a:xfrm>
            <a:off x="889000" y="1196340"/>
            <a:ext cx="706584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Что спрашивают чаще всего</a:t>
            </a:r>
          </a:p>
        </p:txBody>
      </p:sp>
      <p:sp>
        <p:nvSpPr>
          <p:cNvPr id="5" name="Текст: ВОПРОС 01"/>
          <p:cNvSpPr txBox="1"/>
          <p:nvPr/>
        </p:nvSpPr>
        <p:spPr>
          <a:xfrm>
            <a:off x="889000" y="230276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01</a:t>
            </a:r>
          </a:p>
        </p:txBody>
      </p:sp>
      <p:sp>
        <p:nvSpPr>
          <p:cNvPr id="6" name="Текст: Можно ли управлять объектом"/>
          <p:cNvSpPr txBox="1"/>
          <p:nvPr/>
        </p:nvSpPr>
        <p:spPr>
          <a:xfrm>
            <a:off x="889000" y="2545715"/>
            <a:ext cx="2998366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Можно ли управлять объектом</a:t>
            </a:r>
          </a:p>
        </p:txBody>
      </p:sp>
      <p:sp>
        <p:nvSpPr>
          <p:cNvPr id="7" name="Текст: дистанционно?"/>
          <p:cNvSpPr txBox="1"/>
          <p:nvPr/>
        </p:nvSpPr>
        <p:spPr>
          <a:xfrm>
            <a:off x="889000" y="2780665"/>
            <a:ext cx="1531810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дистанционно?</a:t>
            </a:r>
          </a:p>
        </p:txBody>
      </p:sp>
      <p:sp>
        <p:nvSpPr>
          <p:cNvPr id="8" name="Текст: ВОПРОС 02"/>
          <p:cNvSpPr txBox="1"/>
          <p:nvPr/>
        </p:nvSpPr>
        <p:spPr>
          <a:xfrm>
            <a:off x="4478834" y="2302764"/>
            <a:ext cx="7751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02</a:t>
            </a:r>
          </a:p>
        </p:txBody>
      </p:sp>
      <p:sp>
        <p:nvSpPr>
          <p:cNvPr id="9" name="Текст: Что, если субарендатор съедет?"/>
          <p:cNvSpPr txBox="1"/>
          <p:nvPr/>
        </p:nvSpPr>
        <p:spPr>
          <a:xfrm>
            <a:off x="4478834" y="2545715"/>
            <a:ext cx="3149785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Что, если субарендатор съедет?</a:t>
            </a:r>
          </a:p>
        </p:txBody>
      </p:sp>
      <p:sp>
        <p:nvSpPr>
          <p:cNvPr id="10" name="Текст: ВОПРОС 03"/>
          <p:cNvSpPr txBox="1"/>
          <p:nvPr/>
        </p:nvSpPr>
        <p:spPr>
          <a:xfrm>
            <a:off x="8068667" y="2302764"/>
            <a:ext cx="7751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ВОПРОС 03</a:t>
            </a:r>
          </a:p>
        </p:txBody>
      </p:sp>
      <p:sp>
        <p:nvSpPr>
          <p:cNvPr id="11" name="Текст: Какие гарантии?"/>
          <p:cNvSpPr txBox="1"/>
          <p:nvPr/>
        </p:nvSpPr>
        <p:spPr>
          <a:xfrm>
            <a:off x="8068667" y="2545715"/>
            <a:ext cx="1661143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Какие гарантии?</a:t>
            </a:r>
          </a:p>
        </p:txBody>
      </p:sp>
      <p:sp>
        <p:nvSpPr>
          <p:cNvPr id="12" name="Текст: Да: около 3 часов в месяц — контроль"/>
          <p:cNvSpPr txBox="1"/>
          <p:nvPr/>
        </p:nvSpPr>
        <p:spPr>
          <a:xfrm>
            <a:off x="1054100" y="3173412"/>
            <a:ext cx="309888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Да: около 3 часов в месяц — контроль</a:t>
            </a:r>
          </a:p>
        </p:txBody>
      </p:sp>
      <p:sp>
        <p:nvSpPr>
          <p:cNvPr id="13" name="Текст: оплаты и коммуналки"/>
          <p:cNvSpPr txBox="1"/>
          <p:nvPr/>
        </p:nvSpPr>
        <p:spPr>
          <a:xfrm>
            <a:off x="1054100" y="3395662"/>
            <a:ext cx="1798065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оплаты и коммуналки</a:t>
            </a:r>
          </a:p>
        </p:txBody>
      </p:sp>
      <p:sp>
        <p:nvSpPr>
          <p:cNvPr id="14" name="Текст: —"/>
          <p:cNvSpPr txBox="1"/>
          <p:nvPr/>
        </p:nvSpPr>
        <p:spPr>
          <a:xfrm>
            <a:off x="889000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5" name="Текст: Передаём готовый объект, шаблоны"/>
          <p:cNvSpPr txBox="1"/>
          <p:nvPr/>
        </p:nvSpPr>
        <p:spPr>
          <a:xfrm>
            <a:off x="1054100" y="3732212"/>
            <a:ext cx="296680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Передаём готовый объект, шаблоны</a:t>
            </a:r>
          </a:p>
        </p:txBody>
      </p:sp>
      <p:sp>
        <p:nvSpPr>
          <p:cNvPr id="16" name="Текст: договоров и учёта"/>
          <p:cNvSpPr txBox="1"/>
          <p:nvPr/>
        </p:nvSpPr>
        <p:spPr>
          <a:xfrm>
            <a:off x="1054100" y="3954462"/>
            <a:ext cx="155173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договоров и учёта</a:t>
            </a:r>
          </a:p>
        </p:txBody>
      </p:sp>
      <p:sp>
        <p:nvSpPr>
          <p:cNvPr id="17" name="Текст: —"/>
          <p:cNvSpPr txBox="1"/>
          <p:nvPr/>
        </p:nvSpPr>
        <p:spPr>
          <a:xfrm>
            <a:off x="889000" y="37322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18" name="Текст: При поломках выезжают наши"/>
          <p:cNvSpPr txBox="1"/>
          <p:nvPr/>
        </p:nvSpPr>
        <p:spPr>
          <a:xfrm>
            <a:off x="1054100" y="4291012"/>
            <a:ext cx="250551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 поломках выезжают наши</a:t>
            </a:r>
          </a:p>
        </p:txBody>
      </p:sp>
      <p:sp>
        <p:nvSpPr>
          <p:cNvPr id="19" name="Текст: специалисты"/>
          <p:cNvSpPr txBox="1"/>
          <p:nvPr/>
        </p:nvSpPr>
        <p:spPr>
          <a:xfrm>
            <a:off x="1054100" y="4513262"/>
            <a:ext cx="1117028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специалисты</a:t>
            </a:r>
          </a:p>
        </p:txBody>
      </p:sp>
      <p:sp>
        <p:nvSpPr>
          <p:cNvPr id="20" name="Текст: —"/>
          <p:cNvSpPr txBox="1"/>
          <p:nvPr/>
        </p:nvSpPr>
        <p:spPr>
          <a:xfrm>
            <a:off x="889000" y="42910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1" name="Текст: О выезде предупреждают минимум"/>
          <p:cNvSpPr txBox="1"/>
          <p:nvPr/>
        </p:nvSpPr>
        <p:spPr>
          <a:xfrm>
            <a:off x="4643934" y="3173412"/>
            <a:ext cx="292090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 выезде предупреждают минимум</a:t>
            </a:r>
          </a:p>
        </p:txBody>
      </p:sp>
      <p:sp>
        <p:nvSpPr>
          <p:cNvPr id="22" name="Текст: за 2 месяца"/>
          <p:cNvSpPr txBox="1"/>
          <p:nvPr/>
        </p:nvSpPr>
        <p:spPr>
          <a:xfrm>
            <a:off x="4643934" y="3395662"/>
            <a:ext cx="101598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за 2 месяца</a:t>
            </a:r>
          </a:p>
        </p:txBody>
      </p:sp>
      <p:sp>
        <p:nvSpPr>
          <p:cNvPr id="23" name="Текст: —"/>
          <p:cNvSpPr txBox="1"/>
          <p:nvPr/>
        </p:nvSpPr>
        <p:spPr>
          <a:xfrm>
            <a:off x="4478834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4" name="Текст: Новый арендатор — за 3–45 дней,"/>
          <p:cNvSpPr txBox="1"/>
          <p:nvPr/>
        </p:nvSpPr>
        <p:spPr>
          <a:xfrm>
            <a:off x="4643934" y="3732212"/>
            <a:ext cx="279411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Новый арендатор — за 3–45 дней,</a:t>
            </a:r>
          </a:p>
        </p:txBody>
      </p:sp>
      <p:sp>
        <p:nvSpPr>
          <p:cNvPr id="25" name="Текст: первый год заселяем бесплатно"/>
          <p:cNvSpPr txBox="1"/>
          <p:nvPr/>
        </p:nvSpPr>
        <p:spPr>
          <a:xfrm>
            <a:off x="4643934" y="3954462"/>
            <a:ext cx="2649651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первый год заселяем бесплатно</a:t>
            </a:r>
          </a:p>
        </p:txBody>
      </p:sp>
      <p:sp>
        <p:nvSpPr>
          <p:cNvPr id="26" name="Текст: —"/>
          <p:cNvSpPr txBox="1"/>
          <p:nvPr/>
        </p:nvSpPr>
        <p:spPr>
          <a:xfrm>
            <a:off x="4478834" y="37322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27" name="Текст: Остаётся ремонт, ставка растёт:"/>
          <p:cNvSpPr txBox="1"/>
          <p:nvPr/>
        </p:nvSpPr>
        <p:spPr>
          <a:xfrm>
            <a:off x="4643934" y="4291012"/>
            <a:ext cx="2662859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Остаётся ремонт, ставка растёт:</a:t>
            </a:r>
          </a:p>
        </p:txBody>
      </p:sp>
      <p:sp>
        <p:nvSpPr>
          <p:cNvPr id="28" name="Текст: +5–10 тыс. ₽ в месяц"/>
          <p:cNvSpPr txBox="1"/>
          <p:nvPr/>
        </p:nvSpPr>
        <p:spPr>
          <a:xfrm>
            <a:off x="4643934" y="4513262"/>
            <a:ext cx="172913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+5–10 тыс. ₽ в месяц</a:t>
            </a:r>
          </a:p>
        </p:txBody>
      </p:sp>
      <p:sp>
        <p:nvSpPr>
          <p:cNvPr id="29" name="Текст: —"/>
          <p:cNvSpPr txBox="1"/>
          <p:nvPr/>
        </p:nvSpPr>
        <p:spPr>
          <a:xfrm>
            <a:off x="4478834" y="42910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0" name="Текст: Доход от 40% в год"/>
          <p:cNvSpPr txBox="1"/>
          <p:nvPr/>
        </p:nvSpPr>
        <p:spPr>
          <a:xfrm>
            <a:off x="8233767" y="3173412"/>
            <a:ext cx="162875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Доход </a:t>
            </a:r>
            <a:r>
              <a:rPr sz="1250" b="0">
                <a:solidFill>
                  <a:srgbClr val="8A2A3A"/>
                </a:solidFill>
                <a:latin typeface="Onest"/>
                <a:cs typeface="Onest"/>
                <a:ea typeface="Onest"/>
              </a:rPr>
              <a:t>от 40%</a:t>
            </a: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 в год</a:t>
            </a:r>
          </a:p>
        </p:txBody>
      </p:sp>
      <p:sp>
        <p:nvSpPr>
          <p:cNvPr id="31" name="Текст: —"/>
          <p:cNvSpPr txBox="1"/>
          <p:nvPr/>
        </p:nvSpPr>
        <p:spPr>
          <a:xfrm>
            <a:off x="8068667" y="317341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2" name="Текст: Договоры аренды и субаренды —"/>
          <p:cNvSpPr txBox="1"/>
          <p:nvPr/>
        </p:nvSpPr>
        <p:spPr>
          <a:xfrm>
            <a:off x="8233767" y="3509962"/>
            <a:ext cx="2723120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Договоры аренды и субаренды —</a:t>
            </a:r>
          </a:p>
        </p:txBody>
      </p:sp>
      <p:sp>
        <p:nvSpPr>
          <p:cNvPr id="33" name="Текст: на вашу компанию"/>
          <p:cNvSpPr txBox="1"/>
          <p:nvPr/>
        </p:nvSpPr>
        <p:spPr>
          <a:xfrm>
            <a:off x="8233767" y="3732212"/>
            <a:ext cx="1561807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на вашу компанию</a:t>
            </a:r>
          </a:p>
        </p:txBody>
      </p:sp>
      <p:sp>
        <p:nvSpPr>
          <p:cNvPr id="34" name="Текст: —"/>
          <p:cNvSpPr txBox="1"/>
          <p:nvPr/>
        </p:nvSpPr>
        <p:spPr>
          <a:xfrm>
            <a:off x="8068667" y="350996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5" name="Текст: Не вышли на цель — откроем новый"/>
          <p:cNvSpPr txBox="1"/>
          <p:nvPr/>
        </p:nvSpPr>
        <p:spPr>
          <a:xfrm>
            <a:off x="8233767" y="4068762"/>
            <a:ext cx="2924544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Не вышли на цель — откроем новый</a:t>
            </a:r>
          </a:p>
        </p:txBody>
      </p:sp>
      <p:sp>
        <p:nvSpPr>
          <p:cNvPr id="36" name="Текст: объект бесплатно"/>
          <p:cNvSpPr txBox="1"/>
          <p:nvPr/>
        </p:nvSpPr>
        <p:spPr>
          <a:xfrm>
            <a:off x="8233767" y="4291012"/>
            <a:ext cx="150154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объект бесплатно</a:t>
            </a:r>
          </a:p>
        </p:txBody>
      </p:sp>
      <p:sp>
        <p:nvSpPr>
          <p:cNvPr id="37" name="Текст: —"/>
          <p:cNvSpPr txBox="1"/>
          <p:nvPr/>
        </p:nvSpPr>
        <p:spPr>
          <a:xfrm>
            <a:off x="8068667" y="4068762"/>
            <a:ext cx="204686" cy="2024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8C857B"/>
                </a:solidFill>
                <a:latin typeface="Onest"/>
                <a:cs typeface="Onest"/>
                <a:ea typeface="Onest"/>
              </a:rPr>
              <a:t>—</a:t>
            </a:r>
          </a:p>
        </p:txBody>
      </p:sp>
      <p:sp>
        <p:nvSpPr>
          <p:cNvPr id="38" name="Текст: 06 — КАК МЫ ОТКРЫВАЕМ"/>
          <p:cNvSpPr txBox="1"/>
          <p:nvPr/>
        </p:nvSpPr>
        <p:spPr>
          <a:xfrm>
            <a:off x="889000" y="309118"/>
            <a:ext cx="1678022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06 — КАК МЫ ОТКРЫВАЕМ</a:t>
            </a:r>
          </a:p>
        </p:txBody>
      </p:sp>
      <p:sp>
        <p:nvSpPr>
          <p:cNvPr id="39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РИЭЛТОРОВ И БРОКЕРОВ"/>
          <p:cNvSpPr txBox="1"/>
          <p:nvPr/>
        </p:nvSpPr>
        <p:spPr>
          <a:xfrm>
            <a:off x="889000" y="949960"/>
            <a:ext cx="2329992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РИЭЛТОРОВ И БРОКЕРОВ</a:t>
            </a:r>
          </a:p>
        </p:txBody>
      </p:sp>
      <p:sp>
        <p:nvSpPr>
          <p:cNvPr id="4" name="Текст: Где здесь место для вас"/>
          <p:cNvSpPr txBox="1"/>
          <p:nvPr/>
        </p:nvSpPr>
        <p:spPr>
          <a:xfrm>
            <a:off x="889000" y="1196340"/>
            <a:ext cx="6047134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Где здесь место для вас</a:t>
            </a:r>
          </a:p>
        </p:txBody>
      </p:sp>
      <p:sp>
        <p:nvSpPr>
          <p:cNvPr id="5" name="Текст: ПРЕДЛОЖЕНИЕ — ОБСУДИТЬ УСЛОВИЯ"/>
          <p:cNvSpPr txBox="1"/>
          <p:nvPr/>
        </p:nvSpPr>
        <p:spPr>
          <a:xfrm>
            <a:off x="9366250" y="1636522"/>
            <a:ext cx="1976780" cy="1173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700" b="0" spc="70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ПРЕДЛОЖЕНИЕ — ОБСУДИТЬ УСЛОВИЯ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889000" y="2393442"/>
            <a:ext cx="62278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01</a:t>
            </a:r>
          </a:p>
        </p:txBody>
      </p:sp>
      <p:sp>
        <p:nvSpPr>
          <p:cNvPr id="7" name="Текст: Приведите помещение"/>
          <p:cNvSpPr txBox="1"/>
          <p:nvPr/>
        </p:nvSpPr>
        <p:spPr>
          <a:xfrm>
            <a:off x="889000" y="3194177"/>
            <a:ext cx="2562811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Приведите помещение</a:t>
            </a:r>
          </a:p>
        </p:txBody>
      </p:sp>
      <p:sp>
        <p:nvSpPr>
          <p:cNvPr id="8" name="Текст: Знаете собственника"/>
          <p:cNvSpPr txBox="1"/>
          <p:nvPr/>
        </p:nvSpPr>
        <p:spPr>
          <a:xfrm>
            <a:off x="889000" y="3566541"/>
            <a:ext cx="1567478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Знаете собственника</a:t>
            </a:r>
          </a:p>
        </p:txBody>
      </p:sp>
      <p:sp>
        <p:nvSpPr>
          <p:cNvPr id="9" name="Текст: с подходящей площадью —"/>
          <p:cNvSpPr txBox="1"/>
          <p:nvPr/>
        </p:nvSpPr>
        <p:spPr>
          <a:xfrm>
            <a:off x="889000" y="3769741"/>
            <a:ext cx="196629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с подходящей площадью —</a:t>
            </a:r>
          </a:p>
        </p:txBody>
      </p:sp>
      <p:sp>
        <p:nvSpPr>
          <p:cNvPr id="10" name="Текст: обсудим объект вместе"/>
          <p:cNvSpPr txBox="1"/>
          <p:nvPr/>
        </p:nvSpPr>
        <p:spPr>
          <a:xfrm>
            <a:off x="889000" y="3972941"/>
            <a:ext cx="173470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обсудим объект вместе</a:t>
            </a:r>
          </a:p>
        </p:txBody>
      </p:sp>
      <p:sp>
        <p:nvSpPr>
          <p:cNvPr id="11" name="Текст: ВОЗНАГРАЖДЕНИЕ"/>
          <p:cNvSpPr txBox="1"/>
          <p:nvPr/>
        </p:nvSpPr>
        <p:spPr>
          <a:xfrm>
            <a:off x="889000" y="4918964"/>
            <a:ext cx="1179300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ВОЗНАГРАЖДЕНИЕ</a:t>
            </a:r>
          </a:p>
        </p:txBody>
      </p:sp>
      <p:sp>
        <p:nvSpPr>
          <p:cNvPr id="12" name="Текст: 02"/>
          <p:cNvSpPr txBox="1"/>
          <p:nvPr/>
        </p:nvSpPr>
        <p:spPr>
          <a:xfrm>
            <a:off x="3568700" y="2393442"/>
            <a:ext cx="703935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142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02</a:t>
            </a:r>
          </a:p>
        </p:txBody>
      </p:sp>
      <p:sp>
        <p:nvSpPr>
          <p:cNvPr id="13" name="Текст: Приведите"/>
          <p:cNvSpPr txBox="1"/>
          <p:nvPr/>
        </p:nvSpPr>
        <p:spPr>
          <a:xfrm>
            <a:off x="3568700" y="3194177"/>
            <a:ext cx="1274172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Приведите</a:t>
            </a:r>
          </a:p>
        </p:txBody>
      </p:sp>
      <p:sp>
        <p:nvSpPr>
          <p:cNvPr id="14" name="Текст: арендатора"/>
          <p:cNvSpPr txBox="1"/>
          <p:nvPr/>
        </p:nvSpPr>
        <p:spPr>
          <a:xfrm>
            <a:off x="3568700" y="3454527"/>
            <a:ext cx="1361831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арендатора</a:t>
            </a:r>
          </a:p>
        </p:txBody>
      </p:sp>
      <p:sp>
        <p:nvSpPr>
          <p:cNvPr id="15" name="Текст: Клиенты ищут малый формат"/>
          <p:cNvSpPr txBox="1"/>
          <p:nvPr/>
        </p:nvSpPr>
        <p:spPr>
          <a:xfrm>
            <a:off x="3568700" y="3833241"/>
            <a:ext cx="210853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Клиенты ищут малый формат</a:t>
            </a:r>
          </a:p>
        </p:txBody>
      </p:sp>
      <p:sp>
        <p:nvSpPr>
          <p:cNvPr id="16" name="Текст: на первом этаже — у нас есть"/>
          <p:cNvSpPr txBox="1"/>
          <p:nvPr/>
        </p:nvSpPr>
        <p:spPr>
          <a:xfrm>
            <a:off x="3568700" y="4036441"/>
            <a:ext cx="214950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 первом этаже — у нас есть</a:t>
            </a:r>
          </a:p>
        </p:txBody>
      </p:sp>
      <p:sp>
        <p:nvSpPr>
          <p:cNvPr id="17" name="Текст: блоки"/>
          <p:cNvSpPr txBox="1"/>
          <p:nvPr/>
        </p:nvSpPr>
        <p:spPr>
          <a:xfrm>
            <a:off x="3568700" y="4239641"/>
            <a:ext cx="482613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блоки</a:t>
            </a:r>
          </a:p>
        </p:txBody>
      </p:sp>
      <p:sp>
        <p:nvSpPr>
          <p:cNvPr id="18" name="Текст: КОМИССИЯ"/>
          <p:cNvSpPr txBox="1"/>
          <p:nvPr/>
        </p:nvSpPr>
        <p:spPr>
          <a:xfrm>
            <a:off x="3568700" y="4918964"/>
            <a:ext cx="694304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8A2A3A"/>
                </a:solidFill>
                <a:latin typeface="JetBrains Mono"/>
                <a:cs typeface="JetBrains Mono"/>
                <a:ea typeface="JetBrains Mono"/>
              </a:rPr>
              <a:t>КОМИССИЯ</a:t>
            </a:r>
          </a:p>
        </p:txBody>
      </p:sp>
      <p:sp>
        <p:nvSpPr>
          <p:cNvPr id="19" name="Текст: 03"/>
          <p:cNvSpPr txBox="1"/>
          <p:nvPr/>
        </p:nvSpPr>
        <p:spPr>
          <a:xfrm>
            <a:off x="6248400" y="2393442"/>
            <a:ext cx="723799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03</a:t>
            </a:r>
          </a:p>
        </p:txBody>
      </p:sp>
      <p:sp>
        <p:nvSpPr>
          <p:cNvPr id="20" name="Текст: Откройте свой объект"/>
          <p:cNvSpPr txBox="1"/>
          <p:nvPr/>
        </p:nvSpPr>
        <p:spPr>
          <a:xfrm>
            <a:off x="6248400" y="3194177"/>
            <a:ext cx="248560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Откройте свой объект</a:t>
            </a:r>
          </a:p>
        </p:txBody>
      </p:sp>
      <p:sp>
        <p:nvSpPr>
          <p:cNvPr id="21" name="Текст: Научим считать, договариваться"/>
          <p:cNvSpPr txBox="1"/>
          <p:nvPr/>
        </p:nvSpPr>
        <p:spPr>
          <a:xfrm>
            <a:off x="6248400" y="3566541"/>
            <a:ext cx="236627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Научим считать, договариваться</a:t>
            </a:r>
          </a:p>
        </p:txBody>
      </p:sp>
      <p:sp>
        <p:nvSpPr>
          <p:cNvPr id="22" name="Текст: и запускать — на интенсиве"/>
          <p:cNvSpPr txBox="1"/>
          <p:nvPr/>
        </p:nvSpPr>
        <p:spPr>
          <a:xfrm>
            <a:off x="6248400" y="3769741"/>
            <a:ext cx="2014820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запускать — на интенсиве</a:t>
            </a:r>
          </a:p>
        </p:txBody>
      </p:sp>
      <p:sp>
        <p:nvSpPr>
          <p:cNvPr id="23" name="Текст: 04"/>
          <p:cNvSpPr txBox="1"/>
          <p:nvPr/>
        </p:nvSpPr>
        <p:spPr>
          <a:xfrm>
            <a:off x="8928100" y="2393442"/>
            <a:ext cx="737747" cy="5181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3200" b="0" spc="-94">
                <a:solidFill>
                  <a:srgbClr val="5E5850"/>
                </a:solidFill>
                <a:latin typeface="Onest Light"/>
                <a:cs typeface="Onest Light"/>
                <a:ea typeface="Onest Light"/>
              </a:rPr>
              <a:t>04</a:t>
            </a:r>
          </a:p>
        </p:txBody>
      </p:sp>
      <p:sp>
        <p:nvSpPr>
          <p:cNvPr id="24" name="Текст: Приходите на ужин"/>
          <p:cNvSpPr txBox="1"/>
          <p:nvPr/>
        </p:nvSpPr>
        <p:spPr>
          <a:xfrm>
            <a:off x="8928100" y="3194177"/>
            <a:ext cx="2185608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Приходите на ужин</a:t>
            </a:r>
          </a:p>
        </p:txBody>
      </p:sp>
      <p:sp>
        <p:nvSpPr>
          <p:cNvPr id="25" name="Текст: Разберём ваши вопросы"/>
          <p:cNvSpPr txBox="1"/>
          <p:nvPr/>
        </p:nvSpPr>
        <p:spPr>
          <a:xfrm>
            <a:off x="8928100" y="3566541"/>
            <a:ext cx="1795871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Разберём ваши вопросы</a:t>
            </a:r>
          </a:p>
        </p:txBody>
      </p:sp>
      <p:sp>
        <p:nvSpPr>
          <p:cNvPr id="26" name="Текст: и покажем объекты вживую"/>
          <p:cNvSpPr txBox="1"/>
          <p:nvPr/>
        </p:nvSpPr>
        <p:spPr>
          <a:xfrm>
            <a:off x="8928100" y="3769741"/>
            <a:ext cx="2022665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и покажем объекты вживую</a:t>
            </a:r>
          </a:p>
        </p:txBody>
      </p:sp>
      <p:sp>
        <p:nvSpPr>
          <p:cNvPr id="27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8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ПРИГЛАШЕНИЕ"/>
          <p:cNvSpPr txBox="1"/>
          <p:nvPr/>
        </p:nvSpPr>
        <p:spPr>
          <a:xfrm>
            <a:off x="889000" y="949960"/>
            <a:ext cx="1093724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A39D94"/>
                </a:solidFill>
                <a:latin typeface="JetBrains Mono"/>
                <a:cs typeface="JetBrains Mono"/>
                <a:ea typeface="JetBrains Mono"/>
              </a:rPr>
              <a:t>ПРИГЛАШЕНИЕ</a:t>
            </a:r>
          </a:p>
        </p:txBody>
      </p:sp>
      <p:sp>
        <p:nvSpPr>
          <p:cNvPr id="4" name="Текст: Бизнес-ужин"/>
          <p:cNvSpPr txBox="1"/>
          <p:nvPr/>
        </p:nvSpPr>
        <p:spPr>
          <a:xfrm>
            <a:off x="889000" y="1160272"/>
            <a:ext cx="5245822" cy="10039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6200" b="0" spc="-273">
                <a:solidFill>
                  <a:srgbClr val="ECE8E1"/>
                </a:solidFill>
                <a:latin typeface="Onest Light"/>
                <a:cs typeface="Onest Light"/>
                <a:ea typeface="Onest Light"/>
              </a:rPr>
              <a:t>Бизнес-ужин</a:t>
            </a:r>
          </a:p>
        </p:txBody>
      </p:sp>
      <p:sp>
        <p:nvSpPr>
          <p:cNvPr id="5" name="Текст: 01"/>
          <p:cNvSpPr txBox="1"/>
          <p:nvPr/>
        </p:nvSpPr>
        <p:spPr>
          <a:xfrm>
            <a:off x="889000" y="2626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6" name="Текст: Покажу объекты и цифры вживую"/>
          <p:cNvSpPr txBox="1"/>
          <p:nvPr/>
        </p:nvSpPr>
        <p:spPr>
          <a:xfrm>
            <a:off x="1333500" y="2558415"/>
            <a:ext cx="3342780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Покажу объекты и цифры вживую</a:t>
            </a:r>
          </a:p>
        </p:txBody>
      </p:sp>
      <p:sp>
        <p:nvSpPr>
          <p:cNvPr id="7" name="Текст: 02"/>
          <p:cNvSpPr txBox="1"/>
          <p:nvPr/>
        </p:nvSpPr>
        <p:spPr>
          <a:xfrm>
            <a:off x="889000" y="3172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8" name="Текст: Разберём, как открыть первый объект"/>
          <p:cNvSpPr txBox="1"/>
          <p:nvPr/>
        </p:nvSpPr>
        <p:spPr>
          <a:xfrm>
            <a:off x="1333500" y="3104515"/>
            <a:ext cx="3740144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Разберём, как открыть первый объект</a:t>
            </a:r>
          </a:p>
        </p:txBody>
      </p:sp>
      <p:sp>
        <p:nvSpPr>
          <p:cNvPr id="9" name="Текст: 03"/>
          <p:cNvSpPr txBox="1"/>
          <p:nvPr/>
        </p:nvSpPr>
        <p:spPr>
          <a:xfrm>
            <a:off x="889000" y="37188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0" name="Текст: Знакомство с командой и коллегами"/>
          <p:cNvSpPr txBox="1"/>
          <p:nvPr/>
        </p:nvSpPr>
        <p:spPr>
          <a:xfrm>
            <a:off x="1333500" y="3650615"/>
            <a:ext cx="3607928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ECE8E1"/>
                </a:solidFill>
                <a:latin typeface="Onest Medium"/>
                <a:cs typeface="Onest Medium"/>
                <a:ea typeface="Onest Medium"/>
              </a:rPr>
              <a:t>Знакомство с командой и коллегами</a:t>
            </a:r>
          </a:p>
        </p:txBody>
      </p:sp>
      <p:sp>
        <p:nvSpPr>
          <p:cNvPr id="11" name="Текст: Количество мест ограничено"/>
          <p:cNvSpPr txBox="1"/>
          <p:nvPr/>
        </p:nvSpPr>
        <p:spPr>
          <a:xfrm>
            <a:off x="889000" y="5564632"/>
            <a:ext cx="4084560" cy="3562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200" b="0" spc="-46">
                <a:solidFill>
                  <a:srgbClr val="ECE8E1"/>
                </a:solidFill>
                <a:latin typeface="Onest"/>
                <a:cs typeface="Onest"/>
                <a:ea typeface="Onest"/>
              </a:rPr>
              <a:t>Количество мест ограничено</a:t>
            </a:r>
          </a:p>
        </p:txBody>
      </p:sp>
      <p:sp>
        <p:nvSpPr>
          <p:cNvPr id="12" name="Текст: ТАК ПРОХОДЯТ НАШИ ВСТРЕЧИ"/>
          <p:cNvSpPr txBox="1"/>
          <p:nvPr/>
        </p:nvSpPr>
        <p:spPr>
          <a:xfrm>
            <a:off x="7467600" y="5706618"/>
            <a:ext cx="178791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A39D94"/>
                </a:solidFill>
                <a:latin typeface="JetBrains Mono"/>
                <a:cs typeface="JetBrains Mono"/>
                <a:ea typeface="JetBrains Mono"/>
              </a:rPr>
              <a:t>ТАК ПРОХОДЯТ НАШИ ВСТРЕЧИ</a:t>
            </a:r>
          </a:p>
        </p:txBody>
      </p:sp>
      <p:sp>
        <p:nvSpPr>
          <p:cNvPr id="13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8A847B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14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A39D94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ТЕХ, КТО ХОЧЕТ ТАК ЖЕ"/>
          <p:cNvSpPr txBox="1"/>
          <p:nvPr/>
        </p:nvSpPr>
        <p:spPr>
          <a:xfrm>
            <a:off x="889000" y="949960"/>
            <a:ext cx="2425089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ТЕХ, КТО ХОЧЕТ ТАК ЖЕ</a:t>
            </a:r>
          </a:p>
        </p:txBody>
      </p:sp>
      <p:sp>
        <p:nvSpPr>
          <p:cNvPr id="4" name="Текст: Личный интенсив"/>
          <p:cNvSpPr txBox="1"/>
          <p:nvPr/>
        </p:nvSpPr>
        <p:spPr>
          <a:xfrm>
            <a:off x="889000" y="1196340"/>
            <a:ext cx="4423502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3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Личный интенсив</a:t>
            </a:r>
          </a:p>
        </p:txBody>
      </p:sp>
      <p:sp>
        <p:nvSpPr>
          <p:cNvPr id="5" name="Текст: по субаренде"/>
          <p:cNvSpPr txBox="1"/>
          <p:nvPr/>
        </p:nvSpPr>
        <p:spPr>
          <a:xfrm>
            <a:off x="889000" y="1723390"/>
            <a:ext cx="3528211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по субаренде</a:t>
            </a:r>
          </a:p>
        </p:txBody>
      </p:sp>
      <p:sp>
        <p:nvSpPr>
          <p:cNvPr id="6" name="Текст: Научу запускать объекты так, как это дел"/>
          <p:cNvSpPr txBox="1"/>
          <p:nvPr/>
        </p:nvSpPr>
        <p:spPr>
          <a:xfrm>
            <a:off x="889000" y="2507996"/>
            <a:ext cx="462125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Научу запускать объекты так, как это делаем</a:t>
            </a:r>
          </a:p>
        </p:txBody>
      </p:sp>
      <p:sp>
        <p:nvSpPr>
          <p:cNvPr id="7" name="Текст: мы, — чтобы у вас был стабильный доход."/>
          <p:cNvSpPr txBox="1"/>
          <p:nvPr/>
        </p:nvSpPr>
        <p:spPr>
          <a:xfrm>
            <a:off x="889000" y="2793746"/>
            <a:ext cx="4224343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мы, — чтобы у вас был стабильный доход.</a:t>
            </a:r>
          </a:p>
        </p:txBody>
      </p:sp>
      <p:sp>
        <p:nvSpPr>
          <p:cNvPr id="8" name="Текст: ФОРМАТ"/>
          <p:cNvSpPr txBox="1"/>
          <p:nvPr/>
        </p:nvSpPr>
        <p:spPr>
          <a:xfrm>
            <a:off x="6223000" y="1185164"/>
            <a:ext cx="532637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ФОРМАТ</a:t>
            </a:r>
          </a:p>
        </p:txBody>
      </p:sp>
      <p:sp>
        <p:nvSpPr>
          <p:cNvPr id="9" name="Текст: Лично с Артёмом · офлайн"/>
          <p:cNvSpPr txBox="1"/>
          <p:nvPr/>
        </p:nvSpPr>
        <p:spPr>
          <a:xfrm>
            <a:off x="7493000" y="1104646"/>
            <a:ext cx="2757208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Лично с Артёмом · офлайн</a:t>
            </a:r>
          </a:p>
        </p:txBody>
      </p:sp>
      <p:sp>
        <p:nvSpPr>
          <p:cNvPr id="10" name="Текст: ДЛИТЕЛЬНОСТЬ"/>
          <p:cNvSpPr txBox="1"/>
          <p:nvPr/>
        </p:nvSpPr>
        <p:spPr>
          <a:xfrm>
            <a:off x="6223000" y="1756664"/>
            <a:ext cx="1017635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ДЛИТЕЛЬНОСТЬ</a:t>
            </a:r>
          </a:p>
        </p:txBody>
      </p:sp>
      <p:sp>
        <p:nvSpPr>
          <p:cNvPr id="11" name="Текст: 2,5 часа"/>
          <p:cNvSpPr txBox="1"/>
          <p:nvPr/>
        </p:nvSpPr>
        <p:spPr>
          <a:xfrm>
            <a:off x="7493000" y="1676146"/>
            <a:ext cx="91680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2,5 часа</a:t>
            </a:r>
          </a:p>
        </p:txBody>
      </p:sp>
      <p:sp>
        <p:nvSpPr>
          <p:cNvPr id="12" name="Текст: ПРАКТИКА"/>
          <p:cNvSpPr txBox="1"/>
          <p:nvPr/>
        </p:nvSpPr>
        <p:spPr>
          <a:xfrm>
            <a:off x="6223000" y="2328164"/>
            <a:ext cx="694303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ПРАКТИКА</a:t>
            </a:r>
          </a:p>
        </p:txBody>
      </p:sp>
      <p:sp>
        <p:nvSpPr>
          <p:cNvPr id="13" name="Текст: Выезды на объекты, разбор ваших"/>
          <p:cNvSpPr txBox="1"/>
          <p:nvPr/>
        </p:nvSpPr>
        <p:spPr>
          <a:xfrm>
            <a:off x="7493000" y="2247646"/>
            <a:ext cx="3558986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Выезды на объекты, разбор ваших</a:t>
            </a:r>
          </a:p>
        </p:txBody>
      </p:sp>
      <p:sp>
        <p:nvSpPr>
          <p:cNvPr id="14" name="Текст: помещений и финмоделей"/>
          <p:cNvSpPr txBox="1"/>
          <p:nvPr/>
        </p:nvSpPr>
        <p:spPr>
          <a:xfrm>
            <a:off x="7493000" y="2495296"/>
            <a:ext cx="2764174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помещений и финмоделей</a:t>
            </a:r>
          </a:p>
        </p:txBody>
      </p:sp>
      <p:sp>
        <p:nvSpPr>
          <p:cNvPr id="15" name="Текст: РЕЗУЛЬТАТ"/>
          <p:cNvSpPr txBox="1"/>
          <p:nvPr/>
        </p:nvSpPr>
        <p:spPr>
          <a:xfrm>
            <a:off x="6223000" y="3147314"/>
            <a:ext cx="775136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РЕЗУЛЬТАТ</a:t>
            </a:r>
          </a:p>
        </p:txBody>
      </p:sp>
      <p:sp>
        <p:nvSpPr>
          <p:cNvPr id="16" name="Текст: Свой объект субаренды и понятная"/>
          <p:cNvSpPr txBox="1"/>
          <p:nvPr/>
        </p:nvSpPr>
        <p:spPr>
          <a:xfrm>
            <a:off x="7493000" y="3066796"/>
            <a:ext cx="366087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Свой объект субаренды и понятная</a:t>
            </a:r>
          </a:p>
        </p:txBody>
      </p:sp>
      <p:sp>
        <p:nvSpPr>
          <p:cNvPr id="17" name="Текст: экономика"/>
          <p:cNvSpPr txBox="1"/>
          <p:nvPr/>
        </p:nvSpPr>
        <p:spPr>
          <a:xfrm>
            <a:off x="7493000" y="3314446"/>
            <a:ext cx="1182931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171615"/>
                </a:solidFill>
                <a:latin typeface="Onest"/>
                <a:cs typeface="Onest"/>
                <a:ea typeface="Onest"/>
              </a:rPr>
              <a:t>экономика</a:t>
            </a:r>
          </a:p>
        </p:txBody>
      </p:sp>
      <p:sp>
        <p:nvSpPr>
          <p:cNvPr id="18" name="Текст: РАЗБОР ОБЪЕКТОВ С УЧАСТНИКАМИ"/>
          <p:cNvSpPr txBox="1"/>
          <p:nvPr/>
        </p:nvSpPr>
        <p:spPr>
          <a:xfrm>
            <a:off x="990600" y="5249418"/>
            <a:ext cx="2066866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4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РАЗБОР ОБЪЕКТОВ С УЧАСТНИКАМИ</a:t>
            </a:r>
          </a:p>
        </p:txBody>
      </p:sp>
      <p:sp>
        <p:nvSpPr>
          <p:cNvPr id="19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0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ДЛЯ ТЕХ, КТО НЕ ХОЧЕТ УЧИТЬСЯ"/>
          <p:cNvSpPr txBox="1"/>
          <p:nvPr/>
        </p:nvSpPr>
        <p:spPr>
          <a:xfrm>
            <a:off x="889000" y="949960"/>
            <a:ext cx="2805480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ДЛЯ ТЕХ, КТО НЕ ХОЧЕТ УЧИТЬСЯ</a:t>
            </a:r>
          </a:p>
        </p:txBody>
      </p:sp>
      <p:sp>
        <p:nvSpPr>
          <p:cNvPr id="4" name="Текст: Готовый доходный бизнес под ключ"/>
          <p:cNvSpPr txBox="1"/>
          <p:nvPr/>
        </p:nvSpPr>
        <p:spPr>
          <a:xfrm>
            <a:off x="889000" y="1196340"/>
            <a:ext cx="8803276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56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Готовый доходный бизнес под ключ</a:t>
            </a:r>
          </a:p>
        </p:txBody>
      </p:sp>
      <p:sp>
        <p:nvSpPr>
          <p:cNvPr id="5" name="Текст: Вы получаете запущенный объект с арендат"/>
          <p:cNvSpPr txBox="1"/>
          <p:nvPr/>
        </p:nvSpPr>
        <p:spPr>
          <a:xfrm>
            <a:off x="889000" y="1930146"/>
            <a:ext cx="7746589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Вы получаете запущенный объект с арендаторами и доходом. Весь процесс</a:t>
            </a:r>
          </a:p>
        </p:txBody>
      </p:sp>
      <p:sp>
        <p:nvSpPr>
          <p:cNvPr id="6" name="Текст: — от подбора помещения до первых денег —"/>
          <p:cNvSpPr txBox="1"/>
          <p:nvPr/>
        </p:nvSpPr>
        <p:spPr>
          <a:xfrm>
            <a:off x="889000" y="2215896"/>
            <a:ext cx="6706882" cy="2590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46423D"/>
                </a:solidFill>
                <a:latin typeface="Onest Light"/>
                <a:cs typeface="Onest Light"/>
                <a:ea typeface="Onest Light"/>
              </a:rPr>
              <a:t>— от подбора помещения до первых денег — ведёт наша команда.</a:t>
            </a:r>
          </a:p>
        </p:txBody>
      </p:sp>
      <p:sp>
        <p:nvSpPr>
          <p:cNvPr id="7" name="Текст: 100–300тыс. ₽"/>
          <p:cNvSpPr txBox="1"/>
          <p:nvPr/>
        </p:nvSpPr>
        <p:spPr>
          <a:xfrm>
            <a:off x="889000" y="2936494"/>
            <a:ext cx="1824380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7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100–300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тыс. ₽</a:t>
            </a:r>
          </a:p>
        </p:txBody>
      </p:sp>
      <p:sp>
        <p:nvSpPr>
          <p:cNvPr id="8" name="Текст: В МЕСЯЦ С ОДНОГО ОБЪЕКТА"/>
          <p:cNvSpPr txBox="1"/>
          <p:nvPr/>
        </p:nvSpPr>
        <p:spPr>
          <a:xfrm>
            <a:off x="889000" y="3337814"/>
            <a:ext cx="198762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В МЕСЯЦ С ОДНОГО ОБЪЕКТА</a:t>
            </a:r>
          </a:p>
        </p:txBody>
      </p:sp>
      <p:sp>
        <p:nvSpPr>
          <p:cNvPr id="9" name="Текст: 3–6мес"/>
          <p:cNvSpPr txBox="1"/>
          <p:nvPr/>
        </p:nvSpPr>
        <p:spPr>
          <a:xfrm>
            <a:off x="3549650" y="2936494"/>
            <a:ext cx="96070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8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3–6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мес</a:t>
            </a:r>
          </a:p>
        </p:txBody>
      </p:sp>
      <p:sp>
        <p:nvSpPr>
          <p:cNvPr id="10" name="Текст: ДО ЗАПУСКА"/>
          <p:cNvSpPr txBox="1"/>
          <p:nvPr/>
        </p:nvSpPr>
        <p:spPr>
          <a:xfrm>
            <a:off x="3549650" y="3337814"/>
            <a:ext cx="85596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 ЗАПУСКА</a:t>
            </a:r>
          </a:p>
        </p:txBody>
      </p:sp>
      <p:sp>
        <p:nvSpPr>
          <p:cNvPr id="11" name="Текст: до 10лет"/>
          <p:cNvSpPr txBox="1"/>
          <p:nvPr/>
        </p:nvSpPr>
        <p:spPr>
          <a:xfrm>
            <a:off x="889000" y="4003294"/>
            <a:ext cx="1129258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0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до 10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лет</a:t>
            </a:r>
          </a:p>
        </p:txBody>
      </p:sp>
      <p:sp>
        <p:nvSpPr>
          <p:cNvPr id="12" name="Текст: ДОГОВОР АРЕНДЫ НА ВАС"/>
          <p:cNvSpPr txBox="1"/>
          <p:nvPr/>
        </p:nvSpPr>
        <p:spPr>
          <a:xfrm>
            <a:off x="889000" y="4404614"/>
            <a:ext cx="1745129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ДОГОВОР АРЕНДЫ НА ВАС</a:t>
            </a:r>
          </a:p>
        </p:txBody>
      </p:sp>
      <p:sp>
        <p:nvSpPr>
          <p:cNvPr id="13" name="Текст: от 1млн ₽"/>
          <p:cNvSpPr txBox="1"/>
          <p:nvPr/>
        </p:nvSpPr>
        <p:spPr>
          <a:xfrm>
            <a:off x="3549650" y="4003294"/>
            <a:ext cx="104609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7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от 1</a:t>
            </a:r>
            <a:r>
              <a:rPr sz="100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млн ₽</a:t>
            </a:r>
          </a:p>
        </p:txBody>
      </p:sp>
      <p:sp>
        <p:nvSpPr>
          <p:cNvPr id="14" name="Текст: КАПИТАЛ ДЛЯ ВХОДА"/>
          <p:cNvSpPr txBox="1"/>
          <p:nvPr/>
        </p:nvSpPr>
        <p:spPr>
          <a:xfrm>
            <a:off x="3549650" y="4404614"/>
            <a:ext cx="1421798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7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КАПИТАЛ ДЛЯ ВХОДА</a:t>
            </a:r>
          </a:p>
        </p:txBody>
      </p:sp>
      <p:sp>
        <p:nvSpPr>
          <p:cNvPr id="15" name="Текст: 01"/>
          <p:cNvSpPr txBox="1"/>
          <p:nvPr/>
        </p:nvSpPr>
        <p:spPr>
          <a:xfrm>
            <a:off x="6400800" y="30012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16" name="Текст: Подбор объекта — только с понятной прибы"/>
          <p:cNvSpPr txBox="1"/>
          <p:nvPr/>
        </p:nvSpPr>
        <p:spPr>
          <a:xfrm>
            <a:off x="6807200" y="2951544"/>
            <a:ext cx="4210782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Подбор объекта — только с понятной прибылью</a:t>
            </a:r>
          </a:p>
        </p:txBody>
      </p:sp>
      <p:sp>
        <p:nvSpPr>
          <p:cNvPr id="17" name="Текст: 02"/>
          <p:cNvSpPr txBox="1"/>
          <p:nvPr/>
        </p:nvSpPr>
        <p:spPr>
          <a:xfrm>
            <a:off x="6400800" y="34267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8" name="Текст: Сделка — переговоры и защита условий"/>
          <p:cNvSpPr txBox="1"/>
          <p:nvPr/>
        </p:nvSpPr>
        <p:spPr>
          <a:xfrm>
            <a:off x="6807200" y="3376994"/>
            <a:ext cx="3555401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Сделка — переговоры и защита условий</a:t>
            </a:r>
          </a:p>
        </p:txBody>
      </p:sp>
      <p:sp>
        <p:nvSpPr>
          <p:cNvPr id="19" name="Текст: 03"/>
          <p:cNvSpPr txBox="1"/>
          <p:nvPr/>
        </p:nvSpPr>
        <p:spPr>
          <a:xfrm>
            <a:off x="6400800" y="3852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20" name="Текст: Запуск — подготовка и упаковка помещения"/>
          <p:cNvSpPr txBox="1"/>
          <p:nvPr/>
        </p:nvSpPr>
        <p:spPr>
          <a:xfrm>
            <a:off x="6807200" y="3802444"/>
            <a:ext cx="391314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Запуск — подготовка и упаковка помещения</a:t>
            </a:r>
          </a:p>
        </p:txBody>
      </p:sp>
      <p:sp>
        <p:nvSpPr>
          <p:cNvPr id="21" name="Текст: 04"/>
          <p:cNvSpPr txBox="1"/>
          <p:nvPr/>
        </p:nvSpPr>
        <p:spPr>
          <a:xfrm>
            <a:off x="6400800" y="42776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04</a:t>
            </a:r>
          </a:p>
        </p:txBody>
      </p:sp>
      <p:sp>
        <p:nvSpPr>
          <p:cNvPr id="22" name="Текст: Заселение — поиск и отбор арендаторов"/>
          <p:cNvSpPr txBox="1"/>
          <p:nvPr/>
        </p:nvSpPr>
        <p:spPr>
          <a:xfrm>
            <a:off x="6807200" y="4227894"/>
            <a:ext cx="3610797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Заселение — поиск и отбор арендаторов</a:t>
            </a:r>
          </a:p>
        </p:txBody>
      </p:sp>
      <p:sp>
        <p:nvSpPr>
          <p:cNvPr id="23" name="Текст: 05"/>
          <p:cNvSpPr txBox="1"/>
          <p:nvPr/>
        </p:nvSpPr>
        <p:spPr>
          <a:xfrm>
            <a:off x="6400800" y="47030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05</a:t>
            </a:r>
          </a:p>
        </p:txBody>
      </p:sp>
      <p:sp>
        <p:nvSpPr>
          <p:cNvPr id="24" name="Текст: Управление — контроль и замена арендатор"/>
          <p:cNvSpPr txBox="1"/>
          <p:nvPr/>
        </p:nvSpPr>
        <p:spPr>
          <a:xfrm>
            <a:off x="6807200" y="4653343"/>
            <a:ext cx="4104688" cy="2185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35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Управление — контроль и замена арендаторов</a:t>
            </a:r>
          </a:p>
        </p:txBody>
      </p:sp>
      <p:sp>
        <p:nvSpPr>
          <p:cNvPr id="25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6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Фон слайда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Текст: ЧТО ДАЛЬШЕ"/>
          <p:cNvSpPr txBox="1"/>
          <p:nvPr/>
        </p:nvSpPr>
        <p:spPr>
          <a:xfrm>
            <a:off x="889000" y="949960"/>
            <a:ext cx="998626" cy="1676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000" b="0" spc="120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ЧТО ДАЛЬШЕ</a:t>
            </a:r>
          </a:p>
        </p:txBody>
      </p:sp>
      <p:sp>
        <p:nvSpPr>
          <p:cNvPr id="4" name="Текст: Как с нами"/>
          <p:cNvSpPr txBox="1"/>
          <p:nvPr/>
        </p:nvSpPr>
        <p:spPr>
          <a:xfrm>
            <a:off x="889000" y="1196340"/>
            <a:ext cx="2826707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1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Как с нами</a:t>
            </a:r>
          </a:p>
        </p:txBody>
      </p:sp>
      <p:sp>
        <p:nvSpPr>
          <p:cNvPr id="5" name="Текст: взаимодействовать"/>
          <p:cNvSpPr txBox="1"/>
          <p:nvPr/>
        </p:nvSpPr>
        <p:spPr>
          <a:xfrm>
            <a:off x="889000" y="1723390"/>
            <a:ext cx="4974223" cy="647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4000" b="0" spc="-142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взаимодействовать</a:t>
            </a:r>
          </a:p>
        </p:txBody>
      </p:sp>
      <p:sp>
        <p:nvSpPr>
          <p:cNvPr id="6" name="Текст: 01"/>
          <p:cNvSpPr txBox="1"/>
          <p:nvPr/>
        </p:nvSpPr>
        <p:spPr>
          <a:xfrm>
            <a:off x="889000" y="282981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01</a:t>
            </a:r>
          </a:p>
        </p:txBody>
      </p:sp>
      <p:sp>
        <p:nvSpPr>
          <p:cNvPr id="7" name="Текст: Бизнес-ужин"/>
          <p:cNvSpPr txBox="1"/>
          <p:nvPr/>
        </p:nvSpPr>
        <p:spPr>
          <a:xfrm>
            <a:off x="1333500" y="2736977"/>
            <a:ext cx="1543227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Бизнес-ужин</a:t>
            </a:r>
          </a:p>
        </p:txBody>
      </p:sp>
      <p:sp>
        <p:nvSpPr>
          <p:cNvPr id="8" name="Текст: Знакомство, объекты и цифры вживую — зап"/>
          <p:cNvSpPr txBox="1"/>
          <p:nvPr/>
        </p:nvSpPr>
        <p:spPr>
          <a:xfrm>
            <a:off x="1333500" y="3071431"/>
            <a:ext cx="447880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Знакомство, объекты и цифры вживую — запись по QR-коду</a:t>
            </a:r>
          </a:p>
        </p:txBody>
      </p:sp>
      <p:sp>
        <p:nvSpPr>
          <p:cNvPr id="9" name="Текст: 02"/>
          <p:cNvSpPr txBox="1"/>
          <p:nvPr/>
        </p:nvSpPr>
        <p:spPr>
          <a:xfrm>
            <a:off x="889000" y="36616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02</a:t>
            </a:r>
          </a:p>
        </p:txBody>
      </p:sp>
      <p:sp>
        <p:nvSpPr>
          <p:cNvPr id="10" name="Текст: Личный интенсив"/>
          <p:cNvSpPr txBox="1"/>
          <p:nvPr/>
        </p:nvSpPr>
        <p:spPr>
          <a:xfrm>
            <a:off x="1333500" y="3568827"/>
            <a:ext cx="1995010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Личный интенсив</a:t>
            </a:r>
          </a:p>
        </p:txBody>
      </p:sp>
      <p:sp>
        <p:nvSpPr>
          <p:cNvPr id="11" name="Текст: Офлайн, 2,5 часа: разбор ваших помещений"/>
          <p:cNvSpPr txBox="1"/>
          <p:nvPr/>
        </p:nvSpPr>
        <p:spPr>
          <a:xfrm>
            <a:off x="1333500" y="3896931"/>
            <a:ext cx="4397692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Офлайн, 2,5 часа: разбор ваших помещений и финмоделей</a:t>
            </a:r>
          </a:p>
        </p:txBody>
      </p:sp>
      <p:sp>
        <p:nvSpPr>
          <p:cNvPr id="12" name="Текст: 03"/>
          <p:cNvSpPr txBox="1"/>
          <p:nvPr/>
        </p:nvSpPr>
        <p:spPr>
          <a:xfrm>
            <a:off x="889000" y="4487164"/>
            <a:ext cx="214061" cy="1508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900" b="0" spc="108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03</a:t>
            </a:r>
          </a:p>
        </p:txBody>
      </p:sp>
      <p:sp>
        <p:nvSpPr>
          <p:cNvPr id="13" name="Текст: Готовый бизнес под ключ"/>
          <p:cNvSpPr txBox="1"/>
          <p:nvPr/>
        </p:nvSpPr>
        <p:spPr>
          <a:xfrm>
            <a:off x="1333500" y="4394327"/>
            <a:ext cx="2871534" cy="275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700" b="0">
                <a:solidFill>
                  <a:srgbClr val="171615"/>
                </a:solidFill>
                <a:latin typeface="Onest Medium"/>
                <a:cs typeface="Onest Medium"/>
                <a:ea typeface="Onest Medium"/>
              </a:rPr>
              <a:t>Готовый бизнес под ключ</a:t>
            </a:r>
          </a:p>
        </p:txBody>
      </p:sp>
      <p:sp>
        <p:nvSpPr>
          <p:cNvPr id="14" name="Текст: Запущенный объект с арендаторами и доход"/>
          <p:cNvSpPr txBox="1"/>
          <p:nvPr/>
        </p:nvSpPr>
        <p:spPr>
          <a:xfrm>
            <a:off x="1333500" y="4728782"/>
            <a:ext cx="3571096" cy="186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50" b="0">
                <a:solidFill>
                  <a:srgbClr val="5E5850"/>
                </a:solidFill>
                <a:latin typeface="Onest"/>
                <a:cs typeface="Onest"/>
                <a:ea typeface="Onest"/>
              </a:rPr>
              <a:t>Запущенный объект с арендаторами и доходом</a:t>
            </a:r>
          </a:p>
        </p:txBody>
      </p:sp>
      <p:sp>
        <p:nvSpPr>
          <p:cNvPr id="15" name="Текст: +7 961 296-90-00"/>
          <p:cNvSpPr txBox="1"/>
          <p:nvPr/>
        </p:nvSpPr>
        <p:spPr>
          <a:xfrm>
            <a:off x="889000" y="5266944"/>
            <a:ext cx="271251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2400" b="0" spc="-69">
                <a:solidFill>
                  <a:srgbClr val="171615"/>
                </a:solidFill>
                <a:latin typeface="Onest Light"/>
                <a:cs typeface="Onest Light"/>
                <a:ea typeface="Onest Light"/>
              </a:rPr>
              <a:t>+7 961 296-90-00</a:t>
            </a:r>
          </a:p>
        </p:txBody>
      </p:sp>
      <p:sp>
        <p:nvSpPr>
          <p:cNvPr id="16" name="Текст: Артём Панасенко · Telegram @Artempanasen"/>
          <p:cNvSpPr txBox="1"/>
          <p:nvPr/>
        </p:nvSpPr>
        <p:spPr>
          <a:xfrm>
            <a:off x="889000" y="5694172"/>
            <a:ext cx="3827798" cy="1943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6423D"/>
                </a:solidFill>
                <a:latin typeface="Onest"/>
                <a:cs typeface="Onest"/>
                <a:ea typeface="Onest"/>
              </a:rPr>
              <a:t>Артём Панасенко · Telegram @Artempanasenko61</a:t>
            </a:r>
          </a:p>
        </p:txBody>
      </p:sp>
      <p:sp>
        <p:nvSpPr>
          <p:cNvPr id="17" name="Текст: ЗАПИСЬ НА БИЗНЕС-УЖИН"/>
          <p:cNvSpPr txBox="1"/>
          <p:nvPr/>
        </p:nvSpPr>
        <p:spPr>
          <a:xfrm>
            <a:off x="7425730" y="889508"/>
            <a:ext cx="3551270" cy="2914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800" b="1" spc="42">
                <a:solidFill>
                  <a:srgbClr val="FFFFFF"/>
                </a:solidFill>
                <a:latin typeface="Onest"/>
                <a:cs typeface="Onest"/>
                <a:ea typeface="Onest"/>
              </a:rPr>
              <a:t>ЗАПИСЬ НА БИЗНЕС-УЖИН</a:t>
            </a:r>
          </a:p>
        </p:txBody>
      </p:sp>
      <p:sp>
        <p:nvSpPr>
          <p:cNvPr id="18" name="Текст: Наведите камеру телефона"/>
          <p:cNvSpPr txBox="1"/>
          <p:nvPr/>
        </p:nvSpPr>
        <p:spPr>
          <a:xfrm>
            <a:off x="8155087" y="5490591"/>
            <a:ext cx="1994624" cy="1781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Onest"/>
                <a:cs typeface="Onest"/>
                <a:ea typeface="Onest"/>
              </a:rPr>
              <a:t>Наведите камеру телефона</a:t>
            </a:r>
          </a:p>
        </p:txBody>
      </p:sp>
      <p:sp>
        <p:nvSpPr>
          <p:cNvPr id="19" name="Текст: t.me/Panasenko322bot"/>
          <p:cNvSpPr txBox="1"/>
          <p:nvPr/>
        </p:nvSpPr>
        <p:spPr>
          <a:xfrm>
            <a:off x="8033941" y="5720715"/>
            <a:ext cx="2271876" cy="242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Onest Medium"/>
                <a:cs typeface="Onest Medium"/>
                <a:ea typeface="Onest Medium"/>
              </a:rPr>
              <a:t>t.me/Panasenko322bot</a:t>
            </a:r>
          </a:p>
        </p:txBody>
      </p:sp>
      <p:sp>
        <p:nvSpPr>
          <p:cNvPr id="20" name="Текст: 07 — ПРИСОЕДИНЯЙТЕСЬ"/>
          <p:cNvSpPr txBox="1"/>
          <p:nvPr/>
        </p:nvSpPr>
        <p:spPr>
          <a:xfrm>
            <a:off x="889000" y="309118"/>
            <a:ext cx="1599831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112">
                <a:solidFill>
                  <a:srgbClr val="5E5850"/>
                </a:solidFill>
                <a:latin typeface="JetBrains Mono"/>
                <a:cs typeface="JetBrains Mono"/>
                <a:ea typeface="JetBrains Mono"/>
              </a:rPr>
              <a:t>07 — ПРИСОЕДИНЯЙТЕСЬ</a:t>
            </a:r>
          </a:p>
        </p:txBody>
      </p:sp>
      <p:sp>
        <p:nvSpPr>
          <p:cNvPr id="21" name="Текст: P R E M I E R"/>
          <p:cNvSpPr txBox="1"/>
          <p:nvPr/>
        </p:nvSpPr>
        <p:spPr>
          <a:xfrm>
            <a:off x="10577512" y="309118"/>
            <a:ext cx="760859" cy="134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800" b="0" spc="-72">
                <a:solidFill>
                  <a:srgbClr val="46423D"/>
                </a:solidFill>
                <a:latin typeface="JetBrains Mono Medium"/>
                <a:cs typeface="JetBrains Mono Medium"/>
                <a:ea typeface="JetBrains Mono Medium"/>
              </a:rPr>
              <a:t>P R E M I E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Субаренда коммерческой недвижимости — Артём Панасенко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